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17e7b15edfd43fc" /><Relationship Type="http://schemas.openxmlformats.org/officeDocument/2006/relationships/extended-properties" Target="/docProps/app.xml" Id="R42fd0798a5254a39" /><Relationship Type="http://schemas.openxmlformats.org/officeDocument/2006/relationships/officeDocument" Target="/ppt/presentation.xml" Id="Rf7cdbd606b3c4536" /></Relationships>
</file>

<file path=ppt/presentation.xml><?xml version="1.0" encoding="utf-8"?>
<p:presentation xmlns:p="http://schemas.openxmlformats.org/presentationml/2006/main">
  <p:sldMasterIdLst>
    <p:sldMasterId xmlns:r="http://schemas.openxmlformats.org/officeDocument/2006/relationships" id="2147483648" r:id="R3b3a411009b54ba9"/>
  </p:sldMasterIdLst>
  <p:notesMasterIdLst>
    <p:notesMasterId xmlns:r="http://schemas.openxmlformats.org/officeDocument/2006/relationships" r:id="R02a017419e754f2a"/>
  </p:notesMasterIdLst>
  <p:sldIdLst>
    <p:sldId xmlns:r="http://schemas.openxmlformats.org/officeDocument/2006/relationships" id="256" r:id="Rb4fa4e7a7d3b418b"/>
    <p:sldId xmlns:r="http://schemas.openxmlformats.org/officeDocument/2006/relationships" id="257" r:id="R4bc80b7c07c341a8"/>
    <p:sldId xmlns:r="http://schemas.openxmlformats.org/officeDocument/2006/relationships" id="258" r:id="R183427e0f7dd48a6"/>
    <p:sldId xmlns:r="http://schemas.openxmlformats.org/officeDocument/2006/relationships" id="259" r:id="Rbd6dad7b84ad4e5e"/>
    <p:sldId xmlns:r="http://schemas.openxmlformats.org/officeDocument/2006/relationships" id="260" r:id="Rc37a24144d204606"/>
    <p:sldId xmlns:r="http://schemas.openxmlformats.org/officeDocument/2006/relationships" id="261" r:id="R6961cc8d243b404f"/>
    <p:sldId xmlns:r="http://schemas.openxmlformats.org/officeDocument/2006/relationships" id="262" r:id="R73998cbe097446d4"/>
    <p:sldId xmlns:r="http://schemas.openxmlformats.org/officeDocument/2006/relationships" id="263" r:id="R44e0673169054a37"/>
    <p:sldId xmlns:r="http://schemas.openxmlformats.org/officeDocument/2006/relationships" id="264" r:id="R2925f414aa554a52"/>
    <p:sldId xmlns:r="http://schemas.openxmlformats.org/officeDocument/2006/relationships" id="265" r:id="Raf22c4ef10f443c0"/>
    <p:sldId xmlns:r="http://schemas.openxmlformats.org/officeDocument/2006/relationships" id="266" r:id="R0029e1441e1b49cb"/>
    <p:sldId xmlns:r="http://schemas.openxmlformats.org/officeDocument/2006/relationships" id="267" r:id="R796e6d30e380403a"/>
    <p:sldId xmlns:r="http://schemas.openxmlformats.org/officeDocument/2006/relationships" id="268" r:id="Rd59c45d58808476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6b8dc14e2d44419" /><Relationship Type="http://schemas.openxmlformats.org/officeDocument/2006/relationships/slideMaster" Target="/ppt/slideMasters/slideMaster1.xml" Id="R3b3a411009b54ba9" /><Relationship Type="http://schemas.openxmlformats.org/officeDocument/2006/relationships/notesMaster" Target="/ppt/notesMasters/notesMaster1.xml" Id="R02a017419e754f2a" /><Relationship Type="http://schemas.openxmlformats.org/officeDocument/2006/relationships/presProps" Target="/ppt/presProps.xml" Id="R740cbf1c258c4b5d" /><Relationship Type="http://schemas.openxmlformats.org/officeDocument/2006/relationships/tableStyles" Target="/ppt/tableStyles.xml" Id="R65dce0b2b34245cf" /><Relationship Type="http://schemas.openxmlformats.org/officeDocument/2006/relationships/slide" Target="/ppt/slides/slide1.xml" Id="Rb4fa4e7a7d3b418b" /><Relationship Type="http://schemas.openxmlformats.org/officeDocument/2006/relationships/slide" Target="/ppt/slides/slide2.xml" Id="R4bc80b7c07c341a8" /><Relationship Type="http://schemas.openxmlformats.org/officeDocument/2006/relationships/slide" Target="/ppt/slides/slide3.xml" Id="R183427e0f7dd48a6" /><Relationship Type="http://schemas.openxmlformats.org/officeDocument/2006/relationships/slide" Target="/ppt/slides/slide4.xml" Id="Rbd6dad7b84ad4e5e" /><Relationship Type="http://schemas.openxmlformats.org/officeDocument/2006/relationships/slide" Target="/ppt/slides/slide5.xml" Id="Rc37a24144d204606" /><Relationship Type="http://schemas.openxmlformats.org/officeDocument/2006/relationships/slide" Target="/ppt/slides/slide6.xml" Id="R6961cc8d243b404f" /><Relationship Type="http://schemas.openxmlformats.org/officeDocument/2006/relationships/slide" Target="/ppt/slides/slide7.xml" Id="R73998cbe097446d4" /><Relationship Type="http://schemas.openxmlformats.org/officeDocument/2006/relationships/slide" Target="/ppt/slides/slide8.xml" Id="R44e0673169054a37" /><Relationship Type="http://schemas.openxmlformats.org/officeDocument/2006/relationships/slide" Target="/ppt/slides/slide9.xml" Id="R2925f414aa554a52" /><Relationship Type="http://schemas.openxmlformats.org/officeDocument/2006/relationships/slide" Target="/ppt/slides/slide10.xml" Id="Raf22c4ef10f443c0" /><Relationship Type="http://schemas.openxmlformats.org/officeDocument/2006/relationships/slide" Target="/ppt/slides/slide11.xml" Id="R0029e1441e1b49cb" /><Relationship Type="http://schemas.openxmlformats.org/officeDocument/2006/relationships/slide" Target="/ppt/slides/slide12.xml" Id="R796e6d30e380403a" /><Relationship Type="http://schemas.openxmlformats.org/officeDocument/2006/relationships/slide" Target="/ppt/slides/slide13.xml" Id="Rd59c45d58808476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7183b6fc6804b5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ac194e5a8ce46be" /><Relationship Type="http://schemas.openxmlformats.org/officeDocument/2006/relationships/notesMaster" Target="/ppt/notesMasters/notesMaster1.xml" Id="R16a5ce6fbff24d9f" /></Relationships>
</file>

<file path=ppt/notesSlides/_rels/notesSlide2.xml.rels>&#65279;<?xml version="1.0" encoding="utf-8"?><Relationships xmlns="http://schemas.openxmlformats.org/package/2006/relationships"><Relationship Type="http://schemas.openxmlformats.org/officeDocument/2006/relationships/slide" Target="/ppt/slides/slide2.xml" Id="R07f191c9ee9f444b" /><Relationship Type="http://schemas.openxmlformats.org/officeDocument/2006/relationships/notesMaster" Target="/ppt/notesMasters/notesMaster1.xml" Id="R7cdaf45bbf6d49f7" /></Relationships>
</file>

<file path=ppt/notesSlides/_rels/notesSlide3.xml.rels>&#65279;<?xml version="1.0" encoding="utf-8"?><Relationships xmlns="http://schemas.openxmlformats.org/package/2006/relationships"><Relationship Type="http://schemas.openxmlformats.org/officeDocument/2006/relationships/slide" Target="/ppt/slides/slide3.xml" Id="Rd4453e5ea3d640fc" /><Relationship Type="http://schemas.openxmlformats.org/officeDocument/2006/relationships/notesMaster" Target="/ppt/notesMasters/notesMaster1.xml" Id="R4523e4af3dfe4db9" /></Relationships>
</file>

<file path=ppt/notesSlides/_rels/notesSlide4.xml.rels>&#65279;<?xml version="1.0" encoding="utf-8"?><Relationships xmlns="http://schemas.openxmlformats.org/package/2006/relationships"><Relationship Type="http://schemas.openxmlformats.org/officeDocument/2006/relationships/slide" Target="/ppt/slides/slide4.xml" Id="Rb447ccc66d764751" /><Relationship Type="http://schemas.openxmlformats.org/officeDocument/2006/relationships/notesMaster" Target="/ppt/notesMasters/notesMaster1.xml" Id="R563d6af20f5e4cdd" /></Relationships>
</file>

<file path=ppt/notesSlides/_rels/notesSlide5.xml.rels>&#65279;<?xml version="1.0" encoding="utf-8"?><Relationships xmlns="http://schemas.openxmlformats.org/package/2006/relationships"><Relationship Type="http://schemas.openxmlformats.org/officeDocument/2006/relationships/slide" Target="/ppt/slides/slide5.xml" Id="R49f86223170f47cc" /><Relationship Type="http://schemas.openxmlformats.org/officeDocument/2006/relationships/notesMaster" Target="/ppt/notesMasters/notesMaster1.xml" Id="R74bb6b8282694d6c" /></Relationships>
</file>

<file path=ppt/notesSlides/_rels/notesSlide6.xml.rels>&#65279;<?xml version="1.0" encoding="utf-8"?><Relationships xmlns="http://schemas.openxmlformats.org/package/2006/relationships"><Relationship Type="http://schemas.openxmlformats.org/officeDocument/2006/relationships/slide" Target="/ppt/slides/slide6.xml" Id="Rcc99b4b3bfb7435c" /><Relationship Type="http://schemas.openxmlformats.org/officeDocument/2006/relationships/notesMaster" Target="/ppt/notesMasters/notesMaster1.xml" Id="Ra713d96efab14bbb" /></Relationships>
</file>

<file path=ppt/notesSlides/_rels/notesSlide7.xml.rels>&#65279;<?xml version="1.0" encoding="utf-8"?><Relationships xmlns="http://schemas.openxmlformats.org/package/2006/relationships"><Relationship Type="http://schemas.openxmlformats.org/officeDocument/2006/relationships/slide" Target="/ppt/slides/slide7.xml" Id="R8eb59a6a13a445ac" /><Relationship Type="http://schemas.openxmlformats.org/officeDocument/2006/relationships/notesMaster" Target="/ppt/notesMasters/notesMaster1.xml" Id="R615dabdb9c2e4902" /></Relationships>
</file>

<file path=ppt/notesSlides/_rels/notesSlide8.xml.rels>&#65279;<?xml version="1.0" encoding="utf-8"?><Relationships xmlns="http://schemas.openxmlformats.org/package/2006/relationships"><Relationship Type="http://schemas.openxmlformats.org/officeDocument/2006/relationships/slide" Target="/ppt/slides/slide8.xml" Id="Rc9e23d235b9c4903" /><Relationship Type="http://schemas.openxmlformats.org/officeDocument/2006/relationships/notesMaster" Target="/ppt/notesMasters/notesMaster1.xml" Id="Rd3475780ea374f9b" /></Relationships>
</file>

<file path=ppt/notesSlides/_rels/notesSlide9.xml.rels>&#65279;<?xml version="1.0" encoding="utf-8"?><Relationships xmlns="http://schemas.openxmlformats.org/package/2006/relationships"><Relationship Type="http://schemas.openxmlformats.org/officeDocument/2006/relationships/slide" Target="/ppt/slides/slide9.xml" Id="R3184b8b273d24f12" /><Relationship Type="http://schemas.openxmlformats.org/officeDocument/2006/relationships/notesMaster" Target="/ppt/notesMasters/notesMaster1.xml" Id="Rb0bf31e40ce3448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00958f93a2a4403" /><Relationship Type="http://schemas.openxmlformats.org/officeDocument/2006/relationships/notesMaster" Target="/ppt/notesMasters/notesMaster1.xml" Id="R3516f7756eae497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5c3fbc78b034494" /><Relationship Type="http://schemas.openxmlformats.org/officeDocument/2006/relationships/notesMaster" Target="/ppt/notesMasters/notesMaster1.xml" Id="Rb4ac7a7f1f094cb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0994ae2c1bb4bc6" /><Relationship Type="http://schemas.openxmlformats.org/officeDocument/2006/relationships/notesMaster" Target="/ppt/notesMasters/notesMaster1.xml" Id="R956346c9c9514e1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76caf58e8de4cd4" /><Relationship Type="http://schemas.openxmlformats.org/officeDocument/2006/relationships/notesMaster" Target="/ppt/notesMasters/notesMaster1.xml" Id="Re2b5ff113d75402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about 30 seconds. Explain that the pipeline updates cart intent while a visitor is still shopping. The report and repository contain the full implementation. Do not claim a full-stack run until the acceptance checks have actually completed.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45 seconds. Both can use micro-batches. Structured Streaming expresses an unbounded table and incremental query rather than requiring a sequence-of-RDD programming model. The project uses a five-second micro-batch trigger. Sources: https://spark.apache.org/docs/3.5.7/streaming-programming-guide.html and https://spark.apache.org/docs/3.5.7/structured-streaming-programming-guide.html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45 seconds. Armbrust et al., Spark SQL: Relational Data Processing in Spark, SIGMOD 2015, DOI 10.1145/2723372.2742797, motivates relational and procedural ETL and presents Catalyst. Apply its ideas by expressing transformations in built-in DataFrame operations. Its paper benchmarks are not this project's measurements. Source: https://jkbradley.github.io/assets/papers/2015_sigmod_spark_sql.pdf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45 seconds. One strongest cart anchor per visitor, then live popularity candidates, exclusion of seen items and top three. The current snapshot replaces earlier output. A purchased anchor is suppressed, but another unpurchased cart may still qualify. This is an explainable rule-based baseline and does not claim online model training. Source: retail/transforms.py.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45 seconds. Define brokers, topics, producers, consumers and consumer groups orally. Kafka orders within partitions and supports independent consumer groups over retained logs. Flume uses source-channel-sink agents. KRaft replaces ZooKeeper metadata coordination in the selected deployment. Sources: https://kafka.apache.org/39/getting-started/introduction/ and https://flume.apache.org/FlumeUserGuide.html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one minute. Native streaming Parquet retains file-sink commits. foreachBatch needs application retry protection. The sink writes state and recommendations to staging, renames the complete epoch and skips that epoch on replay after consuming the stateful batch. Contract: one writer and a same-filesystem local rename. It is not an object-store transaction or a cross-query transaction. Sources: retail/sinks.py and https://spark.apache.org/docs/3.5.7/structured-streaming-programming-guide.html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45 seconds. The question is which unseen products to suggest while a cart remains unpurchased. The default input is the complete 2,756,101-event CSV: 2,664,312 views, 69,332 carts and 22,457 transactions. Verify complete downstream replay before class. The visible cart trace uses actual records selected from that full CSV. Source: https://www.kaggle.com/datasets/retailrocket/ecommerce-dataset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one minute. Explain each processing boundary and that the audit, intent and console queries use separate checkpoints. This is a single-host deployment with two parallel Spark tasks. Sources: delivered docker-compose.yml, streaming_etl.py and retail modules.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one minute. Spark computes ten overlapping windows per event. The serving snapshot chooses one earliest still-active aligned window so popularity is not counted ten times. Watermark progress follows observed event time and can stall when input is idle. Older events are not universally guaranteed to be dropped immediately. The acceptance test places a rejected event beyond all affected windows. Source: https://spark.apache.org/docs/3.5.7/structured-streaming-programming-guide.html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one minute. The incomplete threshold in the assignment is resolved as score at least 5, with a cart and zero transactions for the visitor-item pair. A high numeric score alone is insufficient. Values are code constants rather than empirical measurements. Source: retail/transforms.py.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About 45 seconds. Use Linux containers and Docker Compose v2.20 or newer. Build before class. The default producer sends all 2,756,101 real source rows and exits only after acknowledgement. Verify the full audit and intent-query progress before class. No sample limit is used. Use the terminal to show the topic partitions and Kafka events. Open localhost:4040 for the Spark UI. Source: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a schedule, then spend the time in the terminals. Total target is 13 minutes including the introductory slides. Commands and backup guidance are in DEMO.md. Complete and verify full-source ingestion before class. The live demo selects genuine records from the full CSV and requires its verified receipt. Display saved evidence as saved evidence if a restart is slow.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slide, about 30 seconds. Twenty-one local tests passed on portable Java 17 and PySpark 3.5.7. Docker and WSL were absent on the preparation machine, so do not claim an executed Docker stack or invent throughput or accuracy. The provided GitHub Actions workflow runs Linux container acceptance checks after publication. Source: VALIDATION.md. Research references are in REPORT.md and the relevant slide 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5ba25d814f34b4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6c0d2046dee4d2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d07e3c495d2408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1ad802edb0f444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acfbdde12f847a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fc7c61821b0450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555181E-983F-4BE8-B0E9-71A19014B71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6FA7ED3-99E5-4720-A9FE-F00767A9F78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0A92BAC-2353-40BD-9C33-D6D3E154C67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9AF435C-778E-4E83-B7D9-28E90417E04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2A642D5-2104-4095-969E-884671BB701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CCC516E3-504C-46D4-8E0A-C39F7FAAA20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226A111-A395-42F1-A2B6-2A6BDC96C9D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402F19F-CCBB-40FC-B4AB-E4A36F77418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A33C16C-9BBD-44C0-9C7C-180ABCAE839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698FE22-EDDE-4975-A717-87FD2660B5B9}"/>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f783835b7394352" /><Relationship Type="http://schemas.openxmlformats.org/officeDocument/2006/relationships/slideLayout" Target="/ppt/slideLayouts/slideLayout1.xml" Id="Rf940ad9ccbf84233" /><Relationship Type="http://schemas.openxmlformats.org/officeDocument/2006/relationships/slideLayout" Target="/ppt/slideLayouts/slideLayout2.xml" Id="Re89a55a477be4c16" /><Relationship Type="http://schemas.openxmlformats.org/officeDocument/2006/relationships/slideLayout" Target="/ppt/slideLayouts/slideLayout3.xml" Id="Rab9817ce798f45c8" /><Relationship Type="http://schemas.openxmlformats.org/officeDocument/2006/relationships/slideLayout" Target="/ppt/slideLayouts/slideLayout4.xml" Id="Rb0863244101b482b" /><Relationship Type="http://schemas.openxmlformats.org/officeDocument/2006/relationships/slideLayout" Target="/ppt/slideLayouts/slideLayout5.xml" Id="R0bbeecf171734bb8" /><Relationship Type="http://schemas.openxmlformats.org/officeDocument/2006/relationships/slideLayout" Target="/ppt/slideLayouts/slideLayout6.xml" Id="R7a0d8c16a1294dd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940ad9ccbf84233"/>
    <p:sldLayoutId xmlns:r="http://schemas.openxmlformats.org/officeDocument/2006/relationships" id="2147483650" r:id="Re89a55a477be4c16"/>
    <p:sldLayoutId xmlns:r="http://schemas.openxmlformats.org/officeDocument/2006/relationships" id="2147483651" r:id="Rab9817ce798f45c8"/>
    <p:sldLayoutId xmlns:r="http://schemas.openxmlformats.org/officeDocument/2006/relationships" id="2147483652" r:id="Rb0863244101b482b"/>
    <p:sldLayoutId xmlns:r="http://schemas.openxmlformats.org/officeDocument/2006/relationships" id="2147483653" r:id="R0bbeecf171734bb8"/>
    <p:sldLayoutId xmlns:r="http://schemas.openxmlformats.org/officeDocument/2006/relationships" id="2147483654" r:id="R7a0d8c16a1294dd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163c2ea35fb4e5d" /><Relationship Type="http://schemas.openxmlformats.org/officeDocument/2006/relationships/notesSlide" Target="/ppt/notesSlides/notesSlide1.xml" Id="R42fde9b09ddb42b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481d1b83ac24df7" /><Relationship Type="http://schemas.openxmlformats.org/officeDocument/2006/relationships/notesSlide" Target="/ppt/notesSlides/notesSlide2.xml" Id="R56725bff68e44bd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9e49746804447a6" /><Relationship Type="http://schemas.openxmlformats.org/officeDocument/2006/relationships/notesSlide" Target="/ppt/notesSlides/notesSlide3.xml" Id="Re8da63665471410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9dd4b87a19b4406" /><Relationship Type="http://schemas.openxmlformats.org/officeDocument/2006/relationships/notesSlide" Target="/ppt/notesSlides/notesSlide4.xml" Id="R41a7f816f76f4a5a"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08953f0186a44c0" /><Relationship Type="http://schemas.openxmlformats.org/officeDocument/2006/relationships/notesSlide" Target="/ppt/notesSlides/notesSlide5.xml" Id="Ree772f2fe0954aa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e0cb111289842c1" /><Relationship Type="http://schemas.openxmlformats.org/officeDocument/2006/relationships/notesSlide" Target="/ppt/notesSlides/notesSlide6.xml" Id="Rebc12e295de8472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771f145de3c4546" /><Relationship Type="http://schemas.openxmlformats.org/officeDocument/2006/relationships/notesSlide" Target="/ppt/notesSlides/notesSlide7.xml" Id="R759346c6e77d470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5501940daba46cf" /><Relationship Type="http://schemas.openxmlformats.org/officeDocument/2006/relationships/notesSlide" Target="/ppt/notesSlides/notesSlide8.xml" Id="R129c0d750dd34c51"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40e46e68ec54722" /><Relationship Type="http://schemas.openxmlformats.org/officeDocument/2006/relationships/notesSlide" Target="/ppt/notesSlides/notesSlide9.xml" Id="R05d9e1cd0e22405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b8383eb29294c98" /><Relationship Type="http://schemas.openxmlformats.org/officeDocument/2006/relationships/notesSlide" Target="/ppt/notesSlides/notesSlide10.xml" Id="Rda2800a2cbee480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0780ccaa7f74cef" /><Relationship Type="http://schemas.openxmlformats.org/officeDocument/2006/relationships/notesSlide" Target="/ppt/notesSlides/notesSlide11.xml" Id="R3239c1206ca5445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081ed60360314fdc" /><Relationship Type="http://schemas.openxmlformats.org/officeDocument/2006/relationships/notesSlide" Target="/ppt/notesSlides/notesSlide12.xml" Id="R02fde4db19ef415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3f777af3b2284596" /><Relationship Type="http://schemas.openxmlformats.org/officeDocument/2006/relationships/notesSlide" Target="/ppt/notesSlides/notesSlide13.xml" Id="R4153d7fb22354140"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6D803BA4-1D19-4FA3-9489-1C2FC1F0AD5B}"/>
              </a:ext>
            </a:extLst>
          </p:cNvPr>
          <p:cNvSpPr>
            <a:spLocks xmlns:a="http://schemas.openxmlformats.org/drawingml/2006/main" noGrp="1"/>
          </p:cNvSpPr>
          <p:nvPr/>
        </p:nvSpPr>
        <p:spPr>
          <a:xfrm xmlns:a="http://schemas.openxmlformats.org/drawingml/2006/main">
            <a:off x="609600" y="1524000"/>
            <a:ext cx="10668000" cy="1809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800" b="1">
                <a:solidFill>
                  <a:srgbClr val="142839"/>
                </a:solidFill>
                <a:latin typeface="Arial"/>
                <a:ea typeface="Arial"/>
                <a:cs typeface="Arial"/>
              </a:defRPr>
            </a:defPPr>
          </a:lstStyle>
          <a:p xmlns:a="http://schemas.openxmlformats.org/drawingml/2006/main">
            <a:pPr>
              <a:defRPr sz="4800" b="1">
                <a:solidFill>
                  <a:srgbClr val="142839"/>
                </a:solidFill>
                <a:latin typeface="Arial"/>
                <a:ea typeface="Arial"/>
                <a:cs typeface="Arial"/>
              </a:defRPr>
            </a:pPr>
            <a:r>
              <a:rPr sz="4800" b="1">
                <a:solidFill>
                  <a:srgbClr val="142839"/>
                </a:solidFill>
                <a:latin typeface="Arial"/>
                <a:ea typeface="Arial"/>
                <a:cs typeface="Arial"/>
              </a:rPr>
              <a:t>Real Time E Commerce</a:t>
            </a:r>
          </a:p>
          <a:p xmlns:a="http://schemas.openxmlformats.org/drawingml/2006/main">
            <a:pPr>
              <a:defRPr sz="4800" b="1">
                <a:solidFill>
                  <a:srgbClr val="142839"/>
                </a:solidFill>
                <a:latin typeface="Arial"/>
                <a:ea typeface="Arial"/>
                <a:cs typeface="Arial"/>
              </a:defRPr>
            </a:pPr>
            <a:r>
              <a:rPr sz="4800" b="1">
                <a:solidFill>
                  <a:srgbClr val="142839"/>
                </a:solidFill>
                <a:latin typeface="Arial"/>
                <a:ea typeface="Arial"/>
                <a:cs typeface="Arial"/>
              </a:rPr>
              <a:t>Session Tracking</a:t>
            </a:r>
          </a:p>
        </p:txBody>
      </p:sp>
      <p:sp>
        <p:nvSpPr>
          <p:cNvPr id="2" name="">
            <a:extLst xmlns:a="http://schemas.openxmlformats.org/drawingml/2006/main">
              <a:ext uri="{FF2B5EF4-FFF2-40B4-BE49-F238E27FC236}">
                <a16:creationId xmlns:a16="http://schemas.microsoft.com/office/drawing/2014/main" id="{BE28AE0C-55A1-496B-8EE4-4552D2F69AA3}"/>
              </a:ext>
            </a:extLst>
          </p:cNvPr>
          <p:cNvSpPr>
            <a:spLocks xmlns:a="http://schemas.openxmlformats.org/drawingml/2006/main" noGrp="1"/>
          </p:cNvSpPr>
          <p:nvPr/>
        </p:nvSpPr>
        <p:spPr>
          <a:xfrm xmlns:a="http://schemas.openxmlformats.org/drawingml/2006/main">
            <a:off x="647700" y="3714750"/>
            <a:ext cx="10096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75" b="0">
                <a:solidFill>
                  <a:srgbClr val="42586A"/>
                </a:solidFill>
                <a:latin typeface="Arial"/>
                <a:ea typeface="Arial"/>
                <a:cs typeface="Arial"/>
              </a:defRPr>
            </a:defPPr>
          </a:lstStyle>
          <a:p xmlns:a="http://schemas.openxmlformats.org/drawingml/2006/main">
            <a:pPr>
              <a:defRPr sz="2475" b="0">
                <a:solidFill>
                  <a:srgbClr val="42586A"/>
                </a:solidFill>
                <a:latin typeface="Arial"/>
                <a:ea typeface="Arial"/>
                <a:cs typeface="Arial"/>
              </a:defRPr>
            </a:pPr>
            <a:r>
              <a:rPr sz="2475" b="0">
                <a:solidFill>
                  <a:srgbClr val="42586A"/>
                </a:solidFill>
                <a:latin typeface="Arial"/>
                <a:ea typeface="Arial"/>
                <a:cs typeface="Arial"/>
              </a:rPr>
              <a:t>Kafka ingestion and PySpark Structured Streaming personalization</a:t>
            </a:r>
          </a:p>
        </p:txBody>
      </p:sp>
      <p:sp>
        <p:nvSpPr>
          <p:cNvPr id="3" name="">
            <a:extLst xmlns:a="http://schemas.openxmlformats.org/drawingml/2006/main">
              <a:ext uri="{FF2B5EF4-FFF2-40B4-BE49-F238E27FC236}">
                <a16:creationId xmlns:a16="http://schemas.microsoft.com/office/drawing/2014/main" id="{CB8061BC-3264-4E55-A4B4-9FA8ECC7051C}"/>
              </a:ext>
            </a:extLst>
          </p:cNvPr>
          <p:cNvSpPr>
            <a:spLocks xmlns:a="http://schemas.openxmlformats.org/drawingml/2006/main" noGrp="1"/>
          </p:cNvSpPr>
          <p:nvPr/>
        </p:nvSpPr>
        <p:spPr>
          <a:xfrm xmlns:a="http://schemas.openxmlformats.org/drawingml/2006/main">
            <a:off x="647700" y="561975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42586A"/>
                </a:solidFill>
                <a:latin typeface="Arial"/>
                <a:ea typeface="Arial"/>
                <a:cs typeface="Arial"/>
              </a:defRPr>
            </a:defPPr>
          </a:lstStyle>
          <a:p xmlns:a="http://schemas.openxmlformats.org/drawingml/2006/main">
            <a:pPr>
              <a:defRPr sz="1800" b="0">
                <a:solidFill>
                  <a:srgbClr val="42586A"/>
                </a:solidFill>
                <a:latin typeface="Arial"/>
                <a:ea typeface="Arial"/>
                <a:cs typeface="Arial"/>
              </a:defRPr>
            </a:pPr>
            <a:r>
              <a:rPr sz="1800" b="0">
                <a:solidFill>
                  <a:srgbClr val="42586A"/>
                </a:solidFill>
                <a:latin typeface="Arial"/>
                <a:ea typeface="Arial"/>
                <a:cs typeface="Arial"/>
              </a:rPr>
              <a:t>Retail Rocket assignment   Technical presentation and live demonstration</a:t>
            </a:r>
          </a:p>
        </p:txBody>
      </p:sp>
    </p:spTree>
    <p:extLst>
      <p:ext uri="{BB962C8B-B14F-4D97-AF65-F5344CB8AC3E}">
        <p14:creationId xmlns:p14="http://schemas.microsoft.com/office/powerpoint/2010/main" val="1220233012"/>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3" name="">
            <a:extLst xmlns:a="http://schemas.openxmlformats.org/drawingml/2006/main">
              <a:ext uri="{FF2B5EF4-FFF2-40B4-BE49-F238E27FC236}">
                <a16:creationId xmlns:a16="http://schemas.microsoft.com/office/drawing/2014/main" id="{F9FFD6FE-BC09-41FA-8BA8-C8AB42BDB046}"/>
              </a:ext>
            </a:extLst>
          </p:cNvPr>
          <p:cNvSpPr>
            <a:spLocks xmlns:a="http://schemas.openxmlformats.org/drawingml/2006/main" noGrp="1"/>
          </p:cNvSpPr>
          <p:nvPr/>
        </p:nvSpPr>
        <p:spPr>
          <a:xfrm xmlns:a="http://schemas.openxmlformats.org/drawingml/2006/main">
            <a:off x="609600" y="47625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42839"/>
                </a:solidFill>
                <a:latin typeface="Arial"/>
                <a:ea typeface="Arial"/>
                <a:cs typeface="Arial"/>
              </a:defRPr>
            </a:defPPr>
          </a:lstStyle>
          <a:p xmlns:a="http://schemas.openxmlformats.org/drawingml/2006/main">
            <a:pPr>
              <a:defRPr sz="3300" b="1">
                <a:solidFill>
                  <a:srgbClr val="142839"/>
                </a:solidFill>
                <a:latin typeface="Arial"/>
                <a:ea typeface="Arial"/>
                <a:cs typeface="Arial"/>
              </a:defRPr>
            </a:pPr>
            <a:r>
              <a:rPr sz="3300" b="1">
                <a:solidFill>
                  <a:srgbClr val="142839"/>
                </a:solidFill>
                <a:latin typeface="Arial"/>
                <a:ea typeface="Arial"/>
                <a:cs typeface="Arial"/>
              </a:rPr>
              <a:t>Part A: DStreams and Structured Streaming</a:t>
            </a:r>
          </a:p>
        </p:txBody>
      </p:sp>
      <p:graphicFrame>
        <p:nvGraphicFramePr>
          <p:cNvPr id="2" name="">
            <a:extLst xmlns:a="http://schemas.openxmlformats.org/drawingml/2006/main">
              <a:ext uri="{FF2B5EF4-FFF2-40B4-BE49-F238E27FC236}">
                <a16:creationId xmlns:a16="http://schemas.microsoft.com/office/drawing/2014/main" id="{C6D89043-A5E9-44B1-A88E-04758C00F458}"/>
              </a:ext>
            </a:extLst>
          </p:cNvPr>
          <p:cNvGraphicFramePr/>
          <p:nvPr/>
        </p:nvGraphicFramePr>
        <p:xfrm>
          <a:off xmlns:a="http://schemas.openxmlformats.org/drawingml/2006/main" x="609600" y="1714500"/>
          <a:ext xmlns:a="http://schemas.openxmlformats.org/drawingml/2006/main" cx="10972800" cy="3857625"/>
        </p:xfrm>
        <a:graphic xmlns:a="http://schemas.openxmlformats.org/drawingml/2006/main">
          <a:graphicData uri="http://schemas.openxmlformats.org/drawingml/2006/table">
            <a:tbl>
              <a:tblPr/>
              <a:tblGrid>
                <a:gridCol w="2476500"/>
                <a:gridCol w="4048125"/>
                <a:gridCol w="4448175"/>
              </a:tblGrid>
              <a:tr h="642938">
                <a:tc>
                  <a:txBody>
                    <a:bodyPr/>
                    <a:lstStyle/>
                    <a:p>
                      <a:r>
                        <a:rPr sz="1950" b="1">
                          <a:solidFill>
                            <a:srgbClr val="FFFFFF"/>
                          </a:solidFill>
                          <a:latin typeface="Arial"/>
                          <a:ea typeface="Arial"/>
                          <a:cs typeface="Arial"/>
                        </a:rPr>
                        <a:t>Aspect</a:t>
                      </a:r>
                    </a:p>
                  </a:txBody>
                  <a:tcPr marL="91440" marR="91440" marT="45720" marB="45720">
                    <a:solidFill>
                      <a:srgbClr val="142839"/>
                    </a:solidFill>
                  </a:tcPr>
                </a:tc>
                <a:tc>
                  <a:txBody>
                    <a:bodyPr/>
                    <a:lstStyle/>
                    <a:p>
                      <a:r>
                        <a:rPr sz="1950" b="1">
                          <a:solidFill>
                            <a:srgbClr val="FFFFFF"/>
                          </a:solidFill>
                          <a:latin typeface="Arial"/>
                          <a:ea typeface="Arial"/>
                          <a:cs typeface="Arial"/>
                        </a:rPr>
                        <a:t>DStreams</a:t>
                      </a:r>
                    </a:p>
                  </a:txBody>
                  <a:tcPr marL="91440" marR="91440" marT="45720" marB="45720">
                    <a:solidFill>
                      <a:srgbClr val="142839"/>
                    </a:solidFill>
                  </a:tcPr>
                </a:tc>
                <a:tc>
                  <a:txBody>
                    <a:bodyPr/>
                    <a:lstStyle/>
                    <a:p>
                      <a:r>
                        <a:rPr sz="1950" b="1">
                          <a:solidFill>
                            <a:srgbClr val="FFFFFF"/>
                          </a:solidFill>
                          <a:latin typeface="Arial"/>
                          <a:ea typeface="Arial"/>
                          <a:cs typeface="Arial"/>
                        </a:rPr>
                        <a:t>Structured Streaming</a:t>
                      </a:r>
                    </a:p>
                  </a:txBody>
                  <a:tcPr marL="91440" marR="91440" marT="45720" marB="45720">
                    <a:solidFill>
                      <a:srgbClr val="142839"/>
                    </a:solidFill>
                  </a:tcPr>
                </a:tc>
              </a:tr>
              <a:tr h="642938">
                <a:tc>
                  <a:txBody>
                    <a:bodyPr/>
                    <a:lstStyle/>
                    <a:p>
                      <a:r>
                        <a:rPr sz="1950" b="0">
                          <a:solidFill>
                            <a:srgbClr val="142839"/>
                          </a:solidFill>
                          <a:latin typeface="Arial"/>
                          <a:ea typeface="Arial"/>
                          <a:cs typeface="Arial"/>
                        </a:rPr>
                        <a:t>Data model</a:t>
                      </a:r>
                    </a:p>
                  </a:txBody>
                  <a:tcPr marL="91440" marR="91440" marT="45720" marB="45720">
                    <a:solidFill>
                      <a:srgbClr val="FFFFFF"/>
                    </a:solidFill>
                  </a:tcPr>
                </a:tc>
                <a:tc>
                  <a:txBody>
                    <a:bodyPr/>
                    <a:lstStyle/>
                    <a:p>
                      <a:r>
                        <a:rPr sz="1950" b="0">
                          <a:solidFill>
                            <a:srgbClr val="142839"/>
                          </a:solidFill>
                          <a:latin typeface="Arial"/>
                          <a:ea typeface="Arial"/>
                          <a:cs typeface="Arial"/>
                        </a:rPr>
                        <a:t>Sequence of RDDs</a:t>
                      </a:r>
                    </a:p>
                  </a:txBody>
                  <a:tcPr marL="91440" marR="91440" marT="45720" marB="45720">
                    <a:solidFill>
                      <a:srgbClr val="FFFFFF"/>
                    </a:solidFill>
                  </a:tcPr>
                </a:tc>
                <a:tc>
                  <a:txBody>
                    <a:bodyPr/>
                    <a:lstStyle/>
                    <a:p>
                      <a:r>
                        <a:rPr sz="1950" b="0">
                          <a:solidFill>
                            <a:srgbClr val="142839"/>
                          </a:solidFill>
                          <a:latin typeface="Arial"/>
                          <a:ea typeface="Arial"/>
                          <a:cs typeface="Arial"/>
                        </a:rPr>
                        <a:t>Unbounded table</a:t>
                      </a:r>
                    </a:p>
                  </a:txBody>
                  <a:tcPr marL="91440" marR="91440" marT="45720" marB="45720">
                    <a:solidFill>
                      <a:srgbClr val="FFFFFF"/>
                    </a:solidFill>
                  </a:tcPr>
                </a:tc>
              </a:tr>
              <a:tr h="642938">
                <a:tc>
                  <a:txBody>
                    <a:bodyPr/>
                    <a:lstStyle/>
                    <a:p>
                      <a:r>
                        <a:rPr sz="1950" b="0">
                          <a:solidFill>
                            <a:srgbClr val="142839"/>
                          </a:solidFill>
                          <a:latin typeface="Arial"/>
                          <a:ea typeface="Arial"/>
                          <a:cs typeface="Arial"/>
                        </a:rPr>
                        <a:t>API</a:t>
                      </a:r>
                    </a:p>
                  </a:txBody>
                  <a:tcPr marL="91440" marR="91440" marT="45720" marB="45720">
                    <a:solidFill>
                      <a:srgbClr val="EDF2F4"/>
                    </a:solidFill>
                  </a:tcPr>
                </a:tc>
                <a:tc>
                  <a:txBody>
                    <a:bodyPr/>
                    <a:lstStyle/>
                    <a:p>
                      <a:r>
                        <a:rPr sz="1950" b="0">
                          <a:solidFill>
                            <a:srgbClr val="142839"/>
                          </a:solidFill>
                          <a:latin typeface="Arial"/>
                          <a:ea typeface="Arial"/>
                          <a:cs typeface="Arial"/>
                        </a:rPr>
                        <a:t>RDD transformations</a:t>
                      </a:r>
                    </a:p>
                  </a:txBody>
                  <a:tcPr marL="91440" marR="91440" marT="45720" marB="45720">
                    <a:solidFill>
                      <a:srgbClr val="EDF2F4"/>
                    </a:solidFill>
                  </a:tcPr>
                </a:tc>
                <a:tc>
                  <a:txBody>
                    <a:bodyPr/>
                    <a:lstStyle/>
                    <a:p>
                      <a:r>
                        <a:rPr sz="1950" b="0">
                          <a:solidFill>
                            <a:srgbClr val="142839"/>
                          </a:solidFill>
                          <a:latin typeface="Arial"/>
                          <a:ea typeface="Arial"/>
                          <a:cs typeface="Arial"/>
                        </a:rPr>
                        <a:t>DataFrame and SQL</a:t>
                      </a:r>
                    </a:p>
                  </a:txBody>
                  <a:tcPr marL="91440" marR="91440" marT="45720" marB="45720">
                    <a:solidFill>
                      <a:srgbClr val="EDF2F4"/>
                    </a:solidFill>
                  </a:tcPr>
                </a:tc>
              </a:tr>
              <a:tr h="642938">
                <a:tc>
                  <a:txBody>
                    <a:bodyPr/>
                    <a:lstStyle/>
                    <a:p>
                      <a:r>
                        <a:rPr sz="1950" b="0">
                          <a:solidFill>
                            <a:srgbClr val="142839"/>
                          </a:solidFill>
                          <a:latin typeface="Arial"/>
                          <a:ea typeface="Arial"/>
                          <a:cs typeface="Arial"/>
                        </a:rPr>
                        <a:t>Event-time state</a:t>
                      </a:r>
                    </a:p>
                  </a:txBody>
                  <a:tcPr marL="91440" marR="91440" marT="45720" marB="45720">
                    <a:solidFill>
                      <a:srgbClr val="FFFFFF"/>
                    </a:solidFill>
                  </a:tcPr>
                </a:tc>
                <a:tc>
                  <a:txBody>
                    <a:bodyPr/>
                    <a:lstStyle/>
                    <a:p>
                      <a:r>
                        <a:rPr sz="1950" b="0">
                          <a:solidFill>
                            <a:srgbClr val="142839"/>
                          </a:solidFill>
                          <a:latin typeface="Arial"/>
                          <a:ea typeface="Arial"/>
                          <a:cs typeface="Arial"/>
                        </a:rPr>
                        <a:t>More manual logic</a:t>
                      </a:r>
                    </a:p>
                  </a:txBody>
                  <a:tcPr marL="91440" marR="91440" marT="45720" marB="45720">
                    <a:solidFill>
                      <a:srgbClr val="FFFFFF"/>
                    </a:solidFill>
                  </a:tcPr>
                </a:tc>
                <a:tc>
                  <a:txBody>
                    <a:bodyPr/>
                    <a:lstStyle/>
                    <a:p>
                      <a:r>
                        <a:rPr sz="1950" b="0">
                          <a:solidFill>
                            <a:srgbClr val="142839"/>
                          </a:solidFill>
                          <a:latin typeface="Arial"/>
                          <a:ea typeface="Arial"/>
                          <a:cs typeface="Arial"/>
                        </a:rPr>
                        <a:t>Windows and watermarks</a:t>
                      </a:r>
                    </a:p>
                  </a:txBody>
                  <a:tcPr marL="91440" marR="91440" marT="45720" marB="45720">
                    <a:solidFill>
                      <a:srgbClr val="FFFFFF"/>
                    </a:solidFill>
                  </a:tcPr>
                </a:tc>
              </a:tr>
              <a:tr h="642938">
                <a:tc>
                  <a:txBody>
                    <a:bodyPr/>
                    <a:lstStyle/>
                    <a:p>
                      <a:r>
                        <a:rPr sz="1950" b="0">
                          <a:solidFill>
                            <a:srgbClr val="142839"/>
                          </a:solidFill>
                          <a:latin typeface="Arial"/>
                          <a:ea typeface="Arial"/>
                          <a:cs typeface="Arial"/>
                        </a:rPr>
                        <a:t>Optimization</a:t>
                      </a:r>
                    </a:p>
                  </a:txBody>
                  <a:tcPr marL="91440" marR="91440" marT="45720" marB="45720">
                    <a:solidFill>
                      <a:srgbClr val="EDF2F4"/>
                    </a:solidFill>
                  </a:tcPr>
                </a:tc>
                <a:tc>
                  <a:txBody>
                    <a:bodyPr/>
                    <a:lstStyle/>
                    <a:p>
                      <a:r>
                        <a:rPr sz="1950" b="0">
                          <a:solidFill>
                            <a:srgbClr val="142839"/>
                          </a:solidFill>
                          <a:latin typeface="Arial"/>
                          <a:ea typeface="Arial"/>
                          <a:cs typeface="Arial"/>
                        </a:rPr>
                        <a:t>Procedural functions</a:t>
                      </a:r>
                    </a:p>
                  </a:txBody>
                  <a:tcPr marL="91440" marR="91440" marT="45720" marB="45720">
                    <a:solidFill>
                      <a:srgbClr val="EDF2F4"/>
                    </a:solidFill>
                  </a:tcPr>
                </a:tc>
                <a:tc>
                  <a:txBody>
                    <a:bodyPr/>
                    <a:lstStyle/>
                    <a:p>
                      <a:r>
                        <a:rPr sz="1950" b="0">
                          <a:solidFill>
                            <a:srgbClr val="142839"/>
                          </a:solidFill>
                          <a:latin typeface="Arial"/>
                          <a:ea typeface="Arial"/>
                          <a:cs typeface="Arial"/>
                        </a:rPr>
                        <a:t>Spark SQL engine</a:t>
                      </a:r>
                    </a:p>
                  </a:txBody>
                  <a:tcPr marL="91440" marR="91440" marT="45720" marB="45720">
                    <a:solidFill>
                      <a:srgbClr val="EDF2F4"/>
                    </a:solidFill>
                  </a:tcPr>
                </a:tc>
              </a:tr>
              <a:tr h="642938">
                <a:tc>
                  <a:txBody>
                    <a:bodyPr/>
                    <a:lstStyle/>
                    <a:p>
                      <a:r>
                        <a:rPr sz="1950" b="0">
                          <a:solidFill>
                            <a:srgbClr val="142839"/>
                          </a:solidFill>
                          <a:latin typeface="Arial"/>
                          <a:ea typeface="Arial"/>
                          <a:cs typeface="Arial"/>
                        </a:rPr>
                        <a:t>Project choice</a:t>
                      </a:r>
                    </a:p>
                  </a:txBody>
                  <a:tcPr marL="91440" marR="91440" marT="45720" marB="45720">
                    <a:solidFill>
                      <a:srgbClr val="FFFFFF"/>
                    </a:solidFill>
                  </a:tcPr>
                </a:tc>
                <a:tc>
                  <a:txBody>
                    <a:bodyPr/>
                    <a:lstStyle/>
                    <a:p>
                      <a:r>
                        <a:rPr sz="1950" b="0">
                          <a:solidFill>
                            <a:srgbClr val="142839"/>
                          </a:solidFill>
                          <a:latin typeface="Arial"/>
                          <a:ea typeface="Arial"/>
                          <a:cs typeface="Arial"/>
                        </a:rPr>
                        <a:t>Legacy comparison</a:t>
                      </a:r>
                    </a:p>
                  </a:txBody>
                  <a:tcPr marL="91440" marR="91440" marT="45720" marB="45720">
                    <a:solidFill>
                      <a:srgbClr val="FFFFFF"/>
                    </a:solidFill>
                  </a:tcPr>
                </a:tc>
                <a:tc>
                  <a:txBody>
                    <a:bodyPr/>
                    <a:lstStyle/>
                    <a:p>
                      <a:r>
                        <a:rPr sz="1950" b="0">
                          <a:solidFill>
                            <a:srgbClr val="142839"/>
                          </a:solidFill>
                          <a:latin typeface="Arial"/>
                          <a:ea typeface="Arial"/>
                          <a:cs typeface="Arial"/>
                        </a:rPr>
                        <a:t>Selected implementation</a:t>
                      </a:r>
                    </a:p>
                  </a:txBody>
                  <a:tcPr marL="91440" marR="91440" marT="45720" marB="45720">
                    <a:solidFill>
                      <a:srgbClr val="FFFFFF"/>
                    </a:solidFill>
                  </a:tcPr>
                </a:tc>
              </a:tr>
            </a:tbl>
          </a:graphicData>
        </a:graphic>
      </p:graphicFrame>
    </p:spTree>
    <p:extLst>
      <p:ext uri="{BB962C8B-B14F-4D97-AF65-F5344CB8AC3E}">
        <p14:creationId xmlns:p14="http://schemas.microsoft.com/office/powerpoint/2010/main" val="1802768775"/>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2C42AC7-C6D9-47C1-AA22-FF4B79A49BA9}"/>
              </a:ext>
            </a:extLst>
          </p:cNvPr>
          <p:cNvSpPr>
            <a:spLocks xmlns:a="http://schemas.openxmlformats.org/drawingml/2006/main" noGrp="1"/>
          </p:cNvSpPr>
          <p:nvPr/>
        </p:nvSpPr>
        <p:spPr>
          <a:xfrm xmlns:a="http://schemas.openxmlformats.org/drawingml/2006/main">
            <a:off x="609600" y="47625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42839"/>
                </a:solidFill>
                <a:latin typeface="Arial"/>
                <a:ea typeface="Arial"/>
                <a:cs typeface="Arial"/>
              </a:defRPr>
            </a:defPPr>
          </a:lstStyle>
          <a:p xmlns:a="http://schemas.openxmlformats.org/drawingml/2006/main">
            <a:pPr>
              <a:defRPr sz="3300" b="1">
                <a:solidFill>
                  <a:srgbClr val="142839"/>
                </a:solidFill>
                <a:latin typeface="Arial"/>
                <a:ea typeface="Arial"/>
                <a:cs typeface="Arial"/>
              </a:defRPr>
            </a:pPr>
            <a:r>
              <a:rPr sz="3300" b="1">
                <a:solidFill>
                  <a:srgbClr val="142839"/>
                </a:solidFill>
                <a:latin typeface="Arial"/>
                <a:ea typeface="Arial"/>
                <a:cs typeface="Arial"/>
              </a:rPr>
              <a:t>Continuous ETL and optimization research</a:t>
            </a:r>
          </a:p>
        </p:txBody>
      </p:sp>
      <p:sp>
        <p:nvSpPr>
          <p:cNvPr id="2" name="">
            <a:extLst xmlns:a="http://schemas.openxmlformats.org/drawingml/2006/main">
              <a:ext uri="{FF2B5EF4-FFF2-40B4-BE49-F238E27FC236}">
                <a16:creationId xmlns:a16="http://schemas.microsoft.com/office/drawing/2014/main" id="{99A3FE20-3883-4765-9090-F5E538ED358F}"/>
              </a:ext>
            </a:extLst>
          </p:cNvPr>
          <p:cNvSpPr>
            <a:spLocks xmlns:a="http://schemas.openxmlformats.org/drawingml/2006/main" noGrp="1"/>
          </p:cNvSpPr>
          <p:nvPr/>
        </p:nvSpPr>
        <p:spPr>
          <a:xfrm xmlns:a="http://schemas.openxmlformats.org/drawingml/2006/main">
            <a:off x="704850" y="18097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142839"/>
                </a:solidFill>
                <a:latin typeface="Arial"/>
                <a:ea typeface="Arial"/>
                <a:cs typeface="Arial"/>
              </a:defRPr>
            </a:defPPr>
          </a:lstStyle>
          <a:p xmlns:a="http://schemas.openxmlformats.org/drawingml/2006/main">
            <a:pPr>
              <a:defRPr sz="2250" b="0">
                <a:solidFill>
                  <a:srgbClr val="142839"/>
                </a:solidFill>
                <a:latin typeface="Arial"/>
                <a:ea typeface="Arial"/>
                <a:cs typeface="Arial"/>
              </a:defRPr>
            </a:pPr>
            <a:r>
              <a:rPr sz="2250" b="0">
                <a:solidFill>
                  <a:srgbClr val="142839"/>
                </a:solidFill>
                <a:latin typeface="Arial"/>
                <a:ea typeface="Arial"/>
                <a:cs typeface="Arial"/>
              </a:rPr>
              <a:t>Extract retains the Kafka topic, partition and offset.</a:t>
            </a:r>
          </a:p>
        </p:txBody>
      </p:sp>
      <p:sp>
        <p:nvSpPr>
          <p:cNvPr id="3" name="">
            <a:extLst xmlns:a="http://schemas.openxmlformats.org/drawingml/2006/main">
              <a:ext uri="{FF2B5EF4-FFF2-40B4-BE49-F238E27FC236}">
                <a16:creationId xmlns:a16="http://schemas.microsoft.com/office/drawing/2014/main" id="{D427F10E-B5D6-4272-82BD-E122948C142C}"/>
              </a:ext>
            </a:extLst>
          </p:cNvPr>
          <p:cNvSpPr>
            <a:spLocks xmlns:a="http://schemas.openxmlformats.org/drawingml/2006/main" noGrp="1"/>
          </p:cNvSpPr>
          <p:nvPr/>
        </p:nvSpPr>
        <p:spPr>
          <a:xfrm xmlns:a="http://schemas.openxmlformats.org/drawingml/2006/main">
            <a:off x="704850" y="270510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142839"/>
                </a:solidFill>
                <a:latin typeface="Arial"/>
                <a:ea typeface="Arial"/>
                <a:cs typeface="Arial"/>
              </a:defRPr>
            </a:defPPr>
          </a:lstStyle>
          <a:p xmlns:a="http://schemas.openxmlformats.org/drawingml/2006/main">
            <a:pPr>
              <a:defRPr sz="2250" b="0">
                <a:solidFill>
                  <a:srgbClr val="142839"/>
                </a:solidFill>
                <a:latin typeface="Arial"/>
                <a:ea typeface="Arial"/>
                <a:cs typeface="Arial"/>
              </a:defRPr>
            </a:pPr>
            <a:r>
              <a:rPr sz="2250" b="0">
                <a:solidFill>
                  <a:srgbClr val="142839"/>
                </a:solidFill>
                <a:latin typeface="Arial"/>
                <a:ea typeface="Arial"/>
                <a:cs typeface="Arial"/>
              </a:rPr>
              <a:t>Transform validates JSON and maintains visitor-item window state.</a:t>
            </a:r>
          </a:p>
        </p:txBody>
      </p:sp>
      <p:sp>
        <p:nvSpPr>
          <p:cNvPr id="4" name="">
            <a:extLst xmlns:a="http://schemas.openxmlformats.org/drawingml/2006/main">
              <a:ext uri="{FF2B5EF4-FFF2-40B4-BE49-F238E27FC236}">
                <a16:creationId xmlns:a16="http://schemas.microsoft.com/office/drawing/2014/main" id="{49DAAAC3-44AB-4B5E-B01F-8558201C401A}"/>
              </a:ext>
            </a:extLst>
          </p:cNvPr>
          <p:cNvSpPr>
            <a:spLocks xmlns:a="http://schemas.openxmlformats.org/drawingml/2006/main" noGrp="1"/>
          </p:cNvSpPr>
          <p:nvPr/>
        </p:nvSpPr>
        <p:spPr>
          <a:xfrm xmlns:a="http://schemas.openxmlformats.org/drawingml/2006/main">
            <a:off x="704850" y="36004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142839"/>
                </a:solidFill>
                <a:latin typeface="Arial"/>
                <a:ea typeface="Arial"/>
                <a:cs typeface="Arial"/>
              </a:defRPr>
            </a:defPPr>
          </a:lstStyle>
          <a:p xmlns:a="http://schemas.openxmlformats.org/drawingml/2006/main">
            <a:pPr>
              <a:defRPr sz="2250" b="0">
                <a:solidFill>
                  <a:srgbClr val="142839"/>
                </a:solidFill>
                <a:latin typeface="Arial"/>
                <a:ea typeface="Arial"/>
                <a:cs typeface="Arial"/>
              </a:defRPr>
            </a:pPr>
            <a:r>
              <a:rPr sz="2250" b="0">
                <a:solidFill>
                  <a:srgbClr val="142839"/>
                </a:solidFill>
                <a:latin typeface="Arial"/>
                <a:ea typeface="Arial"/>
                <a:cs typeface="Arial"/>
              </a:rPr>
              <a:t>Load publishes Parquet history and current recommendation snapshots.</a:t>
            </a:r>
          </a:p>
        </p:txBody>
      </p:sp>
      <p:sp>
        <p:nvSpPr>
          <p:cNvPr id="5" name="">
            <a:extLst xmlns:a="http://schemas.openxmlformats.org/drawingml/2006/main">
              <a:ext uri="{FF2B5EF4-FFF2-40B4-BE49-F238E27FC236}">
                <a16:creationId xmlns:a16="http://schemas.microsoft.com/office/drawing/2014/main" id="{5E4665F1-CFAE-4074-851E-0DCA25147F20}"/>
              </a:ext>
            </a:extLst>
          </p:cNvPr>
          <p:cNvSpPr>
            <a:spLocks xmlns:a="http://schemas.openxmlformats.org/drawingml/2006/main" noGrp="1"/>
          </p:cNvSpPr>
          <p:nvPr/>
        </p:nvSpPr>
        <p:spPr>
          <a:xfrm xmlns:a="http://schemas.openxmlformats.org/drawingml/2006/main">
            <a:off x="704850" y="4762500"/>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176C75"/>
                </a:solidFill>
                <a:latin typeface="Arial"/>
                <a:ea typeface="Arial"/>
                <a:cs typeface="Arial"/>
              </a:defRPr>
            </a:defPPr>
          </a:lstStyle>
          <a:p xmlns:a="http://schemas.openxmlformats.org/drawingml/2006/main">
            <a:pPr>
              <a:defRPr sz="2325" b="1">
                <a:solidFill>
                  <a:srgbClr val="176C75"/>
                </a:solidFill>
                <a:latin typeface="Arial"/>
                <a:ea typeface="Arial"/>
                <a:cs typeface="Arial"/>
              </a:defRPr>
            </a:pPr>
            <a:r>
              <a:rPr sz="2325" b="1">
                <a:solidFill>
                  <a:srgbClr val="176C75"/>
                </a:solidFill>
                <a:latin typeface="Arial"/>
                <a:ea typeface="Arial"/>
                <a:cs typeface="Arial"/>
              </a:rPr>
              <a:t>Spark SQL research supports declarative transformations</a:t>
            </a:r>
          </a:p>
          <a:p xmlns:a="http://schemas.openxmlformats.org/drawingml/2006/main">
            <a:pPr>
              <a:defRPr sz="2325" b="1">
                <a:solidFill>
                  <a:srgbClr val="176C75"/>
                </a:solidFill>
                <a:latin typeface="Arial"/>
                <a:ea typeface="Arial"/>
                <a:cs typeface="Arial"/>
              </a:defRPr>
            </a:pPr>
            <a:r>
              <a:rPr sz="2325" b="1">
                <a:solidFill>
                  <a:srgbClr val="176C75"/>
                </a:solidFill>
                <a:latin typeface="Arial"/>
                <a:ea typeface="Arial"/>
                <a:cs typeface="Arial"/>
              </a:rPr>
              <a:t>and optimizer-visible expressions without Python UDFs.</a:t>
            </a:r>
          </a:p>
        </p:txBody>
      </p:sp>
    </p:spTree>
    <p:extLst>
      <p:ext uri="{BB962C8B-B14F-4D97-AF65-F5344CB8AC3E}">
        <p14:creationId xmlns:p14="http://schemas.microsoft.com/office/powerpoint/2010/main" val="1254093010"/>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89D8AD0-B8D5-470F-B8CD-7E6465EFAD9E}"/>
              </a:ext>
            </a:extLst>
          </p:cNvPr>
          <p:cNvSpPr>
            <a:spLocks xmlns:a="http://schemas.openxmlformats.org/drawingml/2006/main" noGrp="1"/>
          </p:cNvSpPr>
          <p:nvPr/>
        </p:nvSpPr>
        <p:spPr>
          <a:xfrm xmlns:a="http://schemas.openxmlformats.org/drawingml/2006/main">
            <a:off x="609600" y="47625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42839"/>
                </a:solidFill>
                <a:latin typeface="Arial"/>
                <a:ea typeface="Arial"/>
                <a:cs typeface="Arial"/>
              </a:defRPr>
            </a:defPPr>
          </a:lstStyle>
          <a:p xmlns:a="http://schemas.openxmlformats.org/drawingml/2006/main">
            <a:pPr>
              <a:defRPr sz="3300" b="1">
                <a:solidFill>
                  <a:srgbClr val="142839"/>
                </a:solidFill>
                <a:latin typeface="Arial"/>
                <a:ea typeface="Arial"/>
                <a:cs typeface="Arial"/>
              </a:defRPr>
            </a:pPr>
            <a:r>
              <a:rPr sz="3300" b="1">
                <a:solidFill>
                  <a:srgbClr val="142839"/>
                </a:solidFill>
                <a:latin typeface="Arial"/>
                <a:ea typeface="Arial"/>
                <a:cs typeface="Arial"/>
              </a:rPr>
              <a:t>Real-time recommendation engines</a:t>
            </a:r>
          </a:p>
        </p:txBody>
      </p:sp>
      <p:sp>
        <p:nvSpPr>
          <p:cNvPr id="2" name="">
            <a:extLst xmlns:a="http://schemas.openxmlformats.org/drawingml/2006/main">
              <a:ext uri="{FF2B5EF4-FFF2-40B4-BE49-F238E27FC236}">
                <a16:creationId xmlns:a16="http://schemas.microsoft.com/office/drawing/2014/main" id="{F0B8C652-CDDF-4920-A8A3-442F4DDF3061}"/>
              </a:ext>
            </a:extLst>
          </p:cNvPr>
          <p:cNvSpPr>
            <a:spLocks xmlns:a="http://schemas.openxmlformats.org/drawingml/2006/main" noGrp="1"/>
          </p:cNvSpPr>
          <p:nvPr/>
        </p:nvSpPr>
        <p:spPr>
          <a:xfrm xmlns:a="http://schemas.openxmlformats.org/drawingml/2006/main">
            <a:off x="704850" y="171450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142839"/>
                </a:solidFill>
                <a:latin typeface="Arial"/>
                <a:ea typeface="Arial"/>
                <a:cs typeface="Arial"/>
              </a:defRPr>
            </a:defPPr>
          </a:lstStyle>
          <a:p xmlns:a="http://schemas.openxmlformats.org/drawingml/2006/main">
            <a:pPr>
              <a:defRPr sz="2250" b="0">
                <a:solidFill>
                  <a:srgbClr val="142839"/>
                </a:solidFill>
                <a:latin typeface="Arial"/>
                <a:ea typeface="Arial"/>
                <a:cs typeface="Arial"/>
              </a:defRPr>
            </a:pPr>
            <a:r>
              <a:rPr sz="2250" b="0">
                <a:solidFill>
                  <a:srgbClr val="142839"/>
                </a:solidFill>
                <a:latin typeface="Arial"/>
                <a:ea typeface="Arial"/>
                <a:cs typeface="Arial"/>
              </a:rPr>
              <a:t>1   Select the strongest eligible visitor-item cart.</a:t>
            </a:r>
          </a:p>
        </p:txBody>
      </p:sp>
      <p:sp>
        <p:nvSpPr>
          <p:cNvPr id="3" name="">
            <a:extLst xmlns:a="http://schemas.openxmlformats.org/drawingml/2006/main">
              <a:ext uri="{FF2B5EF4-FFF2-40B4-BE49-F238E27FC236}">
                <a16:creationId xmlns:a16="http://schemas.microsoft.com/office/drawing/2014/main" id="{4DB107E6-1DB6-4BAB-B127-027833309515}"/>
              </a:ext>
            </a:extLst>
          </p:cNvPr>
          <p:cNvSpPr>
            <a:spLocks xmlns:a="http://schemas.openxmlformats.org/drawingml/2006/main" noGrp="1"/>
          </p:cNvSpPr>
          <p:nvPr/>
        </p:nvSpPr>
        <p:spPr>
          <a:xfrm xmlns:a="http://schemas.openxmlformats.org/drawingml/2006/main">
            <a:off x="704850" y="26098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142839"/>
                </a:solidFill>
                <a:latin typeface="Arial"/>
                <a:ea typeface="Arial"/>
                <a:cs typeface="Arial"/>
              </a:defRPr>
            </a:defPPr>
          </a:lstStyle>
          <a:p xmlns:a="http://schemas.openxmlformats.org/drawingml/2006/main">
            <a:pPr>
              <a:defRPr sz="2250" b="0">
                <a:solidFill>
                  <a:srgbClr val="142839"/>
                </a:solidFill>
                <a:latin typeface="Arial"/>
                <a:ea typeface="Arial"/>
                <a:cs typeface="Arial"/>
              </a:defRPr>
            </a:pPr>
            <a:r>
              <a:rPr sz="2250" b="0">
                <a:solidFill>
                  <a:srgbClr val="142839"/>
                </a:solidFill>
                <a:latin typeface="Arial"/>
                <a:ea typeface="Arial"/>
                <a:cs typeface="Arial"/>
              </a:rPr>
              <a:t>2   Rank products using popularity in the current live window.</a:t>
            </a:r>
          </a:p>
        </p:txBody>
      </p:sp>
      <p:sp>
        <p:nvSpPr>
          <p:cNvPr id="4" name="">
            <a:extLst xmlns:a="http://schemas.openxmlformats.org/drawingml/2006/main">
              <a:ext uri="{FF2B5EF4-FFF2-40B4-BE49-F238E27FC236}">
                <a16:creationId xmlns:a16="http://schemas.microsoft.com/office/drawing/2014/main" id="{26025B80-D4DA-4A97-BFAF-0428415B9AB8}"/>
              </a:ext>
            </a:extLst>
          </p:cNvPr>
          <p:cNvSpPr>
            <a:spLocks xmlns:a="http://schemas.openxmlformats.org/drawingml/2006/main" noGrp="1"/>
          </p:cNvSpPr>
          <p:nvPr/>
        </p:nvSpPr>
        <p:spPr>
          <a:xfrm xmlns:a="http://schemas.openxmlformats.org/drawingml/2006/main">
            <a:off x="704850" y="350520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142839"/>
                </a:solidFill>
                <a:latin typeface="Arial"/>
                <a:ea typeface="Arial"/>
                <a:cs typeface="Arial"/>
              </a:defRPr>
            </a:defPPr>
          </a:lstStyle>
          <a:p xmlns:a="http://schemas.openxmlformats.org/drawingml/2006/main">
            <a:pPr>
              <a:defRPr sz="2250" b="0">
                <a:solidFill>
                  <a:srgbClr val="142839"/>
                </a:solidFill>
                <a:latin typeface="Arial"/>
                <a:ea typeface="Arial"/>
                <a:cs typeface="Arial"/>
              </a:defRPr>
            </a:pPr>
            <a:r>
              <a:rPr sz="2250" b="0">
                <a:solidFill>
                  <a:srgbClr val="142839"/>
                </a:solidFill>
                <a:latin typeface="Arial"/>
                <a:ea typeface="Arial"/>
                <a:cs typeface="Arial"/>
              </a:rPr>
              <a:t>3   Exclude every product the visitor has already seen in that window.</a:t>
            </a:r>
          </a:p>
        </p:txBody>
      </p:sp>
      <p:sp>
        <p:nvSpPr>
          <p:cNvPr id="5" name="">
            <a:extLst xmlns:a="http://schemas.openxmlformats.org/drawingml/2006/main">
              <a:ext uri="{FF2B5EF4-FFF2-40B4-BE49-F238E27FC236}">
                <a16:creationId xmlns:a16="http://schemas.microsoft.com/office/drawing/2014/main" id="{36D9E2F3-AAE8-48A6-ADF3-1CB481DEFED1}"/>
              </a:ext>
            </a:extLst>
          </p:cNvPr>
          <p:cNvSpPr>
            <a:spLocks xmlns:a="http://schemas.openxmlformats.org/drawingml/2006/main" noGrp="1"/>
          </p:cNvSpPr>
          <p:nvPr/>
        </p:nvSpPr>
        <p:spPr>
          <a:xfrm xmlns:a="http://schemas.openxmlformats.org/drawingml/2006/main">
            <a:off x="704850" y="4400550"/>
            <a:ext cx="10668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142839"/>
                </a:solidFill>
                <a:latin typeface="Arial"/>
                <a:ea typeface="Arial"/>
                <a:cs typeface="Arial"/>
              </a:defRPr>
            </a:defPPr>
          </a:lstStyle>
          <a:p xmlns:a="http://schemas.openxmlformats.org/drawingml/2006/main">
            <a:pPr>
              <a:defRPr sz="2250" b="0">
                <a:solidFill>
                  <a:srgbClr val="142839"/>
                </a:solidFill>
                <a:latin typeface="Arial"/>
                <a:ea typeface="Arial"/>
                <a:cs typeface="Arial"/>
              </a:defRPr>
            </a:pPr>
            <a:r>
              <a:rPr sz="2250" b="0">
                <a:solidFill>
                  <a:srgbClr val="142839"/>
                </a:solidFill>
                <a:latin typeface="Arial"/>
                <a:ea typeface="Arial"/>
                <a:cs typeface="Arial"/>
              </a:rPr>
              <a:t>4   Publish up to three unseen items with rank and reason.</a:t>
            </a:r>
          </a:p>
        </p:txBody>
      </p:sp>
      <p:sp>
        <p:nvSpPr>
          <p:cNvPr id="6" name="">
            <a:extLst xmlns:a="http://schemas.openxmlformats.org/drawingml/2006/main">
              <a:ext uri="{FF2B5EF4-FFF2-40B4-BE49-F238E27FC236}">
                <a16:creationId xmlns:a16="http://schemas.microsoft.com/office/drawing/2014/main" id="{1D27DAC3-8999-460C-BD62-41D7ACF092F8}"/>
              </a:ext>
            </a:extLst>
          </p:cNvPr>
          <p:cNvSpPr>
            <a:spLocks xmlns:a="http://schemas.openxmlformats.org/drawingml/2006/main" noGrp="1"/>
          </p:cNvSpPr>
          <p:nvPr/>
        </p:nvSpPr>
        <p:spPr>
          <a:xfrm xmlns:a="http://schemas.openxmlformats.org/drawingml/2006/main">
            <a:off x="704850" y="576262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6C75"/>
                </a:solidFill>
                <a:latin typeface="Arial"/>
                <a:ea typeface="Arial"/>
                <a:cs typeface="Arial"/>
              </a:defRPr>
            </a:defPPr>
          </a:lstStyle>
          <a:p xmlns:a="http://schemas.openxmlformats.org/drawingml/2006/main">
            <a:pPr>
              <a:defRPr sz="2100" b="1">
                <a:solidFill>
                  <a:srgbClr val="176C75"/>
                </a:solidFill>
                <a:latin typeface="Arial"/>
                <a:ea typeface="Arial"/>
                <a:cs typeface="Arial"/>
              </a:defRPr>
            </a:pPr>
            <a:r>
              <a:rPr sz="2100" b="1">
                <a:solidFill>
                  <a:srgbClr val="176C75"/>
                </a:solidFill>
                <a:latin typeface="Arial"/>
                <a:ea typeface="Arial"/>
                <a:cs typeface="Arial"/>
              </a:rPr>
              <a:t>Sparse traffic may produce no unseen candidates.</a:t>
            </a:r>
          </a:p>
        </p:txBody>
      </p:sp>
    </p:spTree>
    <p:extLst>
      <p:ext uri="{BB962C8B-B14F-4D97-AF65-F5344CB8AC3E}">
        <p14:creationId xmlns:p14="http://schemas.microsoft.com/office/powerpoint/2010/main" val="57349445"/>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0A38A484-CC8C-4071-BB73-D9C16E1FB624}"/>
              </a:ext>
            </a:extLst>
          </p:cNvPr>
          <p:cNvSpPr>
            <a:spLocks xmlns:a="http://schemas.openxmlformats.org/drawingml/2006/main" noGrp="1"/>
          </p:cNvSpPr>
          <p:nvPr/>
        </p:nvSpPr>
        <p:spPr>
          <a:xfrm xmlns:a="http://schemas.openxmlformats.org/drawingml/2006/main">
            <a:off x="609600" y="47625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42839"/>
                </a:solidFill>
                <a:latin typeface="Arial"/>
                <a:ea typeface="Arial"/>
                <a:cs typeface="Arial"/>
              </a:defRPr>
            </a:defPPr>
          </a:lstStyle>
          <a:p xmlns:a="http://schemas.openxmlformats.org/drawingml/2006/main">
            <a:pPr>
              <a:defRPr sz="3300" b="1">
                <a:solidFill>
                  <a:srgbClr val="142839"/>
                </a:solidFill>
                <a:latin typeface="Arial"/>
                <a:ea typeface="Arial"/>
                <a:cs typeface="Arial"/>
              </a:defRPr>
            </a:pPr>
            <a:r>
              <a:rPr sz="3300" b="1">
                <a:solidFill>
                  <a:srgbClr val="142839"/>
                </a:solidFill>
                <a:latin typeface="Arial"/>
                <a:ea typeface="Arial"/>
                <a:cs typeface="Arial"/>
              </a:rPr>
              <a:t>Kafka and Flume ingestion choices</a:t>
            </a:r>
          </a:p>
        </p:txBody>
      </p:sp>
      <p:graphicFrame>
        <p:nvGraphicFramePr>
          <p:cNvPr id="2" name="">
            <a:extLst xmlns:a="http://schemas.openxmlformats.org/drawingml/2006/main">
              <a:ext uri="{FF2B5EF4-FFF2-40B4-BE49-F238E27FC236}">
                <a16:creationId xmlns:a16="http://schemas.microsoft.com/office/drawing/2014/main" id="{87BD9CF4-D392-48C7-879C-6A0B3EAE8566}"/>
              </a:ext>
            </a:extLst>
          </p:cNvPr>
          <p:cNvGraphicFramePr/>
          <p:nvPr/>
        </p:nvGraphicFramePr>
        <p:xfrm>
          <a:off xmlns:a="http://schemas.openxmlformats.org/drawingml/2006/main" x="609600" y="1714500"/>
          <a:ext xmlns:a="http://schemas.openxmlformats.org/drawingml/2006/main" cx="10972800" cy="3810000"/>
        </p:xfrm>
        <a:graphic xmlns:a="http://schemas.openxmlformats.org/drawingml/2006/main">
          <a:graphicData uri="http://schemas.openxmlformats.org/drawingml/2006/table">
            <a:tbl>
              <a:tblPr/>
              <a:tblGrid>
                <a:gridCol w="2571750"/>
                <a:gridCol w="4191000"/>
                <a:gridCol w="4210050"/>
              </a:tblGrid>
              <a:tr h="635000">
                <a:tc>
                  <a:txBody>
                    <a:bodyPr/>
                    <a:lstStyle/>
                    <a:p>
                      <a:r>
                        <a:rPr sz="1875" b="1">
                          <a:solidFill>
                            <a:srgbClr val="FFFFFF"/>
                          </a:solidFill>
                          <a:latin typeface="Arial"/>
                          <a:ea typeface="Arial"/>
                          <a:cs typeface="Arial"/>
                        </a:rPr>
                        <a:t>Criterion</a:t>
                      </a:r>
                    </a:p>
                  </a:txBody>
                  <a:tcPr marL="91440" marR="91440" marT="45720" marB="45720">
                    <a:solidFill>
                      <a:srgbClr val="142839"/>
                    </a:solidFill>
                  </a:tcPr>
                </a:tc>
                <a:tc>
                  <a:txBody>
                    <a:bodyPr/>
                    <a:lstStyle/>
                    <a:p>
                      <a:r>
                        <a:rPr sz="1875" b="1">
                          <a:solidFill>
                            <a:srgbClr val="FFFFFF"/>
                          </a:solidFill>
                          <a:latin typeface="Arial"/>
                          <a:ea typeface="Arial"/>
                          <a:cs typeface="Arial"/>
                        </a:rPr>
                        <a:t>Kafka</a:t>
                      </a:r>
                    </a:p>
                  </a:txBody>
                  <a:tcPr marL="91440" marR="91440" marT="45720" marB="45720">
                    <a:solidFill>
                      <a:srgbClr val="142839"/>
                    </a:solidFill>
                  </a:tcPr>
                </a:tc>
                <a:tc>
                  <a:txBody>
                    <a:bodyPr/>
                    <a:lstStyle/>
                    <a:p>
                      <a:r>
                        <a:rPr sz="1875" b="1">
                          <a:solidFill>
                            <a:srgbClr val="FFFFFF"/>
                          </a:solidFill>
                          <a:latin typeface="Arial"/>
                          <a:ea typeface="Arial"/>
                          <a:cs typeface="Arial"/>
                        </a:rPr>
                        <a:t>Flume</a:t>
                      </a:r>
                    </a:p>
                  </a:txBody>
                  <a:tcPr marL="91440" marR="91440" marT="45720" marB="45720">
                    <a:solidFill>
                      <a:srgbClr val="142839"/>
                    </a:solidFill>
                  </a:tcPr>
                </a:tc>
              </a:tr>
              <a:tr h="635000">
                <a:tc>
                  <a:txBody>
                    <a:bodyPr/>
                    <a:lstStyle/>
                    <a:p>
                      <a:r>
                        <a:rPr sz="1875" b="0">
                          <a:solidFill>
                            <a:srgbClr val="142839"/>
                          </a:solidFill>
                          <a:latin typeface="Arial"/>
                          <a:ea typeface="Arial"/>
                          <a:cs typeface="Arial"/>
                        </a:rPr>
                        <a:t>Core model</a:t>
                      </a:r>
                    </a:p>
                  </a:txBody>
                  <a:tcPr marL="91440" marR="91440" marT="45720" marB="45720">
                    <a:solidFill>
                      <a:srgbClr val="FFFFFF"/>
                    </a:solidFill>
                  </a:tcPr>
                </a:tc>
                <a:tc>
                  <a:txBody>
                    <a:bodyPr/>
                    <a:lstStyle/>
                    <a:p>
                      <a:r>
                        <a:rPr sz="1875" b="0">
                          <a:solidFill>
                            <a:srgbClr val="142839"/>
                          </a:solidFill>
                          <a:latin typeface="Arial"/>
                          <a:ea typeface="Arial"/>
                          <a:cs typeface="Arial"/>
                        </a:rPr>
                        <a:t>Retained partitioned log</a:t>
                      </a:r>
                    </a:p>
                  </a:txBody>
                  <a:tcPr marL="91440" marR="91440" marT="45720" marB="45720">
                    <a:solidFill>
                      <a:srgbClr val="FFFFFF"/>
                    </a:solidFill>
                  </a:tcPr>
                </a:tc>
                <a:tc>
                  <a:txBody>
                    <a:bodyPr/>
                    <a:lstStyle/>
                    <a:p>
                      <a:r>
                        <a:rPr sz="1875" b="0">
                          <a:solidFill>
                            <a:srgbClr val="142839"/>
                          </a:solidFill>
                          <a:latin typeface="Arial"/>
                          <a:ea typeface="Arial"/>
                          <a:cs typeface="Arial"/>
                        </a:rPr>
                        <a:t>Source channel sink</a:t>
                      </a:r>
                    </a:p>
                  </a:txBody>
                  <a:tcPr marL="91440" marR="91440" marT="45720" marB="45720">
                    <a:solidFill>
                      <a:srgbClr val="FFFFFF"/>
                    </a:solidFill>
                  </a:tcPr>
                </a:tc>
              </a:tr>
              <a:tr h="635000">
                <a:tc>
                  <a:txBody>
                    <a:bodyPr/>
                    <a:lstStyle/>
                    <a:p>
                      <a:r>
                        <a:rPr sz="1875" b="0">
                          <a:solidFill>
                            <a:srgbClr val="142839"/>
                          </a:solidFill>
                          <a:latin typeface="Arial"/>
                          <a:ea typeface="Arial"/>
                          <a:cs typeface="Arial"/>
                        </a:rPr>
                        <a:t>Replay</a:t>
                      </a:r>
                    </a:p>
                  </a:txBody>
                  <a:tcPr marL="91440" marR="91440" marT="45720" marB="45720">
                    <a:solidFill>
                      <a:srgbClr val="EDF2F4"/>
                    </a:solidFill>
                  </a:tcPr>
                </a:tc>
                <a:tc>
                  <a:txBody>
                    <a:bodyPr/>
                    <a:lstStyle/>
                    <a:p>
                      <a:r>
                        <a:rPr sz="1875" b="0">
                          <a:solidFill>
                            <a:srgbClr val="142839"/>
                          </a:solidFill>
                          <a:latin typeface="Arial"/>
                          <a:ea typeface="Arial"/>
                          <a:cs typeface="Arial"/>
                        </a:rPr>
                        <a:t>Seek retained offsets</a:t>
                      </a:r>
                    </a:p>
                  </a:txBody>
                  <a:tcPr marL="91440" marR="91440" marT="45720" marB="45720">
                    <a:solidFill>
                      <a:srgbClr val="EDF2F4"/>
                    </a:solidFill>
                  </a:tcPr>
                </a:tc>
                <a:tc>
                  <a:txBody>
                    <a:bodyPr/>
                    <a:lstStyle/>
                    <a:p>
                      <a:r>
                        <a:rPr sz="1875" b="0">
                          <a:solidFill>
                            <a:srgbClr val="142839"/>
                          </a:solidFill>
                          <a:latin typeface="Arial"/>
                          <a:ea typeface="Arial"/>
                          <a:cs typeface="Arial"/>
                        </a:rPr>
                        <a:t>Depends on delivery flow</a:t>
                      </a:r>
                    </a:p>
                  </a:txBody>
                  <a:tcPr marL="91440" marR="91440" marT="45720" marB="45720">
                    <a:solidFill>
                      <a:srgbClr val="EDF2F4"/>
                    </a:solidFill>
                  </a:tcPr>
                </a:tc>
              </a:tr>
              <a:tr h="635000">
                <a:tc>
                  <a:txBody>
                    <a:bodyPr/>
                    <a:lstStyle/>
                    <a:p>
                      <a:r>
                        <a:rPr sz="1875" b="0">
                          <a:solidFill>
                            <a:srgbClr val="142839"/>
                          </a:solidFill>
                          <a:latin typeface="Arial"/>
                          <a:ea typeface="Arial"/>
                          <a:cs typeface="Arial"/>
                        </a:rPr>
                        <a:t>Multiple readers</a:t>
                      </a:r>
                    </a:p>
                  </a:txBody>
                  <a:tcPr marL="91440" marR="91440" marT="45720" marB="45720">
                    <a:solidFill>
                      <a:srgbClr val="FFFFFF"/>
                    </a:solidFill>
                  </a:tcPr>
                </a:tc>
                <a:tc>
                  <a:txBody>
                    <a:bodyPr/>
                    <a:lstStyle/>
                    <a:p>
                      <a:r>
                        <a:rPr sz="1875" b="0">
                          <a:solidFill>
                            <a:srgbClr val="142839"/>
                          </a:solidFill>
                          <a:latin typeface="Arial"/>
                          <a:ea typeface="Arial"/>
                          <a:cs typeface="Arial"/>
                        </a:rPr>
                        <a:t>Independent groups</a:t>
                      </a:r>
                    </a:p>
                  </a:txBody>
                  <a:tcPr marL="91440" marR="91440" marT="45720" marB="45720">
                    <a:solidFill>
                      <a:srgbClr val="FFFFFF"/>
                    </a:solidFill>
                  </a:tcPr>
                </a:tc>
                <a:tc>
                  <a:txBody>
                    <a:bodyPr/>
                    <a:lstStyle/>
                    <a:p>
                      <a:r>
                        <a:rPr sz="1875" b="0">
                          <a:solidFill>
                            <a:srgbClr val="142839"/>
                          </a:solidFill>
                          <a:latin typeface="Arial"/>
                          <a:ea typeface="Arial"/>
                          <a:cs typeface="Arial"/>
                        </a:rPr>
                        <a:t>Configured fan-out</a:t>
                      </a:r>
                    </a:p>
                  </a:txBody>
                  <a:tcPr marL="91440" marR="91440" marT="45720" marB="45720">
                    <a:solidFill>
                      <a:srgbClr val="FFFFFF"/>
                    </a:solidFill>
                  </a:tcPr>
                </a:tc>
              </a:tr>
              <a:tr h="635000">
                <a:tc>
                  <a:txBody>
                    <a:bodyPr/>
                    <a:lstStyle/>
                    <a:p>
                      <a:r>
                        <a:rPr sz="1875" b="0">
                          <a:solidFill>
                            <a:srgbClr val="142839"/>
                          </a:solidFill>
                          <a:latin typeface="Arial"/>
                          <a:ea typeface="Arial"/>
                          <a:cs typeface="Arial"/>
                        </a:rPr>
                        <a:t>Best project fit</a:t>
                      </a:r>
                    </a:p>
                  </a:txBody>
                  <a:tcPr marL="91440" marR="91440" marT="45720" marB="45720">
                    <a:solidFill>
                      <a:srgbClr val="EDF2F4"/>
                    </a:solidFill>
                  </a:tcPr>
                </a:tc>
                <a:tc>
                  <a:txBody>
                    <a:bodyPr/>
                    <a:lstStyle/>
                    <a:p>
                      <a:r>
                        <a:rPr sz="1875" b="0">
                          <a:solidFill>
                            <a:srgbClr val="142839"/>
                          </a:solidFill>
                          <a:latin typeface="Arial"/>
                          <a:ea typeface="Arial"/>
                          <a:cs typeface="Arial"/>
                        </a:rPr>
                        <a:t>Shared event ingestion</a:t>
                      </a:r>
                    </a:p>
                  </a:txBody>
                  <a:tcPr marL="91440" marR="91440" marT="45720" marB="45720">
                    <a:solidFill>
                      <a:srgbClr val="EDF2F4"/>
                    </a:solidFill>
                  </a:tcPr>
                </a:tc>
                <a:tc>
                  <a:txBody>
                    <a:bodyPr/>
                    <a:lstStyle/>
                    <a:p>
                      <a:r>
                        <a:rPr sz="1875" b="0">
                          <a:solidFill>
                            <a:srgbClr val="142839"/>
                          </a:solidFill>
                          <a:latin typeface="Arial"/>
                          <a:ea typeface="Arial"/>
                          <a:cs typeface="Arial"/>
                        </a:rPr>
                        <a:t>Log forwarding</a:t>
                      </a:r>
                    </a:p>
                  </a:txBody>
                  <a:tcPr marL="91440" marR="91440" marT="45720" marB="45720">
                    <a:solidFill>
                      <a:srgbClr val="EDF2F4"/>
                    </a:solidFill>
                  </a:tcPr>
                </a:tc>
              </a:tr>
              <a:tr h="635000">
                <a:tc>
                  <a:txBody>
                    <a:bodyPr/>
                    <a:lstStyle/>
                    <a:p>
                      <a:r>
                        <a:rPr sz="1875" b="0">
                          <a:solidFill>
                            <a:srgbClr val="142839"/>
                          </a:solidFill>
                          <a:latin typeface="Arial"/>
                          <a:ea typeface="Arial"/>
                          <a:cs typeface="Arial"/>
                        </a:rPr>
                        <a:t>Operational cost</a:t>
                      </a:r>
                    </a:p>
                  </a:txBody>
                  <a:tcPr marL="91440" marR="91440" marT="45720" marB="45720">
                    <a:solidFill>
                      <a:srgbClr val="FFFFFF"/>
                    </a:solidFill>
                  </a:tcPr>
                </a:tc>
                <a:tc>
                  <a:txBody>
                    <a:bodyPr/>
                    <a:lstStyle/>
                    <a:p>
                      <a:r>
                        <a:rPr sz="1875" b="0">
                          <a:solidFill>
                            <a:srgbClr val="142839"/>
                          </a:solidFill>
                          <a:latin typeface="Arial"/>
                          <a:ea typeface="Arial"/>
                          <a:cs typeface="Arial"/>
                        </a:rPr>
                        <a:t>Broker and partition planning</a:t>
                      </a:r>
                    </a:p>
                  </a:txBody>
                  <a:tcPr marL="91440" marR="91440" marT="45720" marB="45720">
                    <a:solidFill>
                      <a:srgbClr val="FFFFFF"/>
                    </a:solidFill>
                  </a:tcPr>
                </a:tc>
                <a:tc>
                  <a:txBody>
                    <a:bodyPr/>
                    <a:lstStyle/>
                    <a:p>
                      <a:r>
                        <a:rPr sz="1875" b="0">
                          <a:solidFill>
                            <a:srgbClr val="142839"/>
                          </a:solidFill>
                          <a:latin typeface="Arial"/>
                          <a:ea typeface="Arial"/>
                          <a:cs typeface="Arial"/>
                        </a:rPr>
                        <a:t>Agents and flow planning</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5D8C5624-84F5-4BBE-BDF4-2861CB1E816E}"/>
              </a:ext>
            </a:extLst>
          </p:cNvPr>
          <p:cNvSpPr>
            <a:spLocks xmlns:a="http://schemas.openxmlformats.org/drawingml/2006/main" noGrp="1"/>
          </p:cNvSpPr>
          <p:nvPr/>
        </p:nvSpPr>
        <p:spPr>
          <a:xfrm xmlns:a="http://schemas.openxmlformats.org/drawingml/2006/main">
            <a:off x="666750" y="576262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176C75"/>
                </a:solidFill>
                <a:latin typeface="Arial"/>
                <a:ea typeface="Arial"/>
                <a:cs typeface="Arial"/>
              </a:defRPr>
            </a:defPPr>
          </a:lstStyle>
          <a:p xmlns:a="http://schemas.openxmlformats.org/drawingml/2006/main">
            <a:pPr>
              <a:defRPr sz="2100" b="1">
                <a:solidFill>
                  <a:srgbClr val="176C75"/>
                </a:solidFill>
                <a:latin typeface="Arial"/>
                <a:ea typeface="Arial"/>
                <a:cs typeface="Arial"/>
              </a:defRPr>
            </a:pPr>
            <a:r>
              <a:rPr sz="2100" b="1">
                <a:solidFill>
                  <a:srgbClr val="176C75"/>
                </a:solidFill>
                <a:latin typeface="Arial"/>
                <a:ea typeface="Arial"/>
                <a:cs typeface="Arial"/>
              </a:rPr>
              <a:t>The local broker uses KRaft and replication factor one.</a:t>
            </a:r>
          </a:p>
        </p:txBody>
      </p:sp>
    </p:spTree>
    <p:extLst>
      <p:ext uri="{BB962C8B-B14F-4D97-AF65-F5344CB8AC3E}">
        <p14:creationId xmlns:p14="http://schemas.microsoft.com/office/powerpoint/2010/main" val="1034842088"/>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580A2040-D287-496B-9000-DE975F1D7BD0}"/>
              </a:ext>
            </a:extLst>
          </p:cNvPr>
          <p:cNvSpPr>
            <a:spLocks xmlns:a="http://schemas.openxmlformats.org/drawingml/2006/main" noGrp="1"/>
          </p:cNvSpPr>
          <p:nvPr/>
        </p:nvSpPr>
        <p:spPr>
          <a:xfrm xmlns:a="http://schemas.openxmlformats.org/drawingml/2006/main">
            <a:off x="609600" y="47625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42839"/>
                </a:solidFill>
                <a:latin typeface="Arial"/>
                <a:ea typeface="Arial"/>
                <a:cs typeface="Arial"/>
              </a:defRPr>
            </a:defPPr>
          </a:lstStyle>
          <a:p xmlns:a="http://schemas.openxmlformats.org/drawingml/2006/main">
            <a:pPr>
              <a:defRPr sz="3300" b="1">
                <a:solidFill>
                  <a:srgbClr val="142839"/>
                </a:solidFill>
                <a:latin typeface="Arial"/>
                <a:ea typeface="Arial"/>
                <a:cs typeface="Arial"/>
              </a:defRPr>
            </a:pPr>
            <a:r>
              <a:rPr sz="3300" b="1">
                <a:solidFill>
                  <a:srgbClr val="142839"/>
                </a:solidFill>
                <a:latin typeface="Arial"/>
                <a:ea typeface="Arial"/>
                <a:cs typeface="Arial"/>
              </a:rPr>
              <a:t>Checkpoint recovery and atomic epochs</a:t>
            </a:r>
          </a:p>
        </p:txBody>
      </p:sp>
      <p:sp>
        <p:nvSpPr>
          <p:cNvPr id="2" name="">
            <a:extLst xmlns:a="http://schemas.openxmlformats.org/drawingml/2006/main">
              <a:ext uri="{FF2B5EF4-FFF2-40B4-BE49-F238E27FC236}">
                <a16:creationId xmlns:a16="http://schemas.microsoft.com/office/drawing/2014/main" id="{D0BB4559-A564-480F-A4E6-62C25D7E852A}"/>
              </a:ext>
            </a:extLst>
          </p:cNvPr>
          <p:cNvSpPr>
            <a:spLocks xmlns:a="http://schemas.openxmlformats.org/drawingml/2006/main" noGrp="1"/>
          </p:cNvSpPr>
          <p:nvPr/>
        </p:nvSpPr>
        <p:spPr>
          <a:xfrm xmlns:a="http://schemas.openxmlformats.org/drawingml/2006/main">
            <a:off x="609600" y="2047875"/>
            <a:ext cx="2952750" cy="1123950"/>
          </a:xfrm>
          <a:prstGeom xmlns:a="http://schemas.openxmlformats.org/drawingml/2006/main" prst="rect">
            <a:avLst/>
          </a:prstGeom>
          <a:solidFill xmlns:a="http://schemas.openxmlformats.org/drawingml/2006/main">
            <a:srgbClr val="EDF2F4"/>
          </a:solidFill>
          <a:ln xmlns:a="http://schemas.openxmlformats.org/drawingml/2006/main" w="11430">
            <a:solidFill>
              <a:srgbClr val="8799A6"/>
            </a:solidFill>
          </a:ln>
        </p:spPr>
      </p:sp>
      <p:sp>
        <p:nvSpPr>
          <p:cNvPr id="3" name="">
            <a:extLst xmlns:a="http://schemas.openxmlformats.org/drawingml/2006/main">
              <a:ext uri="{FF2B5EF4-FFF2-40B4-BE49-F238E27FC236}">
                <a16:creationId xmlns:a16="http://schemas.microsoft.com/office/drawing/2014/main" id="{4BDBBEEC-3EF2-47F2-A27F-0CD0170448F4}"/>
              </a:ext>
            </a:extLst>
          </p:cNvPr>
          <p:cNvSpPr>
            <a:spLocks xmlns:a="http://schemas.openxmlformats.org/drawingml/2006/main" noGrp="1"/>
          </p:cNvSpPr>
          <p:nvPr/>
        </p:nvSpPr>
        <p:spPr>
          <a:xfrm xmlns:a="http://schemas.openxmlformats.org/drawingml/2006/main">
            <a:off x="723900" y="2219325"/>
            <a:ext cx="2724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42839"/>
                </a:solidFill>
                <a:latin typeface="Arial"/>
                <a:ea typeface="Arial"/>
                <a:cs typeface="Arial"/>
              </a:defRPr>
            </a:defPPr>
          </a:lstStyle>
          <a:p xmlns:a="http://schemas.openxmlformats.org/drawingml/2006/main">
            <a:pPr>
              <a:defRPr sz="2025" b="1">
                <a:solidFill>
                  <a:srgbClr val="142839"/>
                </a:solidFill>
                <a:latin typeface="Arial"/>
                <a:ea typeface="Arial"/>
                <a:cs typeface="Arial"/>
              </a:defRPr>
            </a:pPr>
            <a:r>
              <a:rPr sz="2025" b="1">
                <a:solidFill>
                  <a:srgbClr val="142839"/>
                </a:solidFill>
                <a:latin typeface="Arial"/>
                <a:ea typeface="Arial"/>
                <a:cs typeface="Arial"/>
              </a:rPr>
              <a:t>Write staging epoch</a:t>
            </a:r>
          </a:p>
        </p:txBody>
      </p:sp>
      <p:sp>
        <p:nvSpPr>
          <p:cNvPr id="4" name="">
            <a:extLst xmlns:a="http://schemas.openxmlformats.org/drawingml/2006/main">
              <a:ext uri="{FF2B5EF4-FFF2-40B4-BE49-F238E27FC236}">
                <a16:creationId xmlns:a16="http://schemas.microsoft.com/office/drawing/2014/main" id="{9CF81F1F-5D43-416C-8723-9F49E3A85335}"/>
              </a:ext>
            </a:extLst>
          </p:cNvPr>
          <p:cNvSpPr>
            <a:spLocks xmlns:a="http://schemas.openxmlformats.org/drawingml/2006/main" noGrp="1"/>
          </p:cNvSpPr>
          <p:nvPr/>
        </p:nvSpPr>
        <p:spPr>
          <a:xfrm xmlns:a="http://schemas.openxmlformats.org/drawingml/2006/main">
            <a:off x="723900" y="2667000"/>
            <a:ext cx="27241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42586A"/>
                </a:solidFill>
                <a:latin typeface="Arial"/>
                <a:ea typeface="Arial"/>
                <a:cs typeface="Arial"/>
              </a:defRPr>
            </a:defPPr>
          </a:lstStyle>
          <a:p xmlns:a="http://schemas.openxmlformats.org/drawingml/2006/main">
            <a:pPr>
              <a:defRPr sz="1575" b="0">
                <a:solidFill>
                  <a:srgbClr val="42586A"/>
                </a:solidFill>
                <a:latin typeface="Arial"/>
                <a:ea typeface="Arial"/>
                <a:cs typeface="Arial"/>
              </a:defRPr>
            </a:pPr>
            <a:r>
              <a:rPr sz="1575" b="0">
                <a:solidFill>
                  <a:srgbClr val="42586A"/>
                </a:solidFill>
                <a:latin typeface="Arial"/>
                <a:ea typeface="Arial"/>
                <a:cs typeface="Arial"/>
              </a:rPr>
              <a:t>State and recommendations</a:t>
            </a:r>
          </a:p>
        </p:txBody>
      </p:sp>
      <p:sp>
        <p:nvSpPr>
          <p:cNvPr id="5" name="">
            <a:extLst xmlns:a="http://schemas.openxmlformats.org/drawingml/2006/main">
              <a:ext uri="{FF2B5EF4-FFF2-40B4-BE49-F238E27FC236}">
                <a16:creationId xmlns:a16="http://schemas.microsoft.com/office/drawing/2014/main" id="{F58B9E3F-7EEB-4B0A-B4F7-52F8C20B5E5F}"/>
              </a:ext>
            </a:extLst>
          </p:cNvPr>
          <p:cNvSpPr>
            <a:spLocks xmlns:a="http://schemas.openxmlformats.org/drawingml/2006/main" noGrp="1"/>
          </p:cNvSpPr>
          <p:nvPr/>
        </p:nvSpPr>
        <p:spPr>
          <a:xfrm xmlns:a="http://schemas.openxmlformats.org/drawingml/2006/main">
            <a:off x="3686175" y="2457450"/>
            <a:ext cx="419100" cy="238125"/>
          </a:xfrm>
          <a:prstGeom xmlns:a="http://schemas.openxmlformats.org/drawingml/2006/main" prst="rightArrow">
            <a:avLst/>
          </a:prstGeom>
          <a:solidFill xmlns:a="http://schemas.openxmlformats.org/drawingml/2006/main">
            <a:srgbClr val="176C75"/>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A978792-B47E-420A-B02C-42B9980E16A8}"/>
              </a:ext>
            </a:extLst>
          </p:cNvPr>
          <p:cNvSpPr>
            <a:spLocks xmlns:a="http://schemas.openxmlformats.org/drawingml/2006/main" noGrp="1"/>
          </p:cNvSpPr>
          <p:nvPr/>
        </p:nvSpPr>
        <p:spPr>
          <a:xfrm xmlns:a="http://schemas.openxmlformats.org/drawingml/2006/main">
            <a:off x="4286250" y="2047875"/>
            <a:ext cx="2952750" cy="1123950"/>
          </a:xfrm>
          <a:prstGeom xmlns:a="http://schemas.openxmlformats.org/drawingml/2006/main" prst="rect">
            <a:avLst/>
          </a:prstGeom>
          <a:solidFill xmlns:a="http://schemas.openxmlformats.org/drawingml/2006/main">
            <a:srgbClr val="EDF2F4"/>
          </a:solidFill>
          <a:ln xmlns:a="http://schemas.openxmlformats.org/drawingml/2006/main" w="11430">
            <a:solidFill>
              <a:srgbClr val="8799A6"/>
            </a:solidFill>
          </a:ln>
        </p:spPr>
      </p:sp>
      <p:sp>
        <p:nvSpPr>
          <p:cNvPr id="7" name="">
            <a:extLst xmlns:a="http://schemas.openxmlformats.org/drawingml/2006/main">
              <a:ext uri="{FF2B5EF4-FFF2-40B4-BE49-F238E27FC236}">
                <a16:creationId xmlns:a16="http://schemas.microsoft.com/office/drawing/2014/main" id="{D4ABA4B0-3B3E-46D9-A359-1163EAE563BD}"/>
              </a:ext>
            </a:extLst>
          </p:cNvPr>
          <p:cNvSpPr>
            <a:spLocks xmlns:a="http://schemas.openxmlformats.org/drawingml/2006/main" noGrp="1"/>
          </p:cNvSpPr>
          <p:nvPr/>
        </p:nvSpPr>
        <p:spPr>
          <a:xfrm xmlns:a="http://schemas.openxmlformats.org/drawingml/2006/main">
            <a:off x="4400550" y="2219325"/>
            <a:ext cx="27241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42839"/>
                </a:solidFill>
                <a:latin typeface="Arial"/>
                <a:ea typeface="Arial"/>
                <a:cs typeface="Arial"/>
              </a:defRPr>
            </a:defPPr>
          </a:lstStyle>
          <a:p xmlns:a="http://schemas.openxmlformats.org/drawingml/2006/main">
            <a:pPr>
              <a:defRPr sz="2025" b="1">
                <a:solidFill>
                  <a:srgbClr val="142839"/>
                </a:solidFill>
                <a:latin typeface="Arial"/>
                <a:ea typeface="Arial"/>
                <a:cs typeface="Arial"/>
              </a:defRPr>
            </a:pPr>
            <a:r>
              <a:rPr sz="2025" b="1">
                <a:solidFill>
                  <a:srgbClr val="142839"/>
                </a:solidFill>
                <a:latin typeface="Arial"/>
                <a:ea typeface="Arial"/>
                <a:cs typeface="Arial"/>
              </a:rPr>
              <a:t>Publish epoch</a:t>
            </a:r>
          </a:p>
        </p:txBody>
      </p:sp>
      <p:sp>
        <p:nvSpPr>
          <p:cNvPr id="8" name="">
            <a:extLst xmlns:a="http://schemas.openxmlformats.org/drawingml/2006/main">
              <a:ext uri="{FF2B5EF4-FFF2-40B4-BE49-F238E27FC236}">
                <a16:creationId xmlns:a16="http://schemas.microsoft.com/office/drawing/2014/main" id="{3249D734-22B6-4124-AADC-80F3C6AE1140}"/>
              </a:ext>
            </a:extLst>
          </p:cNvPr>
          <p:cNvSpPr>
            <a:spLocks xmlns:a="http://schemas.openxmlformats.org/drawingml/2006/main" noGrp="1"/>
          </p:cNvSpPr>
          <p:nvPr/>
        </p:nvSpPr>
        <p:spPr>
          <a:xfrm xmlns:a="http://schemas.openxmlformats.org/drawingml/2006/main">
            <a:off x="4400550" y="2667000"/>
            <a:ext cx="27241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42586A"/>
                </a:solidFill>
                <a:latin typeface="Arial"/>
                <a:ea typeface="Arial"/>
                <a:cs typeface="Arial"/>
              </a:defRPr>
            </a:defPPr>
          </a:lstStyle>
          <a:p xmlns:a="http://schemas.openxmlformats.org/drawingml/2006/main">
            <a:pPr>
              <a:defRPr sz="1575" b="0">
                <a:solidFill>
                  <a:srgbClr val="42586A"/>
                </a:solidFill>
                <a:latin typeface="Arial"/>
                <a:ea typeface="Arial"/>
                <a:cs typeface="Arial"/>
              </a:defRPr>
            </a:pPr>
            <a:r>
              <a:rPr sz="1575" b="0">
                <a:solidFill>
                  <a:srgbClr val="42586A"/>
                </a:solidFill>
                <a:latin typeface="Arial"/>
                <a:ea typeface="Arial"/>
                <a:cs typeface="Arial"/>
              </a:rPr>
              <a:t>Same-filesystem rename</a:t>
            </a:r>
          </a:p>
        </p:txBody>
      </p:sp>
      <p:sp>
        <p:nvSpPr>
          <p:cNvPr id="9" name="">
            <a:extLst xmlns:a="http://schemas.openxmlformats.org/drawingml/2006/main">
              <a:ext uri="{FF2B5EF4-FFF2-40B4-BE49-F238E27FC236}">
                <a16:creationId xmlns:a16="http://schemas.microsoft.com/office/drawing/2014/main" id="{B5B3E2E3-2F90-47ED-8008-E22C7000FD74}"/>
              </a:ext>
            </a:extLst>
          </p:cNvPr>
          <p:cNvSpPr>
            <a:spLocks xmlns:a="http://schemas.openxmlformats.org/drawingml/2006/main" noGrp="1"/>
          </p:cNvSpPr>
          <p:nvPr/>
        </p:nvSpPr>
        <p:spPr>
          <a:xfrm xmlns:a="http://schemas.openxmlformats.org/drawingml/2006/main">
            <a:off x="7362825" y="2457450"/>
            <a:ext cx="419100" cy="238125"/>
          </a:xfrm>
          <a:prstGeom xmlns:a="http://schemas.openxmlformats.org/drawingml/2006/main" prst="rightArrow">
            <a:avLst/>
          </a:prstGeom>
          <a:solidFill xmlns:a="http://schemas.openxmlformats.org/drawingml/2006/main">
            <a:srgbClr val="176C75"/>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2972FD5C-6C9F-47EE-9702-E66726F95600}"/>
              </a:ext>
            </a:extLst>
          </p:cNvPr>
          <p:cNvSpPr>
            <a:spLocks xmlns:a="http://schemas.openxmlformats.org/drawingml/2006/main" noGrp="1"/>
          </p:cNvSpPr>
          <p:nvPr/>
        </p:nvSpPr>
        <p:spPr>
          <a:xfrm xmlns:a="http://schemas.openxmlformats.org/drawingml/2006/main">
            <a:off x="7962900" y="2047875"/>
            <a:ext cx="3619500" cy="1123950"/>
          </a:xfrm>
          <a:prstGeom xmlns:a="http://schemas.openxmlformats.org/drawingml/2006/main" prst="rect">
            <a:avLst/>
          </a:prstGeom>
          <a:solidFill xmlns:a="http://schemas.openxmlformats.org/drawingml/2006/main">
            <a:srgbClr val="EDF2F4"/>
          </a:solidFill>
          <a:ln xmlns:a="http://schemas.openxmlformats.org/drawingml/2006/main" w="11430">
            <a:solidFill>
              <a:srgbClr val="8799A6"/>
            </a:solidFill>
          </a:ln>
        </p:spPr>
      </p:sp>
      <p:sp>
        <p:nvSpPr>
          <p:cNvPr id="11" name="">
            <a:extLst xmlns:a="http://schemas.openxmlformats.org/drawingml/2006/main">
              <a:ext uri="{FF2B5EF4-FFF2-40B4-BE49-F238E27FC236}">
                <a16:creationId xmlns:a16="http://schemas.microsoft.com/office/drawing/2014/main" id="{35BF0247-00DC-45DE-A880-1286DBE9E921}"/>
              </a:ext>
            </a:extLst>
          </p:cNvPr>
          <p:cNvSpPr>
            <a:spLocks xmlns:a="http://schemas.openxmlformats.org/drawingml/2006/main" noGrp="1"/>
          </p:cNvSpPr>
          <p:nvPr/>
        </p:nvSpPr>
        <p:spPr>
          <a:xfrm xmlns:a="http://schemas.openxmlformats.org/drawingml/2006/main">
            <a:off x="8077200" y="2219325"/>
            <a:ext cx="3390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42839"/>
                </a:solidFill>
                <a:latin typeface="Arial"/>
                <a:ea typeface="Arial"/>
                <a:cs typeface="Arial"/>
              </a:defRPr>
            </a:defPPr>
          </a:lstStyle>
          <a:p xmlns:a="http://schemas.openxmlformats.org/drawingml/2006/main">
            <a:pPr>
              <a:defRPr sz="2025" b="1">
                <a:solidFill>
                  <a:srgbClr val="142839"/>
                </a:solidFill>
                <a:latin typeface="Arial"/>
                <a:ea typeface="Arial"/>
                <a:cs typeface="Arial"/>
              </a:defRPr>
            </a:pPr>
            <a:r>
              <a:rPr sz="2025" b="1">
                <a:solidFill>
                  <a:srgbClr val="142839"/>
                </a:solidFill>
                <a:latin typeface="Arial"/>
                <a:ea typeface="Arial"/>
                <a:cs typeface="Arial"/>
              </a:rPr>
              <a:t>Spark checkpoint</a:t>
            </a:r>
          </a:p>
        </p:txBody>
      </p:sp>
      <p:sp>
        <p:nvSpPr>
          <p:cNvPr id="12" name="">
            <a:extLst xmlns:a="http://schemas.openxmlformats.org/drawingml/2006/main">
              <a:ext uri="{FF2B5EF4-FFF2-40B4-BE49-F238E27FC236}">
                <a16:creationId xmlns:a16="http://schemas.microsoft.com/office/drawing/2014/main" id="{3A6C8B1C-7D49-497B-B5E3-8C756AC320C3}"/>
              </a:ext>
            </a:extLst>
          </p:cNvPr>
          <p:cNvSpPr>
            <a:spLocks xmlns:a="http://schemas.openxmlformats.org/drawingml/2006/main" noGrp="1"/>
          </p:cNvSpPr>
          <p:nvPr/>
        </p:nvSpPr>
        <p:spPr>
          <a:xfrm xmlns:a="http://schemas.openxmlformats.org/drawingml/2006/main">
            <a:off x="8077200" y="26670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42586A"/>
                </a:solidFill>
                <a:latin typeface="Arial"/>
                <a:ea typeface="Arial"/>
                <a:cs typeface="Arial"/>
              </a:defRPr>
            </a:defPPr>
          </a:lstStyle>
          <a:p xmlns:a="http://schemas.openxmlformats.org/drawingml/2006/main">
            <a:pPr>
              <a:defRPr sz="1575" b="0">
                <a:solidFill>
                  <a:srgbClr val="42586A"/>
                </a:solidFill>
                <a:latin typeface="Arial"/>
                <a:ea typeface="Arial"/>
                <a:cs typeface="Arial"/>
              </a:defRPr>
            </a:pPr>
            <a:r>
              <a:rPr sz="1575" b="0">
                <a:solidFill>
                  <a:srgbClr val="42586A"/>
                </a:solidFill>
                <a:latin typeface="Arial"/>
                <a:ea typeface="Arial"/>
                <a:cs typeface="Arial"/>
              </a:rPr>
              <a:t>Commit source progress</a:t>
            </a:r>
          </a:p>
        </p:txBody>
      </p:sp>
      <p:sp>
        <p:nvSpPr>
          <p:cNvPr id="13" name="">
            <a:extLst xmlns:a="http://schemas.openxmlformats.org/drawingml/2006/main">
              <a:ext uri="{FF2B5EF4-FFF2-40B4-BE49-F238E27FC236}">
                <a16:creationId xmlns:a16="http://schemas.microsoft.com/office/drawing/2014/main" id="{2FE09970-4927-4EFE-9CC4-F2AA36A2E476}"/>
              </a:ext>
            </a:extLst>
          </p:cNvPr>
          <p:cNvSpPr>
            <a:spLocks xmlns:a="http://schemas.openxmlformats.org/drawingml/2006/main" noGrp="1"/>
          </p:cNvSpPr>
          <p:nvPr/>
        </p:nvSpPr>
        <p:spPr>
          <a:xfrm xmlns:a="http://schemas.openxmlformats.org/drawingml/2006/main">
            <a:off x="704850" y="395287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176C75"/>
                </a:solidFill>
                <a:latin typeface="Arial"/>
                <a:ea typeface="Arial"/>
                <a:cs typeface="Arial"/>
              </a:defRPr>
            </a:defPPr>
          </a:lstStyle>
          <a:p xmlns:a="http://schemas.openxmlformats.org/drawingml/2006/main">
            <a:pPr>
              <a:defRPr sz="2550" b="1">
                <a:solidFill>
                  <a:srgbClr val="176C75"/>
                </a:solidFill>
                <a:latin typeface="Arial"/>
                <a:ea typeface="Arial"/>
                <a:cs typeface="Arial"/>
              </a:defRPr>
            </a:pPr>
            <a:r>
              <a:rPr sz="2550" b="1">
                <a:solidFill>
                  <a:srgbClr val="176C75"/>
                </a:solidFill>
                <a:latin typeface="Arial"/>
                <a:ea typeface="Arial"/>
                <a:cs typeface="Arial"/>
              </a:rPr>
              <a:t>A retry consumes the batch and skips an already-published epoch.</a:t>
            </a:r>
          </a:p>
        </p:txBody>
      </p:sp>
      <p:sp>
        <p:nvSpPr>
          <p:cNvPr id="14" name="">
            <a:extLst xmlns:a="http://schemas.openxmlformats.org/drawingml/2006/main">
              <a:ext uri="{FF2B5EF4-FFF2-40B4-BE49-F238E27FC236}">
                <a16:creationId xmlns:a16="http://schemas.microsoft.com/office/drawing/2014/main" id="{737ED5E8-001F-4A69-B3D2-898BB77C7D14}"/>
              </a:ext>
            </a:extLst>
          </p:cNvPr>
          <p:cNvSpPr>
            <a:spLocks xmlns:a="http://schemas.openxmlformats.org/drawingml/2006/main" noGrp="1"/>
          </p:cNvSpPr>
          <p:nvPr/>
        </p:nvSpPr>
        <p:spPr>
          <a:xfrm xmlns:a="http://schemas.openxmlformats.org/drawingml/2006/main">
            <a:off x="704850" y="514350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42586A"/>
                </a:solidFill>
                <a:latin typeface="Arial"/>
                <a:ea typeface="Arial"/>
                <a:cs typeface="Arial"/>
              </a:defRPr>
            </a:defPPr>
          </a:lstStyle>
          <a:p xmlns:a="http://schemas.openxmlformats.org/drawingml/2006/main">
            <a:pPr>
              <a:defRPr sz="2175" b="0">
                <a:solidFill>
                  <a:srgbClr val="42586A"/>
                </a:solidFill>
                <a:latin typeface="Arial"/>
                <a:ea typeface="Arial"/>
                <a:cs typeface="Arial"/>
              </a:defRPr>
            </a:pPr>
            <a:r>
              <a:rPr sz="2175" b="0">
                <a:solidFill>
                  <a:srgbClr val="42586A"/>
                </a:solidFill>
                <a:latin typeface="Arial"/>
                <a:ea typeface="Arial"/>
                <a:cs typeface="Arial"/>
              </a:rPr>
              <a:t>Console logs can repeat. Independent queries commit separately.</a:t>
            </a:r>
          </a:p>
          <a:p xmlns:a="http://schemas.openxmlformats.org/drawingml/2006/main">
            <a:pPr>
              <a:defRPr sz="2175" b="0">
                <a:solidFill>
                  <a:srgbClr val="42586A"/>
                </a:solidFill>
                <a:latin typeface="Arial"/>
                <a:ea typeface="Arial"/>
                <a:cs typeface="Arial"/>
              </a:defRPr>
            </a:pPr>
            <a:r>
              <a:rPr sz="2175" b="0">
                <a:solidFill>
                  <a:srgbClr val="42586A"/>
                </a:solidFill>
                <a:latin typeface="Arial"/>
                <a:ea typeface="Arial"/>
                <a:cs typeface="Arial"/>
              </a:rPr>
              <a:t>Keep Kafka storage, checkpoints and epochs together.</a:t>
            </a:r>
          </a:p>
        </p:txBody>
      </p:sp>
    </p:spTree>
    <p:extLst>
      <p:ext uri="{BB962C8B-B14F-4D97-AF65-F5344CB8AC3E}">
        <p14:creationId xmlns:p14="http://schemas.microsoft.com/office/powerpoint/2010/main" val="347361876"/>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01049BB4-3A1C-446A-9B20-B8BB9CFED6BB}"/>
              </a:ext>
            </a:extLst>
          </p:cNvPr>
          <p:cNvSpPr>
            <a:spLocks xmlns:a="http://schemas.openxmlformats.org/drawingml/2006/main" noGrp="1"/>
          </p:cNvSpPr>
          <p:nvPr/>
        </p:nvSpPr>
        <p:spPr>
          <a:xfrm xmlns:a="http://schemas.openxmlformats.org/drawingml/2006/main">
            <a:off x="609600" y="47625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42839"/>
                </a:solidFill>
                <a:latin typeface="Arial"/>
                <a:ea typeface="Arial"/>
                <a:cs typeface="Arial"/>
              </a:defRPr>
            </a:defPPr>
          </a:lstStyle>
          <a:p xmlns:a="http://schemas.openxmlformats.org/drawingml/2006/main">
            <a:pPr>
              <a:defRPr sz="3300" b="1">
                <a:solidFill>
                  <a:srgbClr val="142839"/>
                </a:solidFill>
                <a:latin typeface="Arial"/>
                <a:ea typeface="Arial"/>
                <a:cs typeface="Arial"/>
              </a:defRPr>
            </a:pPr>
            <a:r>
              <a:rPr sz="3300" b="1">
                <a:solidFill>
                  <a:srgbClr val="142839"/>
                </a:solidFill>
                <a:latin typeface="Arial"/>
                <a:ea typeface="Arial"/>
                <a:cs typeface="Arial"/>
              </a:rPr>
              <a:t>Part B: full Retail Rocket dataset</a:t>
            </a:r>
          </a:p>
        </p:txBody>
      </p:sp>
      <p:graphicFrame>
        <p:nvGraphicFramePr>
          <p:cNvPr id="2" name="">
            <a:extLst xmlns:a="http://schemas.openxmlformats.org/drawingml/2006/main">
              <a:ext uri="{FF2B5EF4-FFF2-40B4-BE49-F238E27FC236}">
                <a16:creationId xmlns:a16="http://schemas.microsoft.com/office/drawing/2014/main" id="{45BD435D-105E-44E5-BCF7-D7C37F8A26A6}"/>
              </a:ext>
            </a:extLst>
          </p:cNvPr>
          <p:cNvGraphicFramePr/>
          <p:nvPr/>
        </p:nvGraphicFramePr>
        <p:xfrm>
          <a:off xmlns:a="http://schemas.openxmlformats.org/drawingml/2006/main" x="609600" y="1714500"/>
          <a:ext xmlns:a="http://schemas.openxmlformats.org/drawingml/2006/main" cx="10972800" cy="3619500"/>
        </p:xfrm>
        <a:graphic xmlns:a="http://schemas.openxmlformats.org/drawingml/2006/main">
          <a:graphicData uri="http://schemas.openxmlformats.org/drawingml/2006/table">
            <a:tbl>
              <a:tblPr/>
              <a:tblGrid>
                <a:gridCol w="2571750"/>
                <a:gridCol w="4286250"/>
                <a:gridCol w="4114800"/>
              </a:tblGrid>
              <a:tr h="603250">
                <a:tc>
                  <a:txBody>
                    <a:bodyPr/>
                    <a:lstStyle/>
                    <a:p>
                      <a:r>
                        <a:rPr sz="1875" b="1">
                          <a:solidFill>
                            <a:srgbClr val="FFFFFF"/>
                          </a:solidFill>
                          <a:latin typeface="Arial"/>
                          <a:ea typeface="Arial"/>
                          <a:cs typeface="Arial"/>
                        </a:rPr>
                        <a:t>Field</a:t>
                      </a:r>
                    </a:p>
                  </a:txBody>
                  <a:tcPr marL="91440" marR="91440" marT="45720" marB="45720">
                    <a:solidFill>
                      <a:srgbClr val="142839"/>
                    </a:solidFill>
                  </a:tcPr>
                </a:tc>
                <a:tc>
                  <a:txBody>
                    <a:bodyPr/>
                    <a:lstStyle/>
                    <a:p>
                      <a:r>
                        <a:rPr sz="1875" b="1">
                          <a:solidFill>
                            <a:srgbClr val="FFFFFF"/>
                          </a:solidFill>
                          <a:latin typeface="Arial"/>
                          <a:ea typeface="Arial"/>
                          <a:cs typeface="Arial"/>
                        </a:rPr>
                        <a:t>Representation</a:t>
                      </a:r>
                    </a:p>
                  </a:txBody>
                  <a:tcPr marL="91440" marR="91440" marT="45720" marB="45720">
                    <a:solidFill>
                      <a:srgbClr val="142839"/>
                    </a:solidFill>
                  </a:tcPr>
                </a:tc>
                <a:tc>
                  <a:txBody>
                    <a:bodyPr/>
                    <a:lstStyle/>
                    <a:p>
                      <a:r>
                        <a:rPr sz="1875" b="1">
                          <a:solidFill>
                            <a:srgbClr val="FFFFFF"/>
                          </a:solidFill>
                          <a:latin typeface="Arial"/>
                          <a:ea typeface="Arial"/>
                          <a:cs typeface="Arial"/>
                        </a:rPr>
                        <a:t>Purpose</a:t>
                      </a:r>
                    </a:p>
                  </a:txBody>
                  <a:tcPr marL="91440" marR="91440" marT="45720" marB="45720">
                    <a:solidFill>
                      <a:srgbClr val="142839"/>
                    </a:solidFill>
                  </a:tcPr>
                </a:tc>
              </a:tr>
              <a:tr h="603250">
                <a:tc>
                  <a:txBody>
                    <a:bodyPr/>
                    <a:lstStyle/>
                    <a:p>
                      <a:r>
                        <a:rPr sz="1875" b="0">
                          <a:solidFill>
                            <a:srgbClr val="142839"/>
                          </a:solidFill>
                          <a:latin typeface="Arial"/>
                          <a:ea typeface="Arial"/>
                          <a:cs typeface="Arial"/>
                        </a:rPr>
                        <a:t>timestamp</a:t>
                      </a:r>
                    </a:p>
                  </a:txBody>
                  <a:tcPr marL="91440" marR="91440" marT="45720" marB="45720">
                    <a:solidFill>
                      <a:srgbClr val="FFFFFF"/>
                    </a:solidFill>
                  </a:tcPr>
                </a:tc>
                <a:tc>
                  <a:txBody>
                    <a:bodyPr/>
                    <a:lstStyle/>
                    <a:p>
                      <a:r>
                        <a:rPr sz="1875" b="0">
                          <a:solidFill>
                            <a:srgbClr val="142839"/>
                          </a:solidFill>
                          <a:latin typeface="Arial"/>
                          <a:ea typeface="Arial"/>
                          <a:cs typeface="Arial"/>
                        </a:rPr>
                        <a:t>Epoch milliseconds</a:t>
                      </a:r>
                    </a:p>
                  </a:txBody>
                  <a:tcPr marL="91440" marR="91440" marT="45720" marB="45720">
                    <a:solidFill>
                      <a:srgbClr val="FFFFFF"/>
                    </a:solidFill>
                  </a:tcPr>
                </a:tc>
                <a:tc>
                  <a:txBody>
                    <a:bodyPr/>
                    <a:lstStyle/>
                    <a:p>
                      <a:r>
                        <a:rPr sz="1875" b="0">
                          <a:solidFill>
                            <a:srgbClr val="142839"/>
                          </a:solidFill>
                          <a:latin typeface="Arial"/>
                          <a:ea typeface="Arial"/>
                          <a:cs typeface="Arial"/>
                        </a:rPr>
                        <a:t>Event-time windows</a:t>
                      </a:r>
                    </a:p>
                  </a:txBody>
                  <a:tcPr marL="91440" marR="91440" marT="45720" marB="45720">
                    <a:solidFill>
                      <a:srgbClr val="FFFFFF"/>
                    </a:solidFill>
                  </a:tcPr>
                </a:tc>
              </a:tr>
              <a:tr h="603250">
                <a:tc>
                  <a:txBody>
                    <a:bodyPr/>
                    <a:lstStyle/>
                    <a:p>
                      <a:r>
                        <a:rPr sz="1875" b="0">
                          <a:solidFill>
                            <a:srgbClr val="142839"/>
                          </a:solidFill>
                          <a:latin typeface="Arial"/>
                          <a:ea typeface="Arial"/>
                          <a:cs typeface="Arial"/>
                        </a:rPr>
                        <a:t>visitorid</a:t>
                      </a:r>
                    </a:p>
                  </a:txBody>
                  <a:tcPr marL="91440" marR="91440" marT="45720" marB="45720">
                    <a:solidFill>
                      <a:srgbClr val="EDF2F4"/>
                    </a:solidFill>
                  </a:tcPr>
                </a:tc>
                <a:tc>
                  <a:txBody>
                    <a:bodyPr/>
                    <a:lstStyle/>
                    <a:p>
                      <a:r>
                        <a:rPr sz="1875" b="0">
                          <a:solidFill>
                            <a:srgbClr val="142839"/>
                          </a:solidFill>
                          <a:latin typeface="Arial"/>
                          <a:ea typeface="Arial"/>
                          <a:cs typeface="Arial"/>
                        </a:rPr>
                        <a:t>Integer</a:t>
                      </a:r>
                    </a:p>
                  </a:txBody>
                  <a:tcPr marL="91440" marR="91440" marT="45720" marB="45720">
                    <a:solidFill>
                      <a:srgbClr val="EDF2F4"/>
                    </a:solidFill>
                  </a:tcPr>
                </a:tc>
                <a:tc>
                  <a:txBody>
                    <a:bodyPr/>
                    <a:lstStyle/>
                    <a:p>
                      <a:r>
                        <a:rPr sz="1875" b="0">
                          <a:solidFill>
                            <a:srgbClr val="142839"/>
                          </a:solidFill>
                          <a:latin typeface="Arial"/>
                          <a:ea typeface="Arial"/>
                          <a:cs typeface="Arial"/>
                        </a:rPr>
                        <a:t>Visitor key</a:t>
                      </a:r>
                    </a:p>
                  </a:txBody>
                  <a:tcPr marL="91440" marR="91440" marT="45720" marB="45720">
                    <a:solidFill>
                      <a:srgbClr val="EDF2F4"/>
                    </a:solidFill>
                  </a:tcPr>
                </a:tc>
              </a:tr>
              <a:tr h="603250">
                <a:tc>
                  <a:txBody>
                    <a:bodyPr/>
                    <a:lstStyle/>
                    <a:p>
                      <a:r>
                        <a:rPr sz="1875" b="0">
                          <a:solidFill>
                            <a:srgbClr val="142839"/>
                          </a:solidFill>
                          <a:latin typeface="Arial"/>
                          <a:ea typeface="Arial"/>
                          <a:cs typeface="Arial"/>
                        </a:rPr>
                        <a:t>event</a:t>
                      </a:r>
                    </a:p>
                  </a:txBody>
                  <a:tcPr marL="91440" marR="91440" marT="45720" marB="45720">
                    <a:solidFill>
                      <a:srgbClr val="FFFFFF"/>
                    </a:solidFill>
                  </a:tcPr>
                </a:tc>
                <a:tc>
                  <a:txBody>
                    <a:bodyPr/>
                    <a:lstStyle/>
                    <a:p>
                      <a:r>
                        <a:rPr sz="1875" b="0">
                          <a:solidFill>
                            <a:srgbClr val="142839"/>
                          </a:solidFill>
                          <a:latin typeface="Arial"/>
                          <a:ea typeface="Arial"/>
                          <a:cs typeface="Arial"/>
                        </a:rPr>
                        <a:t>view / addtocart / transaction</a:t>
                      </a:r>
                    </a:p>
                  </a:txBody>
                  <a:tcPr marL="91440" marR="91440" marT="45720" marB="45720">
                    <a:solidFill>
                      <a:srgbClr val="FFFFFF"/>
                    </a:solidFill>
                  </a:tcPr>
                </a:tc>
                <a:tc>
                  <a:txBody>
                    <a:bodyPr/>
                    <a:lstStyle/>
                    <a:p>
                      <a:r>
                        <a:rPr sz="1875" b="0">
                          <a:solidFill>
                            <a:srgbClr val="142839"/>
                          </a:solidFill>
                          <a:latin typeface="Arial"/>
                          <a:ea typeface="Arial"/>
                          <a:cs typeface="Arial"/>
                        </a:rPr>
                        <a:t>Engagement weight</a:t>
                      </a:r>
                    </a:p>
                  </a:txBody>
                  <a:tcPr marL="91440" marR="91440" marT="45720" marB="45720">
                    <a:solidFill>
                      <a:srgbClr val="FFFFFF"/>
                    </a:solidFill>
                  </a:tcPr>
                </a:tc>
              </a:tr>
              <a:tr h="603250">
                <a:tc>
                  <a:txBody>
                    <a:bodyPr/>
                    <a:lstStyle/>
                    <a:p>
                      <a:r>
                        <a:rPr sz="1875" b="0">
                          <a:solidFill>
                            <a:srgbClr val="142839"/>
                          </a:solidFill>
                          <a:latin typeface="Arial"/>
                          <a:ea typeface="Arial"/>
                          <a:cs typeface="Arial"/>
                        </a:rPr>
                        <a:t>itemid</a:t>
                      </a:r>
                    </a:p>
                  </a:txBody>
                  <a:tcPr marL="91440" marR="91440" marT="45720" marB="45720">
                    <a:solidFill>
                      <a:srgbClr val="EDF2F4"/>
                    </a:solidFill>
                  </a:tcPr>
                </a:tc>
                <a:tc>
                  <a:txBody>
                    <a:bodyPr/>
                    <a:lstStyle/>
                    <a:p>
                      <a:r>
                        <a:rPr sz="1875" b="0">
                          <a:solidFill>
                            <a:srgbClr val="142839"/>
                          </a:solidFill>
                          <a:latin typeface="Arial"/>
                          <a:ea typeface="Arial"/>
                          <a:cs typeface="Arial"/>
                        </a:rPr>
                        <a:t>Integer</a:t>
                      </a:r>
                    </a:p>
                  </a:txBody>
                  <a:tcPr marL="91440" marR="91440" marT="45720" marB="45720">
                    <a:solidFill>
                      <a:srgbClr val="EDF2F4"/>
                    </a:solidFill>
                  </a:tcPr>
                </a:tc>
                <a:tc>
                  <a:txBody>
                    <a:bodyPr/>
                    <a:lstStyle/>
                    <a:p>
                      <a:r>
                        <a:rPr sz="1875" b="0">
                          <a:solidFill>
                            <a:srgbClr val="142839"/>
                          </a:solidFill>
                          <a:latin typeface="Arial"/>
                          <a:ea typeface="Arial"/>
                          <a:cs typeface="Arial"/>
                        </a:rPr>
                        <a:t>Product key</a:t>
                      </a:r>
                    </a:p>
                  </a:txBody>
                  <a:tcPr marL="91440" marR="91440" marT="45720" marB="45720">
                    <a:solidFill>
                      <a:srgbClr val="EDF2F4"/>
                    </a:solidFill>
                  </a:tcPr>
                </a:tc>
              </a:tr>
              <a:tr h="603250">
                <a:tc>
                  <a:txBody>
                    <a:bodyPr/>
                    <a:lstStyle/>
                    <a:p>
                      <a:r>
                        <a:rPr sz="1875" b="0">
                          <a:solidFill>
                            <a:srgbClr val="142839"/>
                          </a:solidFill>
                          <a:latin typeface="Arial"/>
                          <a:ea typeface="Arial"/>
                          <a:cs typeface="Arial"/>
                        </a:rPr>
                        <a:t>transactionid</a:t>
                      </a:r>
                    </a:p>
                  </a:txBody>
                  <a:tcPr marL="91440" marR="91440" marT="45720" marB="45720">
                    <a:solidFill>
                      <a:srgbClr val="FFFFFF"/>
                    </a:solidFill>
                  </a:tcPr>
                </a:tc>
                <a:tc>
                  <a:txBody>
                    <a:bodyPr/>
                    <a:lstStyle/>
                    <a:p>
                      <a:r>
                        <a:rPr sz="1875" b="0">
                          <a:solidFill>
                            <a:srgbClr val="142839"/>
                          </a:solidFill>
                          <a:latin typeface="Arial"/>
                          <a:ea typeface="Arial"/>
                          <a:cs typeface="Arial"/>
                        </a:rPr>
                        <a:t>Integer or null</a:t>
                      </a:r>
                    </a:p>
                  </a:txBody>
                  <a:tcPr marL="91440" marR="91440" marT="45720" marB="45720">
                    <a:solidFill>
                      <a:srgbClr val="FFFFFF"/>
                    </a:solidFill>
                  </a:tcPr>
                </a:tc>
                <a:tc>
                  <a:txBody>
                    <a:bodyPr/>
                    <a:lstStyle/>
                    <a:p>
                      <a:r>
                        <a:rPr sz="1875" b="0">
                          <a:solidFill>
                            <a:srgbClr val="142839"/>
                          </a:solidFill>
                          <a:latin typeface="Arial"/>
                          <a:ea typeface="Arial"/>
                          <a:cs typeface="Arial"/>
                        </a:rPr>
                        <a:t>Purchase evidence</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A38A5171-5CD8-411F-A257-834EA54620A8}"/>
              </a:ext>
            </a:extLst>
          </p:cNvPr>
          <p:cNvSpPr>
            <a:spLocks xmlns:a="http://schemas.openxmlformats.org/drawingml/2006/main" noGrp="1"/>
          </p:cNvSpPr>
          <p:nvPr/>
        </p:nvSpPr>
        <p:spPr>
          <a:xfrm xmlns:a="http://schemas.openxmlformats.org/drawingml/2006/main">
            <a:off x="666750" y="5638800"/>
            <a:ext cx="10668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1">
                <a:solidFill>
                  <a:srgbClr val="176C75"/>
                </a:solidFill>
                <a:latin typeface="Arial"/>
                <a:ea typeface="Arial"/>
                <a:cs typeface="Arial"/>
              </a:defRPr>
            </a:defPPr>
          </a:lstStyle>
          <a:p xmlns:a="http://schemas.openxmlformats.org/drawingml/2006/main">
            <a:pPr>
              <a:defRPr sz="1950" b="1">
                <a:solidFill>
                  <a:srgbClr val="176C75"/>
                </a:solidFill>
                <a:latin typeface="Arial"/>
                <a:ea typeface="Arial"/>
                <a:cs typeface="Arial"/>
              </a:defRPr>
            </a:pPr>
            <a:r>
              <a:rPr sz="1950" b="1">
                <a:solidFill>
                  <a:srgbClr val="176C75"/>
                </a:solidFill>
                <a:latin typeface="Arial"/>
                <a:ea typeface="Arial"/>
                <a:cs typeface="Arial"/>
              </a:rPr>
              <a:t>Full source: 2,756,101 events</a:t>
            </a:r>
          </a:p>
          <a:p xmlns:a="http://schemas.openxmlformats.org/drawingml/2006/main">
            <a:pPr>
              <a:defRPr sz="1950" b="1">
                <a:solidFill>
                  <a:srgbClr val="176C75"/>
                </a:solidFill>
                <a:latin typeface="Arial"/>
                <a:ea typeface="Arial"/>
                <a:cs typeface="Arial"/>
              </a:defRPr>
            </a:pPr>
            <a:r>
              <a:rPr sz="1950" b="1">
                <a:solidFill>
                  <a:srgbClr val="176C75"/>
                </a:solidFill>
                <a:latin typeface="Arial"/>
                <a:ea typeface="Arial"/>
                <a:cs typeface="Arial"/>
              </a:rPr>
              <a:t>2,664,312 views   69,332 carts   22,457 transactions</a:t>
            </a:r>
          </a:p>
        </p:txBody>
      </p:sp>
    </p:spTree>
    <p:extLst>
      <p:ext uri="{BB962C8B-B14F-4D97-AF65-F5344CB8AC3E}">
        <p14:creationId xmlns:p14="http://schemas.microsoft.com/office/powerpoint/2010/main" val="321181556"/>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3935919-54DC-4E67-9B4E-172C853BA77F}"/>
              </a:ext>
            </a:extLst>
          </p:cNvPr>
          <p:cNvSpPr>
            <a:spLocks xmlns:a="http://schemas.openxmlformats.org/drawingml/2006/main" noGrp="1"/>
          </p:cNvSpPr>
          <p:nvPr/>
        </p:nvSpPr>
        <p:spPr>
          <a:xfrm xmlns:a="http://schemas.openxmlformats.org/drawingml/2006/main">
            <a:off x="609600" y="47625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42839"/>
                </a:solidFill>
                <a:latin typeface="Arial"/>
                <a:ea typeface="Arial"/>
                <a:cs typeface="Arial"/>
              </a:defRPr>
            </a:defPPr>
          </a:lstStyle>
          <a:p xmlns:a="http://schemas.openxmlformats.org/drawingml/2006/main">
            <a:pPr>
              <a:defRPr sz="3300" b="1">
                <a:solidFill>
                  <a:srgbClr val="142839"/>
                </a:solidFill>
                <a:latin typeface="Arial"/>
                <a:ea typeface="Arial"/>
                <a:cs typeface="Arial"/>
              </a:defRPr>
            </a:pPr>
            <a:r>
              <a:rPr sz="3300" b="1">
                <a:solidFill>
                  <a:srgbClr val="142839"/>
                </a:solidFill>
                <a:latin typeface="Arial"/>
                <a:ea typeface="Arial"/>
                <a:cs typeface="Arial"/>
              </a:rPr>
              <a:t>Pipeline architecture</a:t>
            </a:r>
          </a:p>
        </p:txBody>
      </p:sp>
      <p:sp>
        <p:nvSpPr>
          <p:cNvPr id="2" name="">
            <a:extLst xmlns:a="http://schemas.openxmlformats.org/drawingml/2006/main">
              <a:ext uri="{FF2B5EF4-FFF2-40B4-BE49-F238E27FC236}">
                <a16:creationId xmlns:a16="http://schemas.microsoft.com/office/drawing/2014/main" id="{8C7331F6-75EF-4A1A-B455-A66D89BFC432}"/>
              </a:ext>
            </a:extLst>
          </p:cNvPr>
          <p:cNvSpPr>
            <a:spLocks xmlns:a="http://schemas.openxmlformats.org/drawingml/2006/main" noGrp="1"/>
          </p:cNvSpPr>
          <p:nvPr/>
        </p:nvSpPr>
        <p:spPr>
          <a:xfrm xmlns:a="http://schemas.openxmlformats.org/drawingml/2006/main">
            <a:off x="609600" y="2095500"/>
            <a:ext cx="2333625" cy="1123950"/>
          </a:xfrm>
          <a:prstGeom xmlns:a="http://schemas.openxmlformats.org/drawingml/2006/main" prst="rect">
            <a:avLst/>
          </a:prstGeom>
          <a:solidFill xmlns:a="http://schemas.openxmlformats.org/drawingml/2006/main">
            <a:srgbClr val="EDF2F4"/>
          </a:solidFill>
          <a:ln xmlns:a="http://schemas.openxmlformats.org/drawingml/2006/main" w="11430">
            <a:solidFill>
              <a:srgbClr val="8799A6"/>
            </a:solidFill>
          </a:ln>
        </p:spPr>
      </p:sp>
      <p:sp>
        <p:nvSpPr>
          <p:cNvPr id="3" name="">
            <a:extLst xmlns:a="http://schemas.openxmlformats.org/drawingml/2006/main">
              <a:ext uri="{FF2B5EF4-FFF2-40B4-BE49-F238E27FC236}">
                <a16:creationId xmlns:a16="http://schemas.microsoft.com/office/drawing/2014/main" id="{41EFD2E4-2B7A-413A-A5F5-281BA5B0175F}"/>
              </a:ext>
            </a:extLst>
          </p:cNvPr>
          <p:cNvSpPr>
            <a:spLocks xmlns:a="http://schemas.openxmlformats.org/drawingml/2006/main" noGrp="1"/>
          </p:cNvSpPr>
          <p:nvPr/>
        </p:nvSpPr>
        <p:spPr>
          <a:xfrm xmlns:a="http://schemas.openxmlformats.org/drawingml/2006/main">
            <a:off x="723900" y="2266950"/>
            <a:ext cx="21050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42839"/>
                </a:solidFill>
                <a:latin typeface="Arial"/>
                <a:ea typeface="Arial"/>
                <a:cs typeface="Arial"/>
              </a:defRPr>
            </a:defPPr>
          </a:lstStyle>
          <a:p xmlns:a="http://schemas.openxmlformats.org/drawingml/2006/main">
            <a:pPr>
              <a:defRPr sz="2025" b="1">
                <a:solidFill>
                  <a:srgbClr val="142839"/>
                </a:solidFill>
                <a:latin typeface="Arial"/>
                <a:ea typeface="Arial"/>
                <a:cs typeface="Arial"/>
              </a:defRPr>
            </a:pPr>
            <a:r>
              <a:rPr sz="2025" b="1">
                <a:solidFill>
                  <a:srgbClr val="142839"/>
                </a:solidFill>
                <a:latin typeface="Arial"/>
                <a:ea typeface="Arial"/>
                <a:cs typeface="Arial"/>
              </a:rPr>
              <a:t>CSV producer</a:t>
            </a:r>
          </a:p>
        </p:txBody>
      </p:sp>
      <p:sp>
        <p:nvSpPr>
          <p:cNvPr id="4" name="">
            <a:extLst xmlns:a="http://schemas.openxmlformats.org/drawingml/2006/main">
              <a:ext uri="{FF2B5EF4-FFF2-40B4-BE49-F238E27FC236}">
                <a16:creationId xmlns:a16="http://schemas.microsoft.com/office/drawing/2014/main" id="{E94C42C0-8442-4395-AA9F-D222251859B1}"/>
              </a:ext>
            </a:extLst>
          </p:cNvPr>
          <p:cNvSpPr>
            <a:spLocks xmlns:a="http://schemas.openxmlformats.org/drawingml/2006/main" noGrp="1"/>
          </p:cNvSpPr>
          <p:nvPr/>
        </p:nvSpPr>
        <p:spPr>
          <a:xfrm xmlns:a="http://schemas.openxmlformats.org/drawingml/2006/main">
            <a:off x="723900" y="2714625"/>
            <a:ext cx="2105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42586A"/>
                </a:solidFill>
                <a:latin typeface="Arial"/>
                <a:ea typeface="Arial"/>
                <a:cs typeface="Arial"/>
              </a:defRPr>
            </a:defPPr>
          </a:lstStyle>
          <a:p xmlns:a="http://schemas.openxmlformats.org/drawingml/2006/main">
            <a:pPr>
              <a:defRPr sz="1575" b="0">
                <a:solidFill>
                  <a:srgbClr val="42586A"/>
                </a:solidFill>
                <a:latin typeface="Arial"/>
                <a:ea typeface="Arial"/>
                <a:cs typeface="Arial"/>
              </a:defRPr>
            </a:pPr>
            <a:r>
              <a:rPr sz="1575" b="0">
                <a:solidFill>
                  <a:srgbClr val="42586A"/>
                </a:solidFill>
                <a:latin typeface="Arial"/>
                <a:ea typeface="Arial"/>
                <a:cs typeface="Arial"/>
              </a:rPr>
              <a:t>Typed JSON and pacing</a:t>
            </a:r>
          </a:p>
        </p:txBody>
      </p:sp>
      <p:sp>
        <p:nvSpPr>
          <p:cNvPr id="5" name="">
            <a:extLst xmlns:a="http://schemas.openxmlformats.org/drawingml/2006/main">
              <a:ext uri="{FF2B5EF4-FFF2-40B4-BE49-F238E27FC236}">
                <a16:creationId xmlns:a16="http://schemas.microsoft.com/office/drawing/2014/main" id="{E6859D97-E414-4B98-80FA-4B9EF26BC1CD}"/>
              </a:ext>
            </a:extLst>
          </p:cNvPr>
          <p:cNvSpPr>
            <a:spLocks xmlns:a="http://schemas.openxmlformats.org/drawingml/2006/main" noGrp="1"/>
          </p:cNvSpPr>
          <p:nvPr/>
        </p:nvSpPr>
        <p:spPr>
          <a:xfrm xmlns:a="http://schemas.openxmlformats.org/drawingml/2006/main">
            <a:off x="3028950" y="2524125"/>
            <a:ext cx="381000" cy="238125"/>
          </a:xfrm>
          <a:prstGeom xmlns:a="http://schemas.openxmlformats.org/drawingml/2006/main" prst="rightArrow">
            <a:avLst/>
          </a:prstGeom>
          <a:solidFill xmlns:a="http://schemas.openxmlformats.org/drawingml/2006/main">
            <a:srgbClr val="176C75"/>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7E8E21B-C806-4D0A-9983-A852E3CE4B68}"/>
              </a:ext>
            </a:extLst>
          </p:cNvPr>
          <p:cNvSpPr>
            <a:spLocks xmlns:a="http://schemas.openxmlformats.org/drawingml/2006/main" noGrp="1"/>
          </p:cNvSpPr>
          <p:nvPr/>
        </p:nvSpPr>
        <p:spPr>
          <a:xfrm xmlns:a="http://schemas.openxmlformats.org/drawingml/2006/main">
            <a:off x="3505200" y="2095500"/>
            <a:ext cx="2333625" cy="1123950"/>
          </a:xfrm>
          <a:prstGeom xmlns:a="http://schemas.openxmlformats.org/drawingml/2006/main" prst="rect">
            <a:avLst/>
          </a:prstGeom>
          <a:solidFill xmlns:a="http://schemas.openxmlformats.org/drawingml/2006/main">
            <a:srgbClr val="EDF2F4"/>
          </a:solidFill>
          <a:ln xmlns:a="http://schemas.openxmlformats.org/drawingml/2006/main" w="11430">
            <a:solidFill>
              <a:srgbClr val="8799A6"/>
            </a:solidFill>
          </a:ln>
        </p:spPr>
      </p:sp>
      <p:sp>
        <p:nvSpPr>
          <p:cNvPr id="7" name="">
            <a:extLst xmlns:a="http://schemas.openxmlformats.org/drawingml/2006/main">
              <a:ext uri="{FF2B5EF4-FFF2-40B4-BE49-F238E27FC236}">
                <a16:creationId xmlns:a16="http://schemas.microsoft.com/office/drawing/2014/main" id="{FD65B0BD-C140-4015-A3A3-712E5E8E4CE7}"/>
              </a:ext>
            </a:extLst>
          </p:cNvPr>
          <p:cNvSpPr>
            <a:spLocks xmlns:a="http://schemas.openxmlformats.org/drawingml/2006/main" noGrp="1"/>
          </p:cNvSpPr>
          <p:nvPr/>
        </p:nvSpPr>
        <p:spPr>
          <a:xfrm xmlns:a="http://schemas.openxmlformats.org/drawingml/2006/main">
            <a:off x="3619500" y="2266950"/>
            <a:ext cx="21050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42839"/>
                </a:solidFill>
                <a:latin typeface="Arial"/>
                <a:ea typeface="Arial"/>
                <a:cs typeface="Arial"/>
              </a:defRPr>
            </a:defPPr>
          </a:lstStyle>
          <a:p xmlns:a="http://schemas.openxmlformats.org/drawingml/2006/main">
            <a:pPr>
              <a:defRPr sz="2025" b="1">
                <a:solidFill>
                  <a:srgbClr val="142839"/>
                </a:solidFill>
                <a:latin typeface="Arial"/>
                <a:ea typeface="Arial"/>
                <a:cs typeface="Arial"/>
              </a:defRPr>
            </a:pPr>
            <a:r>
              <a:rPr sz="2025" b="1">
                <a:solidFill>
                  <a:srgbClr val="142839"/>
                </a:solidFill>
                <a:latin typeface="Arial"/>
                <a:ea typeface="Arial"/>
                <a:cs typeface="Arial"/>
              </a:rPr>
              <a:t>Kafka KRaft</a:t>
            </a:r>
          </a:p>
        </p:txBody>
      </p:sp>
      <p:sp>
        <p:nvSpPr>
          <p:cNvPr id="8" name="">
            <a:extLst xmlns:a="http://schemas.openxmlformats.org/drawingml/2006/main">
              <a:ext uri="{FF2B5EF4-FFF2-40B4-BE49-F238E27FC236}">
                <a16:creationId xmlns:a16="http://schemas.microsoft.com/office/drawing/2014/main" id="{663C578F-9ACA-4AB9-B9C6-ECC7D72276DA}"/>
              </a:ext>
            </a:extLst>
          </p:cNvPr>
          <p:cNvSpPr>
            <a:spLocks xmlns:a="http://schemas.openxmlformats.org/drawingml/2006/main" noGrp="1"/>
          </p:cNvSpPr>
          <p:nvPr/>
        </p:nvSpPr>
        <p:spPr>
          <a:xfrm xmlns:a="http://schemas.openxmlformats.org/drawingml/2006/main">
            <a:off x="3619500" y="2714625"/>
            <a:ext cx="2105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42586A"/>
                </a:solidFill>
                <a:latin typeface="Arial"/>
                <a:ea typeface="Arial"/>
                <a:cs typeface="Arial"/>
              </a:defRPr>
            </a:defPPr>
          </a:lstStyle>
          <a:p xmlns:a="http://schemas.openxmlformats.org/drawingml/2006/main">
            <a:pPr>
              <a:defRPr sz="1575" b="0">
                <a:solidFill>
                  <a:srgbClr val="42586A"/>
                </a:solidFill>
                <a:latin typeface="Arial"/>
                <a:ea typeface="Arial"/>
                <a:cs typeface="Arial"/>
              </a:defRPr>
            </a:pPr>
            <a:r>
              <a:rPr sz="1575" b="0">
                <a:solidFill>
                  <a:srgbClr val="42586A"/>
                </a:solidFill>
                <a:latin typeface="Arial"/>
                <a:ea typeface="Arial"/>
                <a:cs typeface="Arial"/>
              </a:rPr>
              <a:t>Two topic partitions</a:t>
            </a:r>
          </a:p>
        </p:txBody>
      </p:sp>
      <p:sp>
        <p:nvSpPr>
          <p:cNvPr id="9" name="">
            <a:extLst xmlns:a="http://schemas.openxmlformats.org/drawingml/2006/main">
              <a:ext uri="{FF2B5EF4-FFF2-40B4-BE49-F238E27FC236}">
                <a16:creationId xmlns:a16="http://schemas.microsoft.com/office/drawing/2014/main" id="{92FA604F-1E87-47BB-A26F-1911E5D36097}"/>
              </a:ext>
            </a:extLst>
          </p:cNvPr>
          <p:cNvSpPr>
            <a:spLocks xmlns:a="http://schemas.openxmlformats.org/drawingml/2006/main" noGrp="1"/>
          </p:cNvSpPr>
          <p:nvPr/>
        </p:nvSpPr>
        <p:spPr>
          <a:xfrm xmlns:a="http://schemas.openxmlformats.org/drawingml/2006/main">
            <a:off x="5924550" y="2524125"/>
            <a:ext cx="381000" cy="238125"/>
          </a:xfrm>
          <a:prstGeom xmlns:a="http://schemas.openxmlformats.org/drawingml/2006/main" prst="rightArrow">
            <a:avLst/>
          </a:prstGeom>
          <a:solidFill xmlns:a="http://schemas.openxmlformats.org/drawingml/2006/main">
            <a:srgbClr val="176C75"/>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EFA1CF88-65D2-4ADB-9ADA-B7748B7D07F7}"/>
              </a:ext>
            </a:extLst>
          </p:cNvPr>
          <p:cNvSpPr>
            <a:spLocks xmlns:a="http://schemas.openxmlformats.org/drawingml/2006/main" noGrp="1"/>
          </p:cNvSpPr>
          <p:nvPr/>
        </p:nvSpPr>
        <p:spPr>
          <a:xfrm xmlns:a="http://schemas.openxmlformats.org/drawingml/2006/main">
            <a:off x="6400800" y="2095500"/>
            <a:ext cx="2333625" cy="1123950"/>
          </a:xfrm>
          <a:prstGeom xmlns:a="http://schemas.openxmlformats.org/drawingml/2006/main" prst="rect">
            <a:avLst/>
          </a:prstGeom>
          <a:solidFill xmlns:a="http://schemas.openxmlformats.org/drawingml/2006/main">
            <a:srgbClr val="EDF2F4"/>
          </a:solidFill>
          <a:ln xmlns:a="http://schemas.openxmlformats.org/drawingml/2006/main" w="11430">
            <a:solidFill>
              <a:srgbClr val="8799A6"/>
            </a:solidFill>
          </a:ln>
        </p:spPr>
      </p:sp>
      <p:sp>
        <p:nvSpPr>
          <p:cNvPr id="11" name="">
            <a:extLst xmlns:a="http://schemas.openxmlformats.org/drawingml/2006/main">
              <a:ext uri="{FF2B5EF4-FFF2-40B4-BE49-F238E27FC236}">
                <a16:creationId xmlns:a16="http://schemas.microsoft.com/office/drawing/2014/main" id="{AE008A74-06CA-4CAF-B3D5-9D05E6B732A3}"/>
              </a:ext>
            </a:extLst>
          </p:cNvPr>
          <p:cNvSpPr>
            <a:spLocks xmlns:a="http://schemas.openxmlformats.org/drawingml/2006/main" noGrp="1"/>
          </p:cNvSpPr>
          <p:nvPr/>
        </p:nvSpPr>
        <p:spPr>
          <a:xfrm xmlns:a="http://schemas.openxmlformats.org/drawingml/2006/main">
            <a:off x="6515100" y="2266950"/>
            <a:ext cx="21050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42839"/>
                </a:solidFill>
                <a:latin typeface="Arial"/>
                <a:ea typeface="Arial"/>
                <a:cs typeface="Arial"/>
              </a:defRPr>
            </a:defPPr>
          </a:lstStyle>
          <a:p xmlns:a="http://schemas.openxmlformats.org/drawingml/2006/main">
            <a:pPr>
              <a:defRPr sz="2025" b="1">
                <a:solidFill>
                  <a:srgbClr val="142839"/>
                </a:solidFill>
                <a:latin typeface="Arial"/>
                <a:ea typeface="Arial"/>
                <a:cs typeface="Arial"/>
              </a:defRPr>
            </a:pPr>
            <a:r>
              <a:rPr sz="2025" b="1">
                <a:solidFill>
                  <a:srgbClr val="142839"/>
                </a:solidFill>
                <a:latin typeface="Arial"/>
                <a:ea typeface="Arial"/>
                <a:cs typeface="Arial"/>
              </a:rPr>
              <a:t>Spark ETL</a:t>
            </a:r>
          </a:p>
        </p:txBody>
      </p:sp>
      <p:sp>
        <p:nvSpPr>
          <p:cNvPr id="12" name="">
            <a:extLst xmlns:a="http://schemas.openxmlformats.org/drawingml/2006/main">
              <a:ext uri="{FF2B5EF4-FFF2-40B4-BE49-F238E27FC236}">
                <a16:creationId xmlns:a16="http://schemas.microsoft.com/office/drawing/2014/main" id="{E9E9E6A5-642F-4855-BFE1-C1D31BF4BFA0}"/>
              </a:ext>
            </a:extLst>
          </p:cNvPr>
          <p:cNvSpPr>
            <a:spLocks xmlns:a="http://schemas.openxmlformats.org/drawingml/2006/main" noGrp="1"/>
          </p:cNvSpPr>
          <p:nvPr/>
        </p:nvSpPr>
        <p:spPr>
          <a:xfrm xmlns:a="http://schemas.openxmlformats.org/drawingml/2006/main">
            <a:off x="6515100" y="2714625"/>
            <a:ext cx="21050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42586A"/>
                </a:solidFill>
                <a:latin typeface="Arial"/>
                <a:ea typeface="Arial"/>
                <a:cs typeface="Arial"/>
              </a:defRPr>
            </a:defPPr>
          </a:lstStyle>
          <a:p xmlns:a="http://schemas.openxmlformats.org/drawingml/2006/main">
            <a:pPr>
              <a:defRPr sz="1575" b="0">
                <a:solidFill>
                  <a:srgbClr val="42586A"/>
                </a:solidFill>
                <a:latin typeface="Arial"/>
                <a:ea typeface="Arial"/>
                <a:cs typeface="Arial"/>
              </a:defRPr>
            </a:pPr>
            <a:r>
              <a:rPr sz="1575" b="0">
                <a:solidFill>
                  <a:srgbClr val="42586A"/>
                </a:solidFill>
                <a:latin typeface="Arial"/>
                <a:ea typeface="Arial"/>
                <a:cs typeface="Arial"/>
              </a:rPr>
              <a:t>Schema and event time</a:t>
            </a:r>
          </a:p>
        </p:txBody>
      </p:sp>
      <p:sp>
        <p:nvSpPr>
          <p:cNvPr id="13" name="">
            <a:extLst xmlns:a="http://schemas.openxmlformats.org/drawingml/2006/main">
              <a:ext uri="{FF2B5EF4-FFF2-40B4-BE49-F238E27FC236}">
                <a16:creationId xmlns:a16="http://schemas.microsoft.com/office/drawing/2014/main" id="{4933A084-808A-4604-9246-18F7A422A20E}"/>
              </a:ext>
            </a:extLst>
          </p:cNvPr>
          <p:cNvSpPr>
            <a:spLocks xmlns:a="http://schemas.openxmlformats.org/drawingml/2006/main" noGrp="1"/>
          </p:cNvSpPr>
          <p:nvPr/>
        </p:nvSpPr>
        <p:spPr>
          <a:xfrm xmlns:a="http://schemas.openxmlformats.org/drawingml/2006/main">
            <a:off x="8820150" y="2524125"/>
            <a:ext cx="381000" cy="238125"/>
          </a:xfrm>
          <a:prstGeom xmlns:a="http://schemas.openxmlformats.org/drawingml/2006/main" prst="rightArrow">
            <a:avLst/>
          </a:prstGeom>
          <a:solidFill xmlns:a="http://schemas.openxmlformats.org/drawingml/2006/main">
            <a:srgbClr val="176C7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3367394-76EB-42B4-865C-A32FF6C3FFFB}"/>
              </a:ext>
            </a:extLst>
          </p:cNvPr>
          <p:cNvSpPr>
            <a:spLocks xmlns:a="http://schemas.openxmlformats.org/drawingml/2006/main" noGrp="1"/>
          </p:cNvSpPr>
          <p:nvPr/>
        </p:nvSpPr>
        <p:spPr>
          <a:xfrm xmlns:a="http://schemas.openxmlformats.org/drawingml/2006/main">
            <a:off x="9296400" y="2095500"/>
            <a:ext cx="2286000" cy="1123950"/>
          </a:xfrm>
          <a:prstGeom xmlns:a="http://schemas.openxmlformats.org/drawingml/2006/main" prst="rect">
            <a:avLst/>
          </a:prstGeom>
          <a:solidFill xmlns:a="http://schemas.openxmlformats.org/drawingml/2006/main">
            <a:srgbClr val="EDF2F4"/>
          </a:solidFill>
          <a:ln xmlns:a="http://schemas.openxmlformats.org/drawingml/2006/main" w="11430">
            <a:solidFill>
              <a:srgbClr val="8799A6"/>
            </a:solidFill>
          </a:ln>
        </p:spPr>
      </p:sp>
      <p:sp>
        <p:nvSpPr>
          <p:cNvPr id="15" name="">
            <a:extLst xmlns:a="http://schemas.openxmlformats.org/drawingml/2006/main">
              <a:ext uri="{FF2B5EF4-FFF2-40B4-BE49-F238E27FC236}">
                <a16:creationId xmlns:a16="http://schemas.microsoft.com/office/drawing/2014/main" id="{A0A0CE9D-FA5E-477A-864B-04388E918DDB}"/>
              </a:ext>
            </a:extLst>
          </p:cNvPr>
          <p:cNvSpPr>
            <a:spLocks xmlns:a="http://schemas.openxmlformats.org/drawingml/2006/main" noGrp="1"/>
          </p:cNvSpPr>
          <p:nvPr/>
        </p:nvSpPr>
        <p:spPr>
          <a:xfrm xmlns:a="http://schemas.openxmlformats.org/drawingml/2006/main">
            <a:off x="9410700" y="2266950"/>
            <a:ext cx="2057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42839"/>
                </a:solidFill>
                <a:latin typeface="Arial"/>
                <a:ea typeface="Arial"/>
                <a:cs typeface="Arial"/>
              </a:defRPr>
            </a:defPPr>
          </a:lstStyle>
          <a:p xmlns:a="http://schemas.openxmlformats.org/drawingml/2006/main">
            <a:pPr>
              <a:defRPr sz="2025" b="1">
                <a:solidFill>
                  <a:srgbClr val="142839"/>
                </a:solidFill>
                <a:latin typeface="Arial"/>
                <a:ea typeface="Arial"/>
                <a:cs typeface="Arial"/>
              </a:defRPr>
            </a:pPr>
            <a:r>
              <a:rPr sz="2025" b="1">
                <a:solidFill>
                  <a:srgbClr val="142839"/>
                </a:solidFill>
                <a:latin typeface="Arial"/>
                <a:ea typeface="Arial"/>
                <a:cs typeface="Arial"/>
              </a:rPr>
              <a:t>Intent output</a:t>
            </a:r>
          </a:p>
        </p:txBody>
      </p:sp>
      <p:sp>
        <p:nvSpPr>
          <p:cNvPr id="16" name="">
            <a:extLst xmlns:a="http://schemas.openxmlformats.org/drawingml/2006/main">
              <a:ext uri="{FF2B5EF4-FFF2-40B4-BE49-F238E27FC236}">
                <a16:creationId xmlns:a16="http://schemas.microsoft.com/office/drawing/2014/main" id="{786E7535-19CF-4651-9B65-134E3CE2DA74}"/>
              </a:ext>
            </a:extLst>
          </p:cNvPr>
          <p:cNvSpPr>
            <a:spLocks xmlns:a="http://schemas.openxmlformats.org/drawingml/2006/main" noGrp="1"/>
          </p:cNvSpPr>
          <p:nvPr/>
        </p:nvSpPr>
        <p:spPr>
          <a:xfrm xmlns:a="http://schemas.openxmlformats.org/drawingml/2006/main">
            <a:off x="9410700" y="2714625"/>
            <a:ext cx="2057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42586A"/>
                </a:solidFill>
                <a:latin typeface="Arial"/>
                <a:ea typeface="Arial"/>
                <a:cs typeface="Arial"/>
              </a:defRPr>
            </a:defPPr>
          </a:lstStyle>
          <a:p xmlns:a="http://schemas.openxmlformats.org/drawingml/2006/main">
            <a:pPr>
              <a:defRPr sz="1575" b="0">
                <a:solidFill>
                  <a:srgbClr val="42586A"/>
                </a:solidFill>
                <a:latin typeface="Arial"/>
                <a:ea typeface="Arial"/>
                <a:cs typeface="Arial"/>
              </a:defRPr>
            </a:pPr>
            <a:r>
              <a:rPr sz="1575" b="0">
                <a:solidFill>
                  <a:srgbClr val="42586A"/>
                </a:solidFill>
                <a:latin typeface="Arial"/>
                <a:ea typeface="Arial"/>
                <a:cs typeface="Arial"/>
              </a:rPr>
              <a:t>Current recommendations</a:t>
            </a:r>
          </a:p>
        </p:txBody>
      </p:sp>
      <p:sp>
        <p:nvSpPr>
          <p:cNvPr id="17" name="">
            <a:extLst xmlns:a="http://schemas.openxmlformats.org/drawingml/2006/main">
              <a:ext uri="{FF2B5EF4-FFF2-40B4-BE49-F238E27FC236}">
                <a16:creationId xmlns:a16="http://schemas.microsoft.com/office/drawing/2014/main" id="{51C83516-D0CA-4B33-AF3D-DAF67E6B8CB7}"/>
              </a:ext>
            </a:extLst>
          </p:cNvPr>
          <p:cNvSpPr>
            <a:spLocks xmlns:a="http://schemas.openxmlformats.org/drawingml/2006/main" noGrp="1"/>
          </p:cNvSpPr>
          <p:nvPr/>
        </p:nvSpPr>
        <p:spPr>
          <a:xfrm xmlns:a="http://schemas.openxmlformats.org/drawingml/2006/main">
            <a:off x="704850" y="38290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142839"/>
                </a:solidFill>
                <a:latin typeface="Arial"/>
                <a:ea typeface="Arial"/>
                <a:cs typeface="Arial"/>
              </a:defRPr>
            </a:defPPr>
          </a:lstStyle>
          <a:p xmlns:a="http://schemas.openxmlformats.org/drawingml/2006/main">
            <a:pPr>
              <a:defRPr sz="2325" b="1">
                <a:solidFill>
                  <a:srgbClr val="142839"/>
                </a:solidFill>
                <a:latin typeface="Arial"/>
                <a:ea typeface="Arial"/>
                <a:cs typeface="Arial"/>
              </a:defRPr>
            </a:pPr>
            <a:r>
              <a:rPr sz="2325" b="1">
                <a:solidFill>
                  <a:srgbClr val="142839"/>
                </a:solidFill>
                <a:latin typeface="Arial"/>
                <a:ea typeface="Arial"/>
                <a:cs typeface="Arial"/>
              </a:rPr>
              <a:t>10-minute windows     1-minute slide     5-minute watermark</a:t>
            </a:r>
          </a:p>
        </p:txBody>
      </p:sp>
      <p:sp>
        <p:nvSpPr>
          <p:cNvPr id="18" name="">
            <a:extLst xmlns:a="http://schemas.openxmlformats.org/drawingml/2006/main">
              <a:ext uri="{FF2B5EF4-FFF2-40B4-BE49-F238E27FC236}">
                <a16:creationId xmlns:a16="http://schemas.microsoft.com/office/drawing/2014/main" id="{E903931C-133D-40A7-80BE-F16E094AC43D}"/>
              </a:ext>
            </a:extLst>
          </p:cNvPr>
          <p:cNvSpPr>
            <a:spLocks xmlns:a="http://schemas.openxmlformats.org/drawingml/2006/main" noGrp="1"/>
          </p:cNvSpPr>
          <p:nvPr/>
        </p:nvSpPr>
        <p:spPr>
          <a:xfrm xmlns:a="http://schemas.openxmlformats.org/drawingml/2006/main">
            <a:off x="704850" y="481012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0">
                <a:solidFill>
                  <a:srgbClr val="42586A"/>
                </a:solidFill>
                <a:latin typeface="Arial"/>
                <a:ea typeface="Arial"/>
                <a:cs typeface="Arial"/>
              </a:defRPr>
            </a:defPPr>
          </a:lstStyle>
          <a:p xmlns:a="http://schemas.openxmlformats.org/drawingml/2006/main">
            <a:pPr>
              <a:defRPr sz="2250" b="0">
                <a:solidFill>
                  <a:srgbClr val="42586A"/>
                </a:solidFill>
                <a:latin typeface="Arial"/>
                <a:ea typeface="Arial"/>
                <a:cs typeface="Arial"/>
              </a:defRPr>
            </a:pPr>
            <a:r>
              <a:rPr sz="2250" b="0">
                <a:solidFill>
                  <a:srgbClr val="42586A"/>
                </a:solidFill>
                <a:latin typeface="Arial"/>
                <a:ea typeface="Arial"/>
                <a:cs typeface="Arial"/>
              </a:rPr>
              <a:t>Partitioned Parquet audit and intent epochs</a:t>
            </a:r>
          </a:p>
          <a:p xmlns:a="http://schemas.openxmlformats.org/drawingml/2006/main">
            <a:pPr>
              <a:defRPr sz="2250" b="0">
                <a:solidFill>
                  <a:srgbClr val="42586A"/>
                </a:solidFill>
                <a:latin typeface="Arial"/>
                <a:ea typeface="Arial"/>
                <a:cs typeface="Arial"/>
              </a:defRPr>
            </a:pPr>
            <a:r>
              <a:rPr sz="2250" b="0">
                <a:solidFill>
                  <a:srgbClr val="42586A"/>
                </a:solidFill>
                <a:latin typeface="Arial"/>
                <a:ea typeface="Arial"/>
                <a:cs typeface="Arial"/>
              </a:rPr>
              <a:t>Independent checkpoints and structured batch logs</a:t>
            </a:r>
          </a:p>
        </p:txBody>
      </p:sp>
    </p:spTree>
    <p:extLst>
      <p:ext uri="{BB962C8B-B14F-4D97-AF65-F5344CB8AC3E}">
        <p14:creationId xmlns:p14="http://schemas.microsoft.com/office/powerpoint/2010/main" val="1846136530"/>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B27B9FE-2923-4CF9-89F1-1FD534243E43}"/>
              </a:ext>
            </a:extLst>
          </p:cNvPr>
          <p:cNvSpPr>
            <a:spLocks xmlns:a="http://schemas.openxmlformats.org/drawingml/2006/main" noGrp="1"/>
          </p:cNvSpPr>
          <p:nvPr/>
        </p:nvSpPr>
        <p:spPr>
          <a:xfrm xmlns:a="http://schemas.openxmlformats.org/drawingml/2006/main">
            <a:off x="609600" y="47625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42839"/>
                </a:solidFill>
                <a:latin typeface="Arial"/>
                <a:ea typeface="Arial"/>
                <a:cs typeface="Arial"/>
              </a:defRPr>
            </a:defPPr>
          </a:lstStyle>
          <a:p xmlns:a="http://schemas.openxmlformats.org/drawingml/2006/main">
            <a:pPr>
              <a:defRPr sz="3300" b="1">
                <a:solidFill>
                  <a:srgbClr val="142839"/>
                </a:solidFill>
                <a:latin typeface="Arial"/>
                <a:ea typeface="Arial"/>
                <a:cs typeface="Arial"/>
              </a:defRPr>
            </a:pPr>
            <a:r>
              <a:rPr sz="3300" b="1">
                <a:solidFill>
                  <a:srgbClr val="142839"/>
                </a:solidFill>
                <a:latin typeface="Arial"/>
                <a:ea typeface="Arial"/>
                <a:cs typeface="Arial"/>
              </a:rPr>
              <a:t>Event-time windows and late records</a:t>
            </a:r>
          </a:p>
        </p:txBody>
      </p:sp>
      <p:sp>
        <p:nvSpPr>
          <p:cNvPr id="2" name="">
            <a:extLst xmlns:a="http://schemas.openxmlformats.org/drawingml/2006/main">
              <a:ext uri="{FF2B5EF4-FFF2-40B4-BE49-F238E27FC236}">
                <a16:creationId xmlns:a16="http://schemas.microsoft.com/office/drawing/2014/main" id="{F90C86A6-6BF1-436D-B913-F9FAA74FFAEF}"/>
              </a:ext>
            </a:extLst>
          </p:cNvPr>
          <p:cNvSpPr>
            <a:spLocks xmlns:a="http://schemas.openxmlformats.org/drawingml/2006/main" noGrp="1"/>
          </p:cNvSpPr>
          <p:nvPr/>
        </p:nvSpPr>
        <p:spPr>
          <a:xfrm xmlns:a="http://schemas.openxmlformats.org/drawingml/2006/main">
            <a:off x="704850" y="163830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142839"/>
                </a:solidFill>
                <a:latin typeface="Arial"/>
                <a:ea typeface="Arial"/>
                <a:cs typeface="Arial"/>
              </a:defRPr>
            </a:defPPr>
          </a:lstStyle>
          <a:p xmlns:a="http://schemas.openxmlformats.org/drawingml/2006/main">
            <a:pPr>
              <a:defRPr sz="2550" b="1">
                <a:solidFill>
                  <a:srgbClr val="142839"/>
                </a:solidFill>
                <a:latin typeface="Arial"/>
                <a:ea typeface="Arial"/>
                <a:cs typeface="Arial"/>
              </a:defRPr>
            </a:pPr>
            <a:r>
              <a:rPr sz="2550" b="1">
                <a:solidFill>
                  <a:srgbClr val="142839"/>
                </a:solidFill>
                <a:latin typeface="Arial"/>
                <a:ea typeface="Arial"/>
                <a:cs typeface="Arial"/>
              </a:rPr>
              <a:t>10 minutes per window     1 minute per slide</a:t>
            </a:r>
          </a:p>
          <a:p xmlns:a="http://schemas.openxmlformats.org/drawingml/2006/main">
            <a:pPr>
              <a:defRPr sz="2550" b="1">
                <a:solidFill>
                  <a:srgbClr val="142839"/>
                </a:solidFill>
                <a:latin typeface="Arial"/>
                <a:ea typeface="Arial"/>
                <a:cs typeface="Arial"/>
              </a:defRPr>
            </a:pPr>
            <a:r>
              <a:rPr sz="2550" b="1">
                <a:solidFill>
                  <a:srgbClr val="142839"/>
                </a:solidFill>
                <a:latin typeface="Arial"/>
                <a:ea typeface="Arial"/>
                <a:cs typeface="Arial"/>
              </a:rPr>
              <a:t>5 minutes of watermark delay</a:t>
            </a:r>
          </a:p>
        </p:txBody>
      </p:sp>
      <p:graphicFrame>
        <p:nvGraphicFramePr>
          <p:cNvPr id="3" name="">
            <a:extLst xmlns:a="http://schemas.openxmlformats.org/drawingml/2006/main">
              <a:ext uri="{FF2B5EF4-FFF2-40B4-BE49-F238E27FC236}">
                <a16:creationId xmlns:a16="http://schemas.microsoft.com/office/drawing/2014/main" id="{F85F183D-3D58-4D5F-825C-7214D890F754}"/>
              </a:ext>
            </a:extLst>
          </p:cNvPr>
          <p:cNvGraphicFramePr/>
          <p:nvPr/>
        </p:nvGraphicFramePr>
        <p:xfrm>
          <a:off xmlns:a="http://schemas.openxmlformats.org/drawingml/2006/main" x="609600" y="3143250"/>
          <a:ext xmlns:a="http://schemas.openxmlformats.org/drawingml/2006/main" cx="10972800" cy="2190750"/>
        </p:xfrm>
        <a:graphic xmlns:a="http://schemas.openxmlformats.org/drawingml/2006/main">
          <a:graphicData uri="http://schemas.openxmlformats.org/drawingml/2006/table">
            <a:tbl>
              <a:tblPr/>
              <a:tblGrid>
                <a:gridCol w="3143250"/>
                <a:gridCol w="3143250"/>
                <a:gridCol w="4686300"/>
              </a:tblGrid>
              <a:tr h="547688">
                <a:tc>
                  <a:txBody>
                    <a:bodyPr/>
                    <a:lstStyle/>
                    <a:p>
                      <a:r>
                        <a:rPr sz="1875" b="1">
                          <a:solidFill>
                            <a:srgbClr val="FFFFFF"/>
                          </a:solidFill>
                          <a:latin typeface="Arial"/>
                          <a:ea typeface="Arial"/>
                          <a:cs typeface="Arial"/>
                        </a:rPr>
                        <a:t>Example</a:t>
                      </a:r>
                    </a:p>
                  </a:txBody>
                  <a:tcPr marL="91440" marR="91440" marT="45720" marB="45720">
                    <a:solidFill>
                      <a:srgbClr val="142839"/>
                    </a:solidFill>
                  </a:tcPr>
                </a:tc>
                <a:tc>
                  <a:txBody>
                    <a:bodyPr/>
                    <a:lstStyle/>
                    <a:p>
                      <a:r>
                        <a:rPr sz="1875" b="1">
                          <a:solidFill>
                            <a:srgbClr val="FFFFFF"/>
                          </a:solidFill>
                          <a:latin typeface="Arial"/>
                          <a:ea typeface="Arial"/>
                          <a:cs typeface="Arial"/>
                        </a:rPr>
                        <a:t>Observed frontier</a:t>
                      </a:r>
                    </a:p>
                  </a:txBody>
                  <a:tcPr marL="91440" marR="91440" marT="45720" marB="45720">
                    <a:solidFill>
                      <a:srgbClr val="142839"/>
                    </a:solidFill>
                  </a:tcPr>
                </a:tc>
                <a:tc>
                  <a:txBody>
                    <a:bodyPr/>
                    <a:lstStyle/>
                    <a:p>
                      <a:r>
                        <a:rPr sz="1875" b="1">
                          <a:solidFill>
                            <a:srgbClr val="FFFFFF"/>
                          </a:solidFill>
                          <a:latin typeface="Arial"/>
                          <a:ea typeface="Arial"/>
                          <a:cs typeface="Arial"/>
                        </a:rPr>
                        <a:t>Interpretation</a:t>
                      </a:r>
                    </a:p>
                  </a:txBody>
                  <a:tcPr marL="91440" marR="91440" marT="45720" marB="45720">
                    <a:solidFill>
                      <a:srgbClr val="142839"/>
                    </a:solidFill>
                  </a:tcPr>
                </a:tc>
              </a:tr>
              <a:tr h="547688">
                <a:tc>
                  <a:txBody>
                    <a:bodyPr/>
                    <a:lstStyle/>
                    <a:p>
                      <a:r>
                        <a:rPr sz="1875" b="0">
                          <a:solidFill>
                            <a:srgbClr val="142839"/>
                          </a:solidFill>
                          <a:latin typeface="Arial"/>
                          <a:ea typeface="Arial"/>
                          <a:cs typeface="Arial"/>
                        </a:rPr>
                        <a:t>Latest event</a:t>
                      </a:r>
                    </a:p>
                  </a:txBody>
                  <a:tcPr marL="91440" marR="91440" marT="45720" marB="45720">
                    <a:solidFill>
                      <a:srgbClr val="FFFFFF"/>
                    </a:solidFill>
                  </a:tcPr>
                </a:tc>
                <a:tc>
                  <a:txBody>
                    <a:bodyPr/>
                    <a:lstStyle/>
                    <a:p>
                      <a:r>
                        <a:rPr sz="1875" b="0">
                          <a:solidFill>
                            <a:srgbClr val="142839"/>
                          </a:solidFill>
                          <a:latin typeface="Arial"/>
                          <a:ea typeface="Arial"/>
                          <a:cs typeface="Arial"/>
                        </a:rPr>
                        <a:t>12:20</a:t>
                      </a:r>
                    </a:p>
                  </a:txBody>
                  <a:tcPr marL="91440" marR="91440" marT="45720" marB="45720">
                    <a:solidFill>
                      <a:srgbClr val="FFFFFF"/>
                    </a:solidFill>
                  </a:tcPr>
                </a:tc>
                <a:tc>
                  <a:txBody>
                    <a:bodyPr/>
                    <a:lstStyle/>
                    <a:p>
                      <a:r>
                        <a:rPr sz="1875" b="0">
                          <a:solidFill>
                            <a:srgbClr val="142839"/>
                          </a:solidFill>
                          <a:latin typeface="Arial"/>
                          <a:ea typeface="Arial"/>
                          <a:cs typeface="Arial"/>
                        </a:rPr>
                        <a:t>Conceptual watermark near 12:15</a:t>
                      </a:r>
                    </a:p>
                  </a:txBody>
                  <a:tcPr marL="91440" marR="91440" marT="45720" marB="45720">
                    <a:solidFill>
                      <a:srgbClr val="FFFFFF"/>
                    </a:solidFill>
                  </a:tcPr>
                </a:tc>
              </a:tr>
              <a:tr h="547688">
                <a:tc>
                  <a:txBody>
                    <a:bodyPr/>
                    <a:lstStyle/>
                    <a:p>
                      <a:r>
                        <a:rPr sz="1875" b="0">
                          <a:solidFill>
                            <a:srgbClr val="142839"/>
                          </a:solidFill>
                          <a:latin typeface="Arial"/>
                          <a:ea typeface="Arial"/>
                          <a:cs typeface="Arial"/>
                        </a:rPr>
                        <a:t>Event at 12:18</a:t>
                      </a:r>
                    </a:p>
                  </a:txBody>
                  <a:tcPr marL="91440" marR="91440" marT="45720" marB="45720">
                    <a:solidFill>
                      <a:srgbClr val="EDF2F4"/>
                    </a:solidFill>
                  </a:tcPr>
                </a:tc>
                <a:tc>
                  <a:txBody>
                    <a:bodyPr/>
                    <a:lstStyle/>
                    <a:p>
                      <a:r>
                        <a:rPr sz="1875" b="0">
                          <a:solidFill>
                            <a:srgbClr val="142839"/>
                          </a:solidFill>
                          <a:latin typeface="Arial"/>
                          <a:ea typeface="Arial"/>
                          <a:cs typeface="Arial"/>
                        </a:rPr>
                        <a:t>2 minutes late</a:t>
                      </a:r>
                    </a:p>
                  </a:txBody>
                  <a:tcPr marL="91440" marR="91440" marT="45720" marB="45720">
                    <a:solidFill>
                      <a:srgbClr val="EDF2F4"/>
                    </a:solidFill>
                  </a:tcPr>
                </a:tc>
                <a:tc>
                  <a:txBody>
                    <a:bodyPr/>
                    <a:lstStyle/>
                    <a:p>
                      <a:r>
                        <a:rPr sz="1875" b="0">
                          <a:solidFill>
                            <a:srgbClr val="142839"/>
                          </a:solidFill>
                          <a:latin typeface="Arial"/>
                          <a:ea typeface="Arial"/>
                          <a:cs typeface="Arial"/>
                        </a:rPr>
                        <a:t>Within lateness guarantee</a:t>
                      </a:r>
                    </a:p>
                  </a:txBody>
                  <a:tcPr marL="91440" marR="91440" marT="45720" marB="45720">
                    <a:solidFill>
                      <a:srgbClr val="EDF2F4"/>
                    </a:solidFill>
                  </a:tcPr>
                </a:tc>
              </a:tr>
              <a:tr h="547688">
                <a:tc>
                  <a:txBody>
                    <a:bodyPr/>
                    <a:lstStyle/>
                    <a:p>
                      <a:r>
                        <a:rPr sz="1875" b="0">
                          <a:solidFill>
                            <a:srgbClr val="142839"/>
                          </a:solidFill>
                          <a:latin typeface="Arial"/>
                          <a:ea typeface="Arial"/>
                          <a:cs typeface="Arial"/>
                        </a:rPr>
                        <a:t>Event at 11:20</a:t>
                      </a:r>
                    </a:p>
                  </a:txBody>
                  <a:tcPr marL="91440" marR="91440" marT="45720" marB="45720">
                    <a:solidFill>
                      <a:srgbClr val="FFFFFF"/>
                    </a:solidFill>
                  </a:tcPr>
                </a:tc>
                <a:tc>
                  <a:txBody>
                    <a:bodyPr/>
                    <a:lstStyle/>
                    <a:p>
                      <a:r>
                        <a:rPr sz="1875" b="0">
                          <a:solidFill>
                            <a:srgbClr val="142839"/>
                          </a:solidFill>
                          <a:latin typeface="Arial"/>
                          <a:ea typeface="Arial"/>
                          <a:cs typeface="Arial"/>
                        </a:rPr>
                        <a:t>1 hour late</a:t>
                      </a:r>
                    </a:p>
                  </a:txBody>
                  <a:tcPr marL="91440" marR="91440" marT="45720" marB="45720">
                    <a:solidFill>
                      <a:srgbClr val="FFFFFF"/>
                    </a:solidFill>
                  </a:tcPr>
                </a:tc>
                <a:tc>
                  <a:txBody>
                    <a:bodyPr/>
                    <a:lstStyle/>
                    <a:p>
                      <a:r>
                        <a:rPr sz="1875" b="0">
                          <a:solidFill>
                            <a:srgbClr val="142839"/>
                          </a:solidFill>
                          <a:latin typeface="Arial"/>
                          <a:ea typeface="Arial"/>
                          <a:cs typeface="Arial"/>
                        </a:rPr>
                        <a:t>Affected windows have expired</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0E417D13-3D69-4AAC-B803-53F37D3796BF}"/>
              </a:ext>
            </a:extLst>
          </p:cNvPr>
          <p:cNvSpPr>
            <a:spLocks xmlns:a="http://schemas.openxmlformats.org/drawingml/2006/main" noGrp="1"/>
          </p:cNvSpPr>
          <p:nvPr/>
        </p:nvSpPr>
        <p:spPr>
          <a:xfrm xmlns:a="http://schemas.openxmlformats.org/drawingml/2006/main">
            <a:off x="704850" y="573405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42586A"/>
                </a:solidFill>
                <a:latin typeface="Arial"/>
                <a:ea typeface="Arial"/>
                <a:cs typeface="Arial"/>
              </a:defRPr>
            </a:defPPr>
          </a:lstStyle>
          <a:p xmlns:a="http://schemas.openxmlformats.org/drawingml/2006/main">
            <a:pPr>
              <a:defRPr sz="2100" b="0">
                <a:solidFill>
                  <a:srgbClr val="42586A"/>
                </a:solidFill>
                <a:latin typeface="Arial"/>
                <a:ea typeface="Arial"/>
                <a:cs typeface="Arial"/>
              </a:defRPr>
            </a:pPr>
            <a:r>
              <a:rPr sz="2100" b="0">
                <a:solidFill>
                  <a:srgbClr val="42586A"/>
                </a:solidFill>
                <a:latin typeface="Arial"/>
                <a:ea typeface="Arial"/>
                <a:cs typeface="Arial"/>
              </a:rPr>
              <a:t>A watermark is an event-time frontier. It does not mean waiting five minutes.</a:t>
            </a:r>
          </a:p>
        </p:txBody>
      </p:sp>
    </p:spTree>
    <p:extLst>
      <p:ext uri="{BB962C8B-B14F-4D97-AF65-F5344CB8AC3E}">
        <p14:creationId xmlns:p14="http://schemas.microsoft.com/office/powerpoint/2010/main" val="1901724184"/>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C2BA1F37-EE75-408C-9E6B-FEF8FADF60B4}"/>
              </a:ext>
            </a:extLst>
          </p:cNvPr>
          <p:cNvSpPr>
            <a:spLocks xmlns:a="http://schemas.openxmlformats.org/drawingml/2006/main" noGrp="1"/>
          </p:cNvSpPr>
          <p:nvPr/>
        </p:nvSpPr>
        <p:spPr>
          <a:xfrm xmlns:a="http://schemas.openxmlformats.org/drawingml/2006/main">
            <a:off x="609600" y="47625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42839"/>
                </a:solidFill>
                <a:latin typeface="Arial"/>
                <a:ea typeface="Arial"/>
                <a:cs typeface="Arial"/>
              </a:defRPr>
            </a:defPPr>
          </a:lstStyle>
          <a:p xmlns:a="http://schemas.openxmlformats.org/drawingml/2006/main">
            <a:pPr>
              <a:defRPr sz="3300" b="1">
                <a:solidFill>
                  <a:srgbClr val="142839"/>
                </a:solidFill>
                <a:latin typeface="Arial"/>
                <a:ea typeface="Arial"/>
                <a:cs typeface="Arial"/>
              </a:defRPr>
            </a:pPr>
            <a:r>
              <a:rPr sz="3300" b="1">
                <a:solidFill>
                  <a:srgbClr val="142839"/>
                </a:solidFill>
                <a:latin typeface="Arial"/>
                <a:ea typeface="Arial"/>
                <a:cs typeface="Arial"/>
              </a:rPr>
              <a:t>Intent scores and purchase suppression</a:t>
            </a:r>
          </a:p>
        </p:txBody>
      </p:sp>
      <p:graphicFrame>
        <p:nvGraphicFramePr>
          <p:cNvPr id="2" name="">
            <a:extLst xmlns:a="http://schemas.openxmlformats.org/drawingml/2006/main">
              <a:ext uri="{FF2B5EF4-FFF2-40B4-BE49-F238E27FC236}">
                <a16:creationId xmlns:a16="http://schemas.microsoft.com/office/drawing/2014/main" id="{16CE8B83-7694-4203-8371-219E4A98687F}"/>
              </a:ext>
            </a:extLst>
          </p:cNvPr>
          <p:cNvGraphicFramePr/>
          <p:nvPr/>
        </p:nvGraphicFramePr>
        <p:xfrm>
          <a:off xmlns:a="http://schemas.openxmlformats.org/drawingml/2006/main" x="609600" y="1714500"/>
          <a:ext xmlns:a="http://schemas.openxmlformats.org/drawingml/2006/main" cx="10972800" cy="2714625"/>
        </p:xfrm>
        <a:graphic xmlns:a="http://schemas.openxmlformats.org/drawingml/2006/main">
          <a:graphicData uri="http://schemas.openxmlformats.org/drawingml/2006/table">
            <a:tbl>
              <a:tblPr/>
              <a:tblGrid>
                <a:gridCol w="3333750"/>
                <a:gridCol w="2095500"/>
                <a:gridCol w="5543550"/>
              </a:tblGrid>
              <a:tr h="678656">
                <a:tc>
                  <a:txBody>
                    <a:bodyPr/>
                    <a:lstStyle/>
                    <a:p>
                      <a:r>
                        <a:rPr sz="2175" b="1">
                          <a:solidFill>
                            <a:srgbClr val="FFFFFF"/>
                          </a:solidFill>
                          <a:latin typeface="Arial"/>
                          <a:ea typeface="Arial"/>
                          <a:cs typeface="Arial"/>
                        </a:rPr>
                        <a:t>Event</a:t>
                      </a:r>
                    </a:p>
                  </a:txBody>
                  <a:tcPr marL="91440" marR="91440" marT="45720" marB="45720">
                    <a:solidFill>
                      <a:srgbClr val="142839"/>
                    </a:solidFill>
                  </a:tcPr>
                </a:tc>
                <a:tc>
                  <a:txBody>
                    <a:bodyPr/>
                    <a:lstStyle/>
                    <a:p>
                      <a:r>
                        <a:rPr sz="2175" b="1">
                          <a:solidFill>
                            <a:srgbClr val="FFFFFF"/>
                          </a:solidFill>
                          <a:latin typeface="Arial"/>
                          <a:ea typeface="Arial"/>
                          <a:cs typeface="Arial"/>
                        </a:rPr>
                        <a:t>Weight</a:t>
                      </a:r>
                    </a:p>
                  </a:txBody>
                  <a:tcPr marL="91440" marR="91440" marT="45720" marB="45720">
                    <a:solidFill>
                      <a:srgbClr val="142839"/>
                    </a:solidFill>
                  </a:tcPr>
                </a:tc>
                <a:tc>
                  <a:txBody>
                    <a:bodyPr/>
                    <a:lstStyle/>
                    <a:p>
                      <a:r>
                        <a:rPr sz="2175" b="1">
                          <a:solidFill>
                            <a:srgbClr val="FFFFFF"/>
                          </a:solidFill>
                          <a:latin typeface="Arial"/>
                          <a:ea typeface="Arial"/>
                          <a:cs typeface="Arial"/>
                        </a:rPr>
                        <a:t>Example running score</a:t>
                      </a:r>
                    </a:p>
                  </a:txBody>
                  <a:tcPr marL="91440" marR="91440" marT="45720" marB="45720">
                    <a:solidFill>
                      <a:srgbClr val="142839"/>
                    </a:solidFill>
                  </a:tcPr>
                </a:tc>
              </a:tr>
              <a:tr h="678656">
                <a:tc>
                  <a:txBody>
                    <a:bodyPr/>
                    <a:lstStyle/>
                    <a:p>
                      <a:r>
                        <a:rPr sz="2175" b="0">
                          <a:solidFill>
                            <a:srgbClr val="142839"/>
                          </a:solidFill>
                          <a:latin typeface="Arial"/>
                          <a:ea typeface="Arial"/>
                          <a:cs typeface="Arial"/>
                        </a:rPr>
                        <a:t>view</a:t>
                      </a:r>
                    </a:p>
                  </a:txBody>
                  <a:tcPr marL="91440" marR="91440" marT="45720" marB="45720">
                    <a:solidFill>
                      <a:srgbClr val="FFFFFF"/>
                    </a:solidFill>
                  </a:tcPr>
                </a:tc>
                <a:tc>
                  <a:txBody>
                    <a:bodyPr/>
                    <a:lstStyle/>
                    <a:p>
                      <a:r>
                        <a:rPr sz="2175" b="0">
                          <a:solidFill>
                            <a:srgbClr val="142839"/>
                          </a:solidFill>
                          <a:latin typeface="Arial"/>
                          <a:ea typeface="Arial"/>
                          <a:cs typeface="Arial"/>
                        </a:rPr>
                        <a:t>1</a:t>
                      </a:r>
                    </a:p>
                  </a:txBody>
                  <a:tcPr marL="91440" marR="91440" marT="45720" marB="45720">
                    <a:solidFill>
                      <a:srgbClr val="FFFFFF"/>
                    </a:solidFill>
                  </a:tcPr>
                </a:tc>
                <a:tc>
                  <a:txBody>
                    <a:bodyPr/>
                    <a:lstStyle/>
                    <a:p>
                      <a:r>
                        <a:rPr sz="2175" b="0">
                          <a:solidFill>
                            <a:srgbClr val="142839"/>
                          </a:solidFill>
                          <a:latin typeface="Arial"/>
                          <a:ea typeface="Arial"/>
                          <a:cs typeface="Arial"/>
                        </a:rPr>
                        <a:t>1</a:t>
                      </a:r>
                    </a:p>
                  </a:txBody>
                  <a:tcPr marL="91440" marR="91440" marT="45720" marB="45720">
                    <a:solidFill>
                      <a:srgbClr val="FFFFFF"/>
                    </a:solidFill>
                  </a:tcPr>
                </a:tc>
              </a:tr>
              <a:tr h="678656">
                <a:tc>
                  <a:txBody>
                    <a:bodyPr/>
                    <a:lstStyle/>
                    <a:p>
                      <a:r>
                        <a:rPr sz="2175" b="0">
                          <a:solidFill>
                            <a:srgbClr val="142839"/>
                          </a:solidFill>
                          <a:latin typeface="Arial"/>
                          <a:ea typeface="Arial"/>
                          <a:cs typeface="Arial"/>
                        </a:rPr>
                        <a:t>addtocart</a:t>
                      </a:r>
                    </a:p>
                  </a:txBody>
                  <a:tcPr marL="91440" marR="91440" marT="45720" marB="45720">
                    <a:solidFill>
                      <a:srgbClr val="EDF2F4"/>
                    </a:solidFill>
                  </a:tcPr>
                </a:tc>
                <a:tc>
                  <a:txBody>
                    <a:bodyPr/>
                    <a:lstStyle/>
                    <a:p>
                      <a:r>
                        <a:rPr sz="2175" b="0">
                          <a:solidFill>
                            <a:srgbClr val="142839"/>
                          </a:solidFill>
                          <a:latin typeface="Arial"/>
                          <a:ea typeface="Arial"/>
                          <a:cs typeface="Arial"/>
                        </a:rPr>
                        <a:t>5</a:t>
                      </a:r>
                    </a:p>
                  </a:txBody>
                  <a:tcPr marL="91440" marR="91440" marT="45720" marB="45720">
                    <a:solidFill>
                      <a:srgbClr val="EDF2F4"/>
                    </a:solidFill>
                  </a:tcPr>
                </a:tc>
                <a:tc>
                  <a:txBody>
                    <a:bodyPr/>
                    <a:lstStyle/>
                    <a:p>
                      <a:r>
                        <a:rPr sz="2175" b="0">
                          <a:solidFill>
                            <a:srgbClr val="142839"/>
                          </a:solidFill>
                          <a:latin typeface="Arial"/>
                          <a:ea typeface="Arial"/>
                          <a:cs typeface="Arial"/>
                        </a:rPr>
                        <a:t>6</a:t>
                      </a:r>
                    </a:p>
                  </a:txBody>
                  <a:tcPr marL="91440" marR="91440" marT="45720" marB="45720">
                    <a:solidFill>
                      <a:srgbClr val="EDF2F4"/>
                    </a:solidFill>
                  </a:tcPr>
                </a:tc>
              </a:tr>
              <a:tr h="678656">
                <a:tc>
                  <a:txBody>
                    <a:bodyPr/>
                    <a:lstStyle/>
                    <a:p>
                      <a:r>
                        <a:rPr sz="2175" b="0">
                          <a:solidFill>
                            <a:srgbClr val="142839"/>
                          </a:solidFill>
                          <a:latin typeface="Arial"/>
                          <a:ea typeface="Arial"/>
                          <a:cs typeface="Arial"/>
                        </a:rPr>
                        <a:t>transaction</a:t>
                      </a:r>
                    </a:p>
                  </a:txBody>
                  <a:tcPr marL="91440" marR="91440" marT="45720" marB="45720">
                    <a:solidFill>
                      <a:srgbClr val="FFFFFF"/>
                    </a:solidFill>
                  </a:tcPr>
                </a:tc>
                <a:tc>
                  <a:txBody>
                    <a:bodyPr/>
                    <a:lstStyle/>
                    <a:p>
                      <a:r>
                        <a:rPr sz="2175" b="0">
                          <a:solidFill>
                            <a:srgbClr val="142839"/>
                          </a:solidFill>
                          <a:latin typeface="Arial"/>
                          <a:ea typeface="Arial"/>
                          <a:cs typeface="Arial"/>
                        </a:rPr>
                        <a:t>10</a:t>
                      </a:r>
                    </a:p>
                  </a:txBody>
                  <a:tcPr marL="91440" marR="91440" marT="45720" marB="45720">
                    <a:solidFill>
                      <a:srgbClr val="FFFFFF"/>
                    </a:solidFill>
                  </a:tcPr>
                </a:tc>
                <a:tc>
                  <a:txBody>
                    <a:bodyPr/>
                    <a:lstStyle/>
                    <a:p>
                      <a:r>
                        <a:rPr sz="2175" b="0">
                          <a:solidFill>
                            <a:srgbClr val="142839"/>
                          </a:solidFill>
                          <a:latin typeface="Arial"/>
                          <a:ea typeface="Arial"/>
                          <a:cs typeface="Arial"/>
                        </a:rPr>
                        <a:t>16</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E7146228-08A3-44FC-935A-C29DAB91E8E1}"/>
              </a:ext>
            </a:extLst>
          </p:cNvPr>
          <p:cNvSpPr>
            <a:spLocks xmlns:a="http://schemas.openxmlformats.org/drawingml/2006/main" noGrp="1"/>
          </p:cNvSpPr>
          <p:nvPr/>
        </p:nvSpPr>
        <p:spPr>
          <a:xfrm xmlns:a="http://schemas.openxmlformats.org/drawingml/2006/main">
            <a:off x="704850" y="4857750"/>
            <a:ext cx="10668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176C75"/>
                </a:solidFill>
                <a:latin typeface="Arial"/>
                <a:ea typeface="Arial"/>
                <a:cs typeface="Arial"/>
              </a:defRPr>
            </a:defPPr>
          </a:lstStyle>
          <a:p xmlns:a="http://schemas.openxmlformats.org/drawingml/2006/main">
            <a:pPr>
              <a:defRPr sz="2625" b="1">
                <a:solidFill>
                  <a:srgbClr val="176C75"/>
                </a:solidFill>
                <a:latin typeface="Arial"/>
                <a:ea typeface="Arial"/>
                <a:cs typeface="Arial"/>
              </a:defRPr>
            </a:pPr>
            <a:r>
              <a:rPr sz="2625" b="1">
                <a:solidFill>
                  <a:srgbClr val="176C75"/>
                </a:solidFill>
                <a:latin typeface="Arial"/>
                <a:ea typeface="Arial"/>
                <a:cs typeface="Arial"/>
              </a:rPr>
              <a:t>Cart at score 6 qualifies.</a:t>
            </a:r>
          </a:p>
          <a:p xmlns:a="http://schemas.openxmlformats.org/drawingml/2006/main">
            <a:pPr>
              <a:defRPr sz="2625" b="1">
                <a:solidFill>
                  <a:srgbClr val="176C75"/>
                </a:solidFill>
                <a:latin typeface="Arial"/>
                <a:ea typeface="Arial"/>
                <a:cs typeface="Arial"/>
              </a:defRPr>
            </a:pPr>
            <a:r>
              <a:rPr sz="2625" b="1">
                <a:solidFill>
                  <a:srgbClr val="176C75"/>
                </a:solidFill>
                <a:latin typeface="Arial"/>
                <a:ea typeface="Arial"/>
                <a:cs typeface="Arial"/>
              </a:rPr>
              <a:t>Purchase at score 16 removes that item from eligibility.</a:t>
            </a:r>
          </a:p>
        </p:txBody>
      </p:sp>
    </p:spTree>
    <p:extLst>
      <p:ext uri="{BB962C8B-B14F-4D97-AF65-F5344CB8AC3E}">
        <p14:creationId xmlns:p14="http://schemas.microsoft.com/office/powerpoint/2010/main" val="1247785385"/>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167D2F6-0058-46E1-B525-5DF22C9B25C6}"/>
              </a:ext>
            </a:extLst>
          </p:cNvPr>
          <p:cNvSpPr>
            <a:spLocks xmlns:a="http://schemas.openxmlformats.org/drawingml/2006/main" noGrp="1"/>
          </p:cNvSpPr>
          <p:nvPr/>
        </p:nvSpPr>
        <p:spPr>
          <a:xfrm xmlns:a="http://schemas.openxmlformats.org/drawingml/2006/main">
            <a:off x="609600" y="47625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42839"/>
                </a:solidFill>
                <a:latin typeface="Arial"/>
                <a:ea typeface="Arial"/>
                <a:cs typeface="Arial"/>
              </a:defRPr>
            </a:defPPr>
          </a:lstStyle>
          <a:p xmlns:a="http://schemas.openxmlformats.org/drawingml/2006/main">
            <a:pPr>
              <a:defRPr sz="3300" b="1">
                <a:solidFill>
                  <a:srgbClr val="142839"/>
                </a:solidFill>
                <a:latin typeface="Arial"/>
                <a:ea typeface="Arial"/>
                <a:cs typeface="Arial"/>
              </a:defRPr>
            </a:pPr>
            <a:r>
              <a:rPr sz="3300" b="1">
                <a:solidFill>
                  <a:srgbClr val="142839"/>
                </a:solidFill>
                <a:latin typeface="Arial"/>
                <a:ea typeface="Arial"/>
                <a:cs typeface="Arial"/>
              </a:rPr>
              <a:t>Single-command setup and observable output</a:t>
            </a:r>
          </a:p>
        </p:txBody>
      </p:sp>
      <p:sp>
        <p:nvSpPr>
          <p:cNvPr id="2" name="">
            <a:extLst xmlns:a="http://schemas.openxmlformats.org/drawingml/2006/main">
              <a:ext uri="{FF2B5EF4-FFF2-40B4-BE49-F238E27FC236}">
                <a16:creationId xmlns:a16="http://schemas.microsoft.com/office/drawing/2014/main" id="{0D162540-7165-40D9-A01F-8A20652F7752}"/>
              </a:ext>
            </a:extLst>
          </p:cNvPr>
          <p:cNvSpPr>
            <a:spLocks xmlns:a="http://schemas.openxmlformats.org/drawingml/2006/main" noGrp="1"/>
          </p:cNvSpPr>
          <p:nvPr/>
        </p:nvSpPr>
        <p:spPr>
          <a:xfrm xmlns:a="http://schemas.openxmlformats.org/drawingml/2006/main">
            <a:off x="704850" y="18573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176C75"/>
                </a:solidFill>
                <a:latin typeface="Arial"/>
                <a:ea typeface="Arial"/>
                <a:cs typeface="Arial"/>
              </a:defRPr>
            </a:defPPr>
          </a:lstStyle>
          <a:p xmlns:a="http://schemas.openxmlformats.org/drawingml/2006/main">
            <a:pPr>
              <a:defRPr sz="2850" b="1">
                <a:solidFill>
                  <a:srgbClr val="176C75"/>
                </a:solidFill>
                <a:latin typeface="Arial"/>
                <a:ea typeface="Arial"/>
                <a:cs typeface="Arial"/>
              </a:defRPr>
            </a:pPr>
            <a:r>
              <a:rPr sz="2850" b="1">
                <a:solidFill>
                  <a:srgbClr val="176C75"/>
                </a:solidFill>
                <a:latin typeface="Arial"/>
                <a:ea typeface="Arial"/>
                <a:cs typeface="Arial"/>
              </a:rPr>
              <a:t>docker compose up --build -d</a:t>
            </a:r>
          </a:p>
        </p:txBody>
      </p:sp>
      <p:sp>
        <p:nvSpPr>
          <p:cNvPr id="3" name="">
            <a:extLst xmlns:a="http://schemas.openxmlformats.org/drawingml/2006/main">
              <a:ext uri="{FF2B5EF4-FFF2-40B4-BE49-F238E27FC236}">
                <a16:creationId xmlns:a16="http://schemas.microsoft.com/office/drawing/2014/main" id="{19DD6957-F735-422D-88D5-A8DB8F6E8BCC}"/>
              </a:ext>
            </a:extLst>
          </p:cNvPr>
          <p:cNvSpPr>
            <a:spLocks xmlns:a="http://schemas.openxmlformats.org/drawingml/2006/main" noGrp="1"/>
          </p:cNvSpPr>
          <p:nvPr/>
        </p:nvSpPr>
        <p:spPr>
          <a:xfrm xmlns:a="http://schemas.openxmlformats.org/drawingml/2006/main">
            <a:off x="704850" y="29527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142839"/>
                </a:solidFill>
                <a:latin typeface="Arial"/>
                <a:ea typeface="Arial"/>
                <a:cs typeface="Arial"/>
              </a:defRPr>
            </a:defPPr>
          </a:lstStyle>
          <a:p xmlns:a="http://schemas.openxmlformats.org/drawingml/2006/main">
            <a:pPr>
              <a:defRPr sz="2400" b="1">
                <a:solidFill>
                  <a:srgbClr val="142839"/>
                </a:solidFill>
                <a:latin typeface="Arial"/>
                <a:ea typeface="Arial"/>
                <a:cs typeface="Arial"/>
              </a:defRPr>
            </a:pPr>
            <a:r>
              <a:rPr sz="2400" b="1">
                <a:solidFill>
                  <a:srgbClr val="142839"/>
                </a:solidFill>
                <a:latin typeface="Arial"/>
                <a:ea typeface="Arial"/>
                <a:cs typeface="Arial"/>
              </a:rPr>
              <a:t>docker compose logs -f producer spark</a:t>
            </a:r>
          </a:p>
        </p:txBody>
      </p:sp>
      <p:sp>
        <p:nvSpPr>
          <p:cNvPr id="4" name="">
            <a:extLst xmlns:a="http://schemas.openxmlformats.org/drawingml/2006/main">
              <a:ext uri="{FF2B5EF4-FFF2-40B4-BE49-F238E27FC236}">
                <a16:creationId xmlns:a16="http://schemas.microsoft.com/office/drawing/2014/main" id="{14DB21B3-19CA-45E2-BDA2-B8AA1E9DB6F4}"/>
              </a:ext>
            </a:extLst>
          </p:cNvPr>
          <p:cNvSpPr>
            <a:spLocks xmlns:a="http://schemas.openxmlformats.org/drawingml/2006/main" noGrp="1"/>
          </p:cNvSpPr>
          <p:nvPr/>
        </p:nvSpPr>
        <p:spPr>
          <a:xfrm xmlns:a="http://schemas.openxmlformats.org/drawingml/2006/main">
            <a:off x="704850" y="409575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142839"/>
                </a:solidFill>
                <a:latin typeface="Arial"/>
                <a:ea typeface="Arial"/>
                <a:cs typeface="Arial"/>
              </a:defRPr>
            </a:defPPr>
          </a:lstStyle>
          <a:p xmlns:a="http://schemas.openxmlformats.org/drawingml/2006/main">
            <a:pPr>
              <a:defRPr sz="2325" b="0">
                <a:solidFill>
                  <a:srgbClr val="142839"/>
                </a:solidFill>
                <a:latin typeface="Arial"/>
                <a:ea typeface="Arial"/>
                <a:cs typeface="Arial"/>
              </a:defRPr>
            </a:pPr>
            <a:r>
              <a:rPr sz="2325" b="0">
                <a:solidFill>
                  <a:srgbClr val="142839"/>
                </a:solidFill>
                <a:latin typeface="Arial"/>
                <a:ea typeface="Arial"/>
                <a:cs typeface="Arial"/>
              </a:rPr>
              <a:t>Host Kafka     localhost:29092</a:t>
            </a:r>
          </a:p>
          <a:p xmlns:a="http://schemas.openxmlformats.org/drawingml/2006/main">
            <a:pPr>
              <a:defRPr sz="2325" b="0">
                <a:solidFill>
                  <a:srgbClr val="142839"/>
                </a:solidFill>
                <a:latin typeface="Arial"/>
                <a:ea typeface="Arial"/>
                <a:cs typeface="Arial"/>
              </a:defRPr>
            </a:pPr>
            <a:r>
              <a:rPr sz="2325" b="0">
                <a:solidFill>
                  <a:srgbClr val="142839"/>
                </a:solidFill>
                <a:latin typeface="Arial"/>
                <a:ea typeface="Arial"/>
                <a:cs typeface="Arial"/>
              </a:rPr>
              <a:t>Spark UI         localhost:4040</a:t>
            </a:r>
          </a:p>
        </p:txBody>
      </p:sp>
      <p:sp>
        <p:nvSpPr>
          <p:cNvPr id="5" name="">
            <a:extLst xmlns:a="http://schemas.openxmlformats.org/drawingml/2006/main">
              <a:ext uri="{FF2B5EF4-FFF2-40B4-BE49-F238E27FC236}">
                <a16:creationId xmlns:a16="http://schemas.microsoft.com/office/drawing/2014/main" id="{98DF3759-61F9-4822-B27C-4A1129ABC07D}"/>
              </a:ext>
            </a:extLst>
          </p:cNvPr>
          <p:cNvSpPr>
            <a:spLocks xmlns:a="http://schemas.openxmlformats.org/drawingml/2006/main" noGrp="1"/>
          </p:cNvSpPr>
          <p:nvPr/>
        </p:nvSpPr>
        <p:spPr>
          <a:xfrm xmlns:a="http://schemas.openxmlformats.org/drawingml/2006/main">
            <a:off x="704850" y="3619500"/>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42839"/>
                </a:solidFill>
                <a:latin typeface="Arial"/>
                <a:ea typeface="Arial"/>
                <a:cs typeface="Arial"/>
              </a:defRPr>
            </a:defPPr>
          </a:lstStyle>
          <a:p xmlns:a="http://schemas.openxmlformats.org/drawingml/2006/main">
            <a:pPr>
              <a:defRPr sz="2025" b="1">
                <a:solidFill>
                  <a:srgbClr val="142839"/>
                </a:solidFill>
                <a:latin typeface="Arial"/>
                <a:ea typeface="Arial"/>
                <a:cs typeface="Arial"/>
              </a:defRPr>
            </a:pPr>
            <a:r>
              <a:rPr sz="2025" b="1">
                <a:solidFill>
                  <a:srgbClr val="142839"/>
                </a:solidFill>
                <a:latin typeface="Arial"/>
                <a:ea typeface="Arial"/>
                <a:cs typeface="Arial"/>
              </a:rPr>
              <a:t>docker compose --profile tools run --rm verify-full</a:t>
            </a:r>
          </a:p>
        </p:txBody>
      </p:sp>
      <p:sp>
        <p:nvSpPr>
          <p:cNvPr id="6" name="">
            <a:extLst xmlns:a="http://schemas.openxmlformats.org/drawingml/2006/main">
              <a:ext uri="{FF2B5EF4-FFF2-40B4-BE49-F238E27FC236}">
                <a16:creationId xmlns:a16="http://schemas.microsoft.com/office/drawing/2014/main" id="{B8BF479C-DA28-44FA-BB52-CA59EF5EA726}"/>
              </a:ext>
            </a:extLst>
          </p:cNvPr>
          <p:cNvSpPr>
            <a:spLocks xmlns:a="http://schemas.openxmlformats.org/drawingml/2006/main" noGrp="1"/>
          </p:cNvSpPr>
          <p:nvPr/>
        </p:nvSpPr>
        <p:spPr>
          <a:xfrm xmlns:a="http://schemas.openxmlformats.org/drawingml/2006/main">
            <a:off x="704850" y="56673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42586A"/>
                </a:solidFill>
                <a:latin typeface="Arial"/>
                <a:ea typeface="Arial"/>
                <a:cs typeface="Arial"/>
              </a:defRPr>
            </a:defPPr>
          </a:lstStyle>
          <a:p xmlns:a="http://schemas.openxmlformats.org/drawingml/2006/main">
            <a:pPr>
              <a:defRPr sz="2100" b="0">
                <a:solidFill>
                  <a:srgbClr val="42586A"/>
                </a:solidFill>
                <a:latin typeface="Arial"/>
                <a:ea typeface="Arial"/>
                <a:cs typeface="Arial"/>
              </a:defRPr>
            </a:pPr>
            <a:r>
              <a:rPr sz="2100" b="0">
                <a:solidFill>
                  <a:srgbClr val="42586A"/>
                </a:solidFill>
                <a:latin typeface="Arial"/>
                <a:ea typeface="Arial"/>
                <a:cs typeface="Arial"/>
              </a:rPr>
              <a:t>Verify all 2,756,101 events before class.</a:t>
            </a:r>
          </a:p>
        </p:txBody>
      </p:sp>
    </p:spTree>
    <p:extLst>
      <p:ext uri="{BB962C8B-B14F-4D97-AF65-F5344CB8AC3E}">
        <p14:creationId xmlns:p14="http://schemas.microsoft.com/office/powerpoint/2010/main" val="357869404"/>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3" name="">
            <a:extLst xmlns:a="http://schemas.openxmlformats.org/drawingml/2006/main">
              <a:ext uri="{FF2B5EF4-FFF2-40B4-BE49-F238E27FC236}">
                <a16:creationId xmlns:a16="http://schemas.microsoft.com/office/drawing/2014/main" id="{83CD2076-540A-4120-98F2-F6CD0FD25535}"/>
              </a:ext>
            </a:extLst>
          </p:cNvPr>
          <p:cNvSpPr>
            <a:spLocks xmlns:a="http://schemas.openxmlformats.org/drawingml/2006/main" noGrp="1"/>
          </p:cNvSpPr>
          <p:nvPr/>
        </p:nvSpPr>
        <p:spPr>
          <a:xfrm xmlns:a="http://schemas.openxmlformats.org/drawingml/2006/main">
            <a:off x="609600" y="47625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42839"/>
                </a:solidFill>
                <a:latin typeface="Arial"/>
                <a:ea typeface="Arial"/>
                <a:cs typeface="Arial"/>
              </a:defRPr>
            </a:defPPr>
          </a:lstStyle>
          <a:p xmlns:a="http://schemas.openxmlformats.org/drawingml/2006/main">
            <a:pPr>
              <a:defRPr sz="3300" b="1">
                <a:solidFill>
                  <a:srgbClr val="142839"/>
                </a:solidFill>
                <a:latin typeface="Arial"/>
                <a:ea typeface="Arial"/>
                <a:cs typeface="Arial"/>
              </a:defRPr>
            </a:pPr>
            <a:r>
              <a:rPr sz="3300" b="1">
                <a:solidFill>
                  <a:srgbClr val="142839"/>
                </a:solidFill>
                <a:latin typeface="Arial"/>
                <a:ea typeface="Arial"/>
                <a:cs typeface="Arial"/>
              </a:rPr>
              <a:t>Classroom demonstration schedule</a:t>
            </a:r>
          </a:p>
        </p:txBody>
      </p:sp>
      <p:graphicFrame>
        <p:nvGraphicFramePr>
          <p:cNvPr id="2" name="">
            <a:extLst xmlns:a="http://schemas.openxmlformats.org/drawingml/2006/main">
              <a:ext uri="{FF2B5EF4-FFF2-40B4-BE49-F238E27FC236}">
                <a16:creationId xmlns:a16="http://schemas.microsoft.com/office/drawing/2014/main" id="{B158F4EF-239A-48CA-876D-8167F55BF723}"/>
              </a:ext>
            </a:extLst>
          </p:cNvPr>
          <p:cNvGraphicFramePr/>
          <p:nvPr/>
        </p:nvGraphicFramePr>
        <p:xfrm>
          <a:off xmlns:a="http://schemas.openxmlformats.org/drawingml/2006/main" x="609600" y="1714500"/>
          <a:ext xmlns:a="http://schemas.openxmlformats.org/drawingml/2006/main" cx="10972800" cy="4000500"/>
        </p:xfrm>
        <a:graphic xmlns:a="http://schemas.openxmlformats.org/drawingml/2006/main">
          <a:graphicData uri="http://schemas.openxmlformats.org/drawingml/2006/table">
            <a:tbl>
              <a:tblPr/>
              <a:tblGrid>
                <a:gridCol w="3333750"/>
                <a:gridCol w="7639050"/>
              </a:tblGrid>
              <a:tr h="571500">
                <a:tc>
                  <a:txBody>
                    <a:bodyPr/>
                    <a:lstStyle/>
                    <a:p>
                      <a:r>
                        <a:rPr sz="1875" b="1">
                          <a:solidFill>
                            <a:srgbClr val="FFFFFF"/>
                          </a:solidFill>
                          <a:latin typeface="Arial"/>
                          <a:ea typeface="Arial"/>
                          <a:cs typeface="Arial"/>
                        </a:rPr>
                        <a:t>Time</a:t>
                      </a:r>
                    </a:p>
                  </a:txBody>
                  <a:tcPr marL="91440" marR="91440" marT="45720" marB="45720">
                    <a:solidFill>
                      <a:srgbClr val="142839"/>
                    </a:solidFill>
                  </a:tcPr>
                </a:tc>
                <a:tc>
                  <a:txBody>
                    <a:bodyPr/>
                    <a:lstStyle/>
                    <a:p>
                      <a:r>
                        <a:rPr sz="1875" b="1">
                          <a:solidFill>
                            <a:srgbClr val="FFFFFF"/>
                          </a:solidFill>
                          <a:latin typeface="Arial"/>
                          <a:ea typeface="Arial"/>
                          <a:cs typeface="Arial"/>
                        </a:rPr>
                        <a:t>Live evidence</a:t>
                      </a:r>
                    </a:p>
                  </a:txBody>
                  <a:tcPr marL="91440" marR="91440" marT="45720" marB="45720">
                    <a:solidFill>
                      <a:srgbClr val="142839"/>
                    </a:solidFill>
                  </a:tcPr>
                </a:tc>
              </a:tr>
              <a:tr h="571500">
                <a:tc>
                  <a:txBody>
                    <a:bodyPr/>
                    <a:lstStyle/>
                    <a:p>
                      <a:r>
                        <a:rPr sz="1875" b="0">
                          <a:solidFill>
                            <a:srgbClr val="142839"/>
                          </a:solidFill>
                          <a:latin typeface="Arial"/>
                          <a:ea typeface="Arial"/>
                          <a:cs typeface="Arial"/>
                        </a:rPr>
                        <a:t>0 to 2 minutes</a:t>
                      </a:r>
                    </a:p>
                  </a:txBody>
                  <a:tcPr marL="91440" marR="91440" marT="45720" marB="45720">
                    <a:solidFill>
                      <a:srgbClr val="FFFFFF"/>
                    </a:solidFill>
                  </a:tcPr>
                </a:tc>
                <a:tc>
                  <a:txBody>
                    <a:bodyPr/>
                    <a:lstStyle/>
                    <a:p>
                      <a:r>
                        <a:rPr sz="1875" b="0">
                          <a:solidFill>
                            <a:srgbClr val="142839"/>
                          </a:solidFill>
                          <a:latin typeface="Arial"/>
                          <a:ea typeface="Arial"/>
                          <a:cs typeface="Arial"/>
                        </a:rPr>
                        <a:t>Full-source business case and event contract</a:t>
                      </a:r>
                    </a:p>
                  </a:txBody>
                  <a:tcPr marL="91440" marR="91440" marT="45720" marB="45720">
                    <a:solidFill>
                      <a:srgbClr val="FFFFFF"/>
                    </a:solidFill>
                  </a:tcPr>
                </a:tc>
              </a:tr>
              <a:tr h="571500">
                <a:tc>
                  <a:txBody>
                    <a:bodyPr/>
                    <a:lstStyle/>
                    <a:p>
                      <a:r>
                        <a:rPr sz="1875" b="0">
                          <a:solidFill>
                            <a:srgbClr val="142839"/>
                          </a:solidFill>
                          <a:latin typeface="Arial"/>
                          <a:ea typeface="Arial"/>
                          <a:cs typeface="Arial"/>
                        </a:rPr>
                        <a:t>2 to 4 minutes</a:t>
                      </a:r>
                    </a:p>
                  </a:txBody>
                  <a:tcPr marL="91440" marR="91440" marT="45720" marB="45720">
                    <a:solidFill>
                      <a:srgbClr val="EDF2F4"/>
                    </a:solidFill>
                  </a:tcPr>
                </a:tc>
                <a:tc>
                  <a:txBody>
                    <a:bodyPr/>
                    <a:lstStyle/>
                    <a:p>
                      <a:r>
                        <a:rPr sz="1875" b="0">
                          <a:solidFill>
                            <a:srgbClr val="142839"/>
                          </a:solidFill>
                          <a:latin typeface="Arial"/>
                          <a:ea typeface="Arial"/>
                          <a:cs typeface="Arial"/>
                        </a:rPr>
                        <a:t>Kafka partitions and full producer receipt</a:t>
                      </a:r>
                    </a:p>
                  </a:txBody>
                  <a:tcPr marL="91440" marR="91440" marT="45720" marB="45720">
                    <a:solidFill>
                      <a:srgbClr val="EDF2F4"/>
                    </a:solidFill>
                  </a:tcPr>
                </a:tc>
              </a:tr>
              <a:tr h="571500">
                <a:tc>
                  <a:txBody>
                    <a:bodyPr/>
                    <a:lstStyle/>
                    <a:p>
                      <a:r>
                        <a:rPr sz="1875" b="0">
                          <a:solidFill>
                            <a:srgbClr val="142839"/>
                          </a:solidFill>
                          <a:latin typeface="Arial"/>
                          <a:ea typeface="Arial"/>
                          <a:cs typeface="Arial"/>
                        </a:rPr>
                        <a:t>4 to 6 minutes</a:t>
                      </a:r>
                    </a:p>
                  </a:txBody>
                  <a:tcPr marL="91440" marR="91440" marT="45720" marB="45720">
                    <a:solidFill>
                      <a:srgbClr val="FFFFFF"/>
                    </a:solidFill>
                  </a:tcPr>
                </a:tc>
                <a:tc>
                  <a:txBody>
                    <a:bodyPr/>
                    <a:lstStyle/>
                    <a:p>
                      <a:r>
                        <a:rPr sz="1875" b="0">
                          <a:solidFill>
                            <a:srgbClr val="142839"/>
                          </a:solidFill>
                          <a:latin typeface="Arial"/>
                          <a:ea typeface="Arial"/>
                          <a:cs typeface="Arial"/>
                        </a:rPr>
                        <a:t>Full replay verification and PySpark logs</a:t>
                      </a:r>
                    </a:p>
                  </a:txBody>
                  <a:tcPr marL="91440" marR="91440" marT="45720" marB="45720">
                    <a:solidFill>
                      <a:srgbClr val="FFFFFF"/>
                    </a:solidFill>
                  </a:tcPr>
                </a:tc>
              </a:tr>
              <a:tr h="571500">
                <a:tc>
                  <a:txBody>
                    <a:bodyPr/>
                    <a:lstStyle/>
                    <a:p>
                      <a:r>
                        <a:rPr sz="1875" b="0">
                          <a:solidFill>
                            <a:srgbClr val="142839"/>
                          </a:solidFill>
                          <a:latin typeface="Arial"/>
                          <a:ea typeface="Arial"/>
                          <a:cs typeface="Arial"/>
                        </a:rPr>
                        <a:t>6 to 9 minutes</a:t>
                      </a:r>
                    </a:p>
                  </a:txBody>
                  <a:tcPr marL="91440" marR="91440" marT="45720" marB="45720">
                    <a:solidFill>
                      <a:srgbClr val="EDF2F4"/>
                    </a:solidFill>
                  </a:tcPr>
                </a:tc>
                <a:tc>
                  <a:txBody>
                    <a:bodyPr/>
                    <a:lstStyle/>
                    <a:p>
                      <a:r>
                        <a:rPr sz="1875" b="0">
                          <a:solidFill>
                            <a:srgbClr val="142839"/>
                          </a:solidFill>
                          <a:latin typeface="Arial"/>
                          <a:ea typeface="Arial"/>
                          <a:cs typeface="Arial"/>
                        </a:rPr>
                        <a:t>Genuine cart trace and purchase retraction</a:t>
                      </a:r>
                    </a:p>
                  </a:txBody>
                  <a:tcPr marL="91440" marR="91440" marT="45720" marB="45720">
                    <a:solidFill>
                      <a:srgbClr val="EDF2F4"/>
                    </a:solidFill>
                  </a:tcPr>
                </a:tc>
              </a:tr>
              <a:tr h="571500">
                <a:tc>
                  <a:txBody>
                    <a:bodyPr/>
                    <a:lstStyle/>
                    <a:p>
                      <a:r>
                        <a:rPr sz="1875" b="0">
                          <a:solidFill>
                            <a:srgbClr val="142839"/>
                          </a:solidFill>
                          <a:latin typeface="Arial"/>
                          <a:ea typeface="Arial"/>
                          <a:cs typeface="Arial"/>
                        </a:rPr>
                        <a:t>9 to 11 minutes</a:t>
                      </a:r>
                    </a:p>
                  </a:txBody>
                  <a:tcPr marL="91440" marR="91440" marT="45720" marB="45720">
                    <a:solidFill>
                      <a:srgbClr val="FFFFFF"/>
                    </a:solidFill>
                  </a:tcPr>
                </a:tc>
                <a:tc>
                  <a:txBody>
                    <a:bodyPr/>
                    <a:lstStyle/>
                    <a:p>
                      <a:r>
                        <a:rPr sz="1875" b="0">
                          <a:solidFill>
                            <a:srgbClr val="142839"/>
                          </a:solidFill>
                          <a:latin typeface="Arial"/>
                          <a:ea typeface="Arial"/>
                          <a:cs typeface="Arial"/>
                        </a:rPr>
                        <a:t>Parquet, watermark metrics and checkpoints</a:t>
                      </a:r>
                    </a:p>
                  </a:txBody>
                  <a:tcPr marL="91440" marR="91440" marT="45720" marB="45720">
                    <a:solidFill>
                      <a:srgbClr val="FFFFFF"/>
                    </a:solidFill>
                  </a:tcPr>
                </a:tc>
              </a:tr>
              <a:tr h="571500">
                <a:tc>
                  <a:txBody>
                    <a:bodyPr/>
                    <a:lstStyle/>
                    <a:p>
                      <a:r>
                        <a:rPr sz="1875" b="0">
                          <a:solidFill>
                            <a:srgbClr val="142839"/>
                          </a:solidFill>
                          <a:latin typeface="Arial"/>
                          <a:ea typeface="Arial"/>
                          <a:cs typeface="Arial"/>
                        </a:rPr>
                        <a:t>11 to 13 minutes</a:t>
                      </a:r>
                    </a:p>
                  </a:txBody>
                  <a:tcPr marL="91440" marR="91440" marT="45720" marB="45720">
                    <a:solidFill>
                      <a:srgbClr val="EDF2F4"/>
                    </a:solidFill>
                  </a:tcPr>
                </a:tc>
                <a:tc>
                  <a:txBody>
                    <a:bodyPr/>
                    <a:lstStyle/>
                    <a:p>
                      <a:r>
                        <a:rPr sz="1875" b="0">
                          <a:solidFill>
                            <a:srgbClr val="142839"/>
                          </a:solidFill>
                          <a:latin typeface="Arial"/>
                          <a:ea typeface="Arial"/>
                          <a:cs typeface="Arial"/>
                        </a:rPr>
                        <a:t>Restart, recovery checks and limitations</a:t>
                      </a:r>
                    </a:p>
                  </a:txBody>
                  <a:tcPr marL="91440" marR="91440" marT="45720" marB="45720">
                    <a:solidFill>
                      <a:srgbClr val="EDF2F4"/>
                    </a:solidFill>
                  </a:tcPr>
                </a:tc>
              </a:tr>
            </a:tbl>
          </a:graphicData>
        </a:graphic>
      </p:graphicFrame>
    </p:spTree>
    <p:extLst>
      <p:ext uri="{BB962C8B-B14F-4D97-AF65-F5344CB8AC3E}">
        <p14:creationId xmlns:p14="http://schemas.microsoft.com/office/powerpoint/2010/main" val="178760619"/>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3F955590-E026-4D15-B45D-D794A4B0995E}"/>
              </a:ext>
            </a:extLst>
          </p:cNvPr>
          <p:cNvSpPr>
            <a:spLocks xmlns:a="http://schemas.openxmlformats.org/drawingml/2006/main" noGrp="1"/>
          </p:cNvSpPr>
          <p:nvPr/>
        </p:nvSpPr>
        <p:spPr>
          <a:xfrm xmlns:a="http://schemas.openxmlformats.org/drawingml/2006/main">
            <a:off x="609600" y="476250"/>
            <a:ext cx="109347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142839"/>
                </a:solidFill>
                <a:latin typeface="Arial"/>
                <a:ea typeface="Arial"/>
                <a:cs typeface="Arial"/>
              </a:defRPr>
            </a:defPPr>
          </a:lstStyle>
          <a:p xmlns:a="http://schemas.openxmlformats.org/drawingml/2006/main">
            <a:pPr>
              <a:defRPr sz="3300" b="1">
                <a:solidFill>
                  <a:srgbClr val="142839"/>
                </a:solidFill>
                <a:latin typeface="Arial"/>
                <a:ea typeface="Arial"/>
                <a:cs typeface="Arial"/>
              </a:defRPr>
            </a:pPr>
            <a:r>
              <a:rPr sz="3300" b="1">
                <a:solidFill>
                  <a:srgbClr val="142839"/>
                </a:solidFill>
                <a:latin typeface="Arial"/>
                <a:ea typeface="Arial"/>
                <a:cs typeface="Arial"/>
              </a:rPr>
              <a:t>Validation evidence and remaining checks</a:t>
            </a:r>
          </a:p>
        </p:txBody>
      </p:sp>
      <p:graphicFrame>
        <p:nvGraphicFramePr>
          <p:cNvPr id="2" name="">
            <a:extLst xmlns:a="http://schemas.openxmlformats.org/drawingml/2006/main">
              <a:ext uri="{FF2B5EF4-FFF2-40B4-BE49-F238E27FC236}">
                <a16:creationId xmlns:a16="http://schemas.microsoft.com/office/drawing/2014/main" id="{8BA39C50-9C57-4F5E-B652-795DCDDF8F35}"/>
              </a:ext>
            </a:extLst>
          </p:cNvPr>
          <p:cNvGraphicFramePr/>
          <p:nvPr/>
        </p:nvGraphicFramePr>
        <p:xfrm>
          <a:off xmlns:a="http://schemas.openxmlformats.org/drawingml/2006/main" x="609600" y="1762125"/>
          <a:ext xmlns:a="http://schemas.openxmlformats.org/drawingml/2006/main" cx="10972800" cy="3143250"/>
        </p:xfrm>
        <a:graphic xmlns:a="http://schemas.openxmlformats.org/drawingml/2006/main">
          <a:graphicData uri="http://schemas.openxmlformats.org/drawingml/2006/table">
            <a:tbl>
              <a:tblPr/>
              <a:tblGrid>
                <a:gridCol w="6572250"/>
                <a:gridCol w="4400550"/>
              </a:tblGrid>
              <a:tr h="449036">
                <a:tc>
                  <a:txBody>
                    <a:bodyPr/>
                    <a:lstStyle/>
                    <a:p>
                      <a:r>
                        <a:rPr sz="1950" b="1">
                          <a:solidFill>
                            <a:srgbClr val="FFFFFF"/>
                          </a:solidFill>
                          <a:latin typeface="Arial"/>
                          <a:ea typeface="Arial"/>
                          <a:cs typeface="Arial"/>
                        </a:rPr>
                        <a:t>Check</a:t>
                      </a:r>
                    </a:p>
                  </a:txBody>
                  <a:tcPr marL="91440" marR="91440" marT="45720" marB="45720">
                    <a:solidFill>
                      <a:srgbClr val="142839"/>
                    </a:solidFill>
                  </a:tcPr>
                </a:tc>
                <a:tc>
                  <a:txBody>
                    <a:bodyPr/>
                    <a:lstStyle/>
                    <a:p>
                      <a:r>
                        <a:rPr sz="1950" b="1">
                          <a:solidFill>
                            <a:srgbClr val="FFFFFF"/>
                          </a:solidFill>
                          <a:latin typeface="Arial"/>
                          <a:ea typeface="Arial"/>
                          <a:cs typeface="Arial"/>
                        </a:rPr>
                        <a:t>Status</a:t>
                      </a:r>
                    </a:p>
                  </a:txBody>
                  <a:tcPr marL="91440" marR="91440" marT="45720" marB="45720">
                    <a:solidFill>
                      <a:srgbClr val="142839"/>
                    </a:solidFill>
                  </a:tcPr>
                </a:tc>
              </a:tr>
              <a:tr h="449036">
                <a:tc>
                  <a:txBody>
                    <a:bodyPr/>
                    <a:lstStyle/>
                    <a:p>
                      <a:r>
                        <a:rPr sz="1950" b="0">
                          <a:solidFill>
                            <a:srgbClr val="142839"/>
                          </a:solidFill>
                          <a:latin typeface="Arial"/>
                          <a:ea typeface="Arial"/>
                          <a:cs typeface="Arial"/>
                        </a:rPr>
                        <a:t>Python producer, validation and sorting</a:t>
                      </a:r>
                    </a:p>
                  </a:txBody>
                  <a:tcPr marL="91440" marR="91440" marT="45720" marB="45720">
                    <a:solidFill>
                      <a:srgbClr val="FFFFFF"/>
                    </a:solidFill>
                  </a:tcPr>
                </a:tc>
                <a:tc>
                  <a:txBody>
                    <a:bodyPr/>
                    <a:lstStyle/>
                    <a:p>
                      <a:r>
                        <a:rPr sz="1950" b="0">
                          <a:solidFill>
                            <a:srgbClr val="142839"/>
                          </a:solidFill>
                          <a:latin typeface="Arial"/>
                          <a:ea typeface="Arial"/>
                          <a:cs typeface="Arial"/>
                        </a:rPr>
                        <a:t>11 tests passed</a:t>
                      </a:r>
                    </a:p>
                  </a:txBody>
                  <a:tcPr marL="91440" marR="91440" marT="45720" marB="45720">
                    <a:solidFill>
                      <a:srgbClr val="FFFFFF"/>
                    </a:solidFill>
                  </a:tcPr>
                </a:tc>
              </a:tr>
              <a:tr h="449036">
                <a:tc>
                  <a:txBody>
                    <a:bodyPr/>
                    <a:lstStyle/>
                    <a:p>
                      <a:r>
                        <a:rPr sz="1950" b="0">
                          <a:solidFill>
                            <a:srgbClr val="142839"/>
                          </a:solidFill>
                          <a:latin typeface="Arial"/>
                          <a:ea typeface="Arial"/>
                          <a:cs typeface="Arial"/>
                        </a:rPr>
                        <a:t>PySpark parsing, scoring and recommendations</a:t>
                      </a:r>
                    </a:p>
                  </a:txBody>
                  <a:tcPr marL="91440" marR="91440" marT="45720" marB="45720">
                    <a:solidFill>
                      <a:srgbClr val="EDF2F4"/>
                    </a:solidFill>
                  </a:tcPr>
                </a:tc>
                <a:tc>
                  <a:txBody>
                    <a:bodyPr/>
                    <a:lstStyle/>
                    <a:p>
                      <a:r>
                        <a:rPr sz="1950" b="0">
                          <a:solidFill>
                            <a:srgbClr val="142839"/>
                          </a:solidFill>
                          <a:latin typeface="Arial"/>
                          <a:ea typeface="Arial"/>
                          <a:cs typeface="Arial"/>
                        </a:rPr>
                        <a:t>5 tests passed</a:t>
                      </a:r>
                    </a:p>
                  </a:txBody>
                  <a:tcPr marL="91440" marR="91440" marT="45720" marB="45720">
                    <a:solidFill>
                      <a:srgbClr val="EDF2F4"/>
                    </a:solidFill>
                  </a:tcPr>
                </a:tc>
              </a:tr>
              <a:tr h="449036">
                <a:tc>
                  <a:txBody>
                    <a:bodyPr/>
                    <a:lstStyle/>
                    <a:p>
                      <a:r>
                        <a:rPr sz="1950" b="0">
                          <a:solidFill>
                            <a:srgbClr val="142839"/>
                          </a:solidFill>
                          <a:latin typeface="Arial"/>
                          <a:ea typeface="Arial"/>
                          <a:cs typeface="Arial"/>
                        </a:rPr>
                        <a:t>Completion verifier safeguards</a:t>
                      </a:r>
                    </a:p>
                  </a:txBody>
                  <a:tcPr marL="91440" marR="91440" marT="45720" marB="45720">
                    <a:solidFill>
                      <a:srgbClr val="FFFFFF"/>
                    </a:solidFill>
                  </a:tcPr>
                </a:tc>
                <a:tc>
                  <a:txBody>
                    <a:bodyPr/>
                    <a:lstStyle/>
                    <a:p>
                      <a:r>
                        <a:rPr sz="1950" b="0">
                          <a:solidFill>
                            <a:srgbClr val="142839"/>
                          </a:solidFill>
                          <a:latin typeface="Arial"/>
                          <a:ea typeface="Arial"/>
                          <a:cs typeface="Arial"/>
                        </a:rPr>
                        <a:t>5 tests passed</a:t>
                      </a:r>
                    </a:p>
                  </a:txBody>
                  <a:tcPr marL="91440" marR="91440" marT="45720" marB="45720">
                    <a:solidFill>
                      <a:srgbClr val="FFFFFF"/>
                    </a:solidFill>
                  </a:tcPr>
                </a:tc>
              </a:tr>
              <a:tr h="449036">
                <a:tc>
                  <a:txBody>
                    <a:bodyPr/>
                    <a:lstStyle/>
                    <a:p>
                      <a:r>
                        <a:rPr sz="1950" b="0">
                          <a:solidFill>
                            <a:srgbClr val="142839"/>
                          </a:solidFill>
                          <a:latin typeface="Arial"/>
                          <a:ea typeface="Arial"/>
                          <a:cs typeface="Arial"/>
                        </a:rPr>
                        <a:t>Complete source: 2,756,101 events</a:t>
                      </a:r>
                    </a:p>
                  </a:txBody>
                  <a:tcPr marL="91440" marR="91440" marT="45720" marB="45720">
                    <a:solidFill>
                      <a:srgbClr val="EDF2F4"/>
                    </a:solidFill>
                  </a:tcPr>
                </a:tc>
                <a:tc>
                  <a:txBody>
                    <a:bodyPr/>
                    <a:lstStyle/>
                    <a:p>
                      <a:r>
                        <a:rPr sz="1950" b="0">
                          <a:solidFill>
                            <a:srgbClr val="142839"/>
                          </a:solidFill>
                          <a:latin typeface="Arial"/>
                          <a:ea typeface="Arial"/>
                          <a:cs typeface="Arial"/>
                        </a:rPr>
                        <a:t>Validated and sorted</a:t>
                      </a:r>
                    </a:p>
                  </a:txBody>
                  <a:tcPr marL="91440" marR="91440" marT="45720" marB="45720">
                    <a:solidFill>
                      <a:srgbClr val="EDF2F4"/>
                    </a:solidFill>
                  </a:tcPr>
                </a:tc>
              </a:tr>
              <a:tr h="449036">
                <a:tc>
                  <a:txBody>
                    <a:bodyPr/>
                    <a:lstStyle/>
                    <a:p>
                      <a:r>
                        <a:rPr sz="1950" b="0">
                          <a:solidFill>
                            <a:srgbClr val="142839"/>
                          </a:solidFill>
                          <a:latin typeface="Arial"/>
                          <a:ea typeface="Arial"/>
                          <a:cs typeface="Arial"/>
                        </a:rPr>
                        <a:t>Kafka to Spark to Parquet acceptance</a:t>
                      </a:r>
                    </a:p>
                  </a:txBody>
                  <a:tcPr marL="91440" marR="91440" marT="45720" marB="45720">
                    <a:solidFill>
                      <a:srgbClr val="FFFFFF"/>
                    </a:solidFill>
                  </a:tcPr>
                </a:tc>
                <a:tc>
                  <a:txBody>
                    <a:bodyPr/>
                    <a:lstStyle/>
                    <a:p>
                      <a:r>
                        <a:rPr sz="1950" b="0">
                          <a:solidFill>
                            <a:srgbClr val="142839"/>
                          </a:solidFill>
                          <a:latin typeface="Arial"/>
                          <a:ea typeface="Arial"/>
                          <a:cs typeface="Arial"/>
                        </a:rPr>
                        <a:t>Linux Docker checks supplied</a:t>
                      </a:r>
                    </a:p>
                  </a:txBody>
                  <a:tcPr marL="91440" marR="91440" marT="45720" marB="45720">
                    <a:solidFill>
                      <a:srgbClr val="FFFFFF"/>
                    </a:solidFill>
                  </a:tcPr>
                </a:tc>
              </a:tr>
              <a:tr h="449036">
                <a:tc>
                  <a:txBody>
                    <a:bodyPr/>
                    <a:lstStyle/>
                    <a:p>
                      <a:r>
                        <a:rPr sz="1950" b="0">
                          <a:solidFill>
                            <a:srgbClr val="142839"/>
                          </a:solidFill>
                          <a:latin typeface="Arial"/>
                          <a:ea typeface="Arial"/>
                          <a:cs typeface="Arial"/>
                        </a:rPr>
                        <a:t>Sink failure injection and driver recovery</a:t>
                      </a:r>
                    </a:p>
                  </a:txBody>
                  <a:tcPr marL="91440" marR="91440" marT="45720" marB="45720">
                    <a:solidFill>
                      <a:srgbClr val="EDF2F4"/>
                    </a:solidFill>
                  </a:tcPr>
                </a:tc>
                <a:tc>
                  <a:txBody>
                    <a:bodyPr/>
                    <a:lstStyle/>
                    <a:p>
                      <a:r>
                        <a:rPr sz="1950" b="0">
                          <a:solidFill>
                            <a:srgbClr val="142839"/>
                          </a:solidFill>
                          <a:latin typeface="Arial"/>
                          <a:ea typeface="Arial"/>
                          <a:cs typeface="Arial"/>
                        </a:rPr>
                        <a:t>Tests and CI workflow supplied</a:t>
                      </a:r>
                    </a:p>
                  </a:txBody>
                  <a:tcPr marL="91440" marR="91440" marT="45720" marB="45720">
                    <a:solidFill>
                      <a:srgbClr val="EDF2F4"/>
                    </a:solidFill>
                  </a:tcPr>
                </a:tc>
              </a:tr>
            </a:tbl>
          </a:graphicData>
        </a:graphic>
      </p:graphicFrame>
      <p:sp>
        <p:nvSpPr>
          <p:cNvPr id="3" name="">
            <a:extLst xmlns:a="http://schemas.openxmlformats.org/drawingml/2006/main">
              <a:ext uri="{FF2B5EF4-FFF2-40B4-BE49-F238E27FC236}">
                <a16:creationId xmlns:a16="http://schemas.microsoft.com/office/drawing/2014/main" id="{F44B7C52-5077-4B3B-8DA6-E0B5D91368D6}"/>
              </a:ext>
            </a:extLst>
          </p:cNvPr>
          <p:cNvSpPr>
            <a:spLocks xmlns:a="http://schemas.openxmlformats.org/drawingml/2006/main" noGrp="1"/>
          </p:cNvSpPr>
          <p:nvPr/>
        </p:nvSpPr>
        <p:spPr>
          <a:xfrm xmlns:a="http://schemas.openxmlformats.org/drawingml/2006/main">
            <a:off x="704850" y="528637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176C75"/>
                </a:solidFill>
                <a:latin typeface="Arial"/>
                <a:ea typeface="Arial"/>
                <a:cs typeface="Arial"/>
              </a:defRPr>
            </a:defPPr>
          </a:lstStyle>
          <a:p xmlns:a="http://schemas.openxmlformats.org/drawingml/2006/main">
            <a:pPr>
              <a:defRPr sz="2325" b="1">
                <a:solidFill>
                  <a:srgbClr val="176C75"/>
                </a:solidFill>
                <a:latin typeface="Arial"/>
                <a:ea typeface="Arial"/>
                <a:cs typeface="Arial"/>
              </a:defRPr>
            </a:pPr>
            <a:r>
              <a:rPr sz="2325" b="1">
                <a:solidFill>
                  <a:srgbClr val="176C75"/>
                </a:solidFill>
                <a:latin typeface="Arial"/>
                <a:ea typeface="Arial"/>
                <a:cs typeface="Arial"/>
              </a:rPr>
              <a:t>The full report records assumptions, source references</a:t>
            </a:r>
          </a:p>
          <a:p xmlns:a="http://schemas.openxmlformats.org/drawingml/2006/main">
            <a:pPr>
              <a:defRPr sz="2325" b="1">
                <a:solidFill>
                  <a:srgbClr val="176C75"/>
                </a:solidFill>
                <a:latin typeface="Arial"/>
                <a:ea typeface="Arial"/>
                <a:cs typeface="Arial"/>
              </a:defRPr>
            </a:pPr>
            <a:r>
              <a:rPr sz="2325" b="1">
                <a:solidFill>
                  <a:srgbClr val="176C75"/>
                </a:solidFill>
                <a:latin typeface="Arial"/>
                <a:ea typeface="Arial"/>
                <a:cs typeface="Arial"/>
              </a:rPr>
              <a:t>and the exact limits of the recovery guarantee.</a:t>
            </a:r>
          </a:p>
        </p:txBody>
      </p:sp>
    </p:spTree>
    <p:extLst>
      <p:ext uri="{BB962C8B-B14F-4D97-AF65-F5344CB8AC3E}">
        <p14:creationId xmlns:p14="http://schemas.microsoft.com/office/powerpoint/2010/main" val="175920305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2026-10-10T13:48:16.0600000Z</dcterms:created>
  <dcterms:modified xsi:type="dcterms:W3CDTF">2026-10-10T13:48:16.0600000Z</dcterms:modified>
</coreProperties>
</file>