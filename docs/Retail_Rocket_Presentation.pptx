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698b70d92049c7" /><Relationship Type="http://schemas.openxmlformats.org/officeDocument/2006/relationships/extended-properties" Target="/docProps/app.xml" Id="R84342d76a19740d9" /><Relationship Type="http://schemas.openxmlformats.org/officeDocument/2006/relationships/officeDocument" Target="/ppt/presentation.xml" Id="R3d2bfd9407714a8c" /></Relationships>
</file>

<file path=ppt/presentation.xml><?xml version="1.0" encoding="utf-8"?>
<p:presentation xmlns:p="http://schemas.openxmlformats.org/presentationml/2006/main">
  <p:sldMasterIdLst>
    <p:sldMasterId xmlns:r="http://schemas.openxmlformats.org/officeDocument/2006/relationships" id="2147483648" r:id="R807d451a09de431f"/>
  </p:sldMasterIdLst>
  <p:notesMasterIdLst>
    <p:notesMasterId xmlns:r="http://schemas.openxmlformats.org/officeDocument/2006/relationships" r:id="R84c2b1a8561e49b7"/>
  </p:notesMasterIdLst>
  <p:sldIdLst>
    <p:sldId xmlns:r="http://schemas.openxmlformats.org/officeDocument/2006/relationships" id="256" r:id="Re3c6e5cbb8e347d4"/>
    <p:sldId xmlns:r="http://schemas.openxmlformats.org/officeDocument/2006/relationships" id="257" r:id="R42d13333563f43fa"/>
    <p:sldId xmlns:r="http://schemas.openxmlformats.org/officeDocument/2006/relationships" id="258" r:id="R62b3dc39c2ae4176"/>
    <p:sldId xmlns:r="http://schemas.openxmlformats.org/officeDocument/2006/relationships" id="259" r:id="R6944b485457449dd"/>
    <p:sldId xmlns:r="http://schemas.openxmlformats.org/officeDocument/2006/relationships" id="260" r:id="Re44e796a01b74324"/>
    <p:sldId xmlns:r="http://schemas.openxmlformats.org/officeDocument/2006/relationships" id="261" r:id="R7cd3974377374a4a"/>
    <p:sldId xmlns:r="http://schemas.openxmlformats.org/officeDocument/2006/relationships" id="262" r:id="R6717a800ae4a4fb4"/>
    <p:sldId xmlns:r="http://schemas.openxmlformats.org/officeDocument/2006/relationships" id="263" r:id="R7b8d3a2c767e48ab"/>
    <p:sldId xmlns:r="http://schemas.openxmlformats.org/officeDocument/2006/relationships" id="264" r:id="R58e293a5e55f4c3e"/>
    <p:sldId xmlns:r="http://schemas.openxmlformats.org/officeDocument/2006/relationships" id="265" r:id="R258d5509b6f049e3"/>
    <p:sldId xmlns:r="http://schemas.openxmlformats.org/officeDocument/2006/relationships" id="266" r:id="R06a982e8075c40e1"/>
    <p:sldId xmlns:r="http://schemas.openxmlformats.org/officeDocument/2006/relationships" id="267" r:id="R9d24b6c9e4a940bd"/>
    <p:sldId xmlns:r="http://schemas.openxmlformats.org/officeDocument/2006/relationships" id="268" r:id="Rb61e767fda6e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6d3050cd274e0e" /><Relationship Type="http://schemas.openxmlformats.org/officeDocument/2006/relationships/slideMaster" Target="/ppt/slideMasters/slideMaster1.xml" Id="R807d451a09de431f" /><Relationship Type="http://schemas.openxmlformats.org/officeDocument/2006/relationships/notesMaster" Target="/ppt/notesMasters/notesMaster1.xml" Id="R84c2b1a8561e49b7" /><Relationship Type="http://schemas.openxmlformats.org/officeDocument/2006/relationships/presProps" Target="/ppt/presProps.xml" Id="Ra57a611b6a444bd9" /><Relationship Type="http://schemas.openxmlformats.org/officeDocument/2006/relationships/tableStyles" Target="/ppt/tableStyles.xml" Id="R5dc46d7116534598" /><Relationship Type="http://schemas.openxmlformats.org/officeDocument/2006/relationships/slide" Target="/ppt/slides/slide1.xml" Id="Re3c6e5cbb8e347d4" /><Relationship Type="http://schemas.openxmlformats.org/officeDocument/2006/relationships/slide" Target="/ppt/slides/slide2.xml" Id="R42d13333563f43fa" /><Relationship Type="http://schemas.openxmlformats.org/officeDocument/2006/relationships/slide" Target="/ppt/slides/slide3.xml" Id="R62b3dc39c2ae4176" /><Relationship Type="http://schemas.openxmlformats.org/officeDocument/2006/relationships/slide" Target="/ppt/slides/slide4.xml" Id="R6944b485457449dd" /><Relationship Type="http://schemas.openxmlformats.org/officeDocument/2006/relationships/slide" Target="/ppt/slides/slide5.xml" Id="Re44e796a01b74324" /><Relationship Type="http://schemas.openxmlformats.org/officeDocument/2006/relationships/slide" Target="/ppt/slides/slide6.xml" Id="R7cd3974377374a4a" /><Relationship Type="http://schemas.openxmlformats.org/officeDocument/2006/relationships/slide" Target="/ppt/slides/slide7.xml" Id="R6717a800ae4a4fb4" /><Relationship Type="http://schemas.openxmlformats.org/officeDocument/2006/relationships/slide" Target="/ppt/slides/slide8.xml" Id="R7b8d3a2c767e48ab" /><Relationship Type="http://schemas.openxmlformats.org/officeDocument/2006/relationships/slide" Target="/ppt/slides/slide9.xml" Id="R58e293a5e55f4c3e" /><Relationship Type="http://schemas.openxmlformats.org/officeDocument/2006/relationships/slide" Target="/ppt/slides/slide10.xml" Id="R258d5509b6f049e3" /><Relationship Type="http://schemas.openxmlformats.org/officeDocument/2006/relationships/slide" Target="/ppt/slides/slide11.xml" Id="R06a982e8075c40e1" /><Relationship Type="http://schemas.openxmlformats.org/officeDocument/2006/relationships/slide" Target="/ppt/slides/slide12.xml" Id="R9d24b6c9e4a940bd" /><Relationship Type="http://schemas.openxmlformats.org/officeDocument/2006/relationships/slide" Target="/ppt/slides/slide13.xml" Id="Rb61e767fda6e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4ab5041ddd4d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a2340bc7654445" /><Relationship Type="http://schemas.openxmlformats.org/officeDocument/2006/relationships/notesMaster" Target="/ppt/notesMasters/notesMaster1.xml" Id="R4dab1552194549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21c0ae41784998" /><Relationship Type="http://schemas.openxmlformats.org/officeDocument/2006/relationships/notesMaster" Target="/ppt/notesMasters/notesMaster1.xml" Id="Rb42c793ff28246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bb26a874664284" /><Relationship Type="http://schemas.openxmlformats.org/officeDocument/2006/relationships/notesMaster" Target="/ppt/notesMasters/notesMaster1.xml" Id="R684b16c9b4684b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789b978f414c68" /><Relationship Type="http://schemas.openxmlformats.org/officeDocument/2006/relationships/notesMaster" Target="/ppt/notesMasters/notesMaster1.xml" Id="R3ab42cae8b2c4a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3a620cb4e747e6" /><Relationship Type="http://schemas.openxmlformats.org/officeDocument/2006/relationships/notesMaster" Target="/ppt/notesMasters/notesMaster1.xml" Id="R354df2a6ccab40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25a560ff5042f1" /><Relationship Type="http://schemas.openxmlformats.org/officeDocument/2006/relationships/notesMaster" Target="/ppt/notesMasters/notesMaster1.xml" Id="R62a3291a055049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6c319be32944d4" /><Relationship Type="http://schemas.openxmlformats.org/officeDocument/2006/relationships/notesMaster" Target="/ppt/notesMasters/notesMaster1.xml" Id="R2e54af0a090f45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7cfebffad64840" /><Relationship Type="http://schemas.openxmlformats.org/officeDocument/2006/relationships/notesMaster" Target="/ppt/notesMasters/notesMaster1.xml" Id="Rc54beb015aab44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0ab6e7f5ba47e4" /><Relationship Type="http://schemas.openxmlformats.org/officeDocument/2006/relationships/notesMaster" Target="/ppt/notesMasters/notesMaster1.xml" Id="R9e60e2f1dc824d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76423e1f8d4e4e" /><Relationship Type="http://schemas.openxmlformats.org/officeDocument/2006/relationships/notesMaster" Target="/ppt/notesMasters/notesMaster1.xml" Id="R3673d3df17d848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966a2b802949a0" /><Relationship Type="http://schemas.openxmlformats.org/officeDocument/2006/relationships/notesMaster" Target="/ppt/notesMasters/notesMaster1.xml" Id="R18a42355f2d142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bb925fa2344039" /><Relationship Type="http://schemas.openxmlformats.org/officeDocument/2006/relationships/notesMaster" Target="/ppt/notesMasters/notesMaster1.xml" Id="R48e3c6121fd847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cbb26fb207473f" /><Relationship Type="http://schemas.openxmlformats.org/officeDocument/2006/relationships/notesMaster" Target="/ppt/notesMasters/notesMaster1.xml" Id="R10af47b2cdf34b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30 seconds. Explain that the pipeline updates cart intent while a visitor is still shopping. The report and repository contain the full implementation. Do not claim a full-stack run until the acceptance checks have actually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 question is which unseen products to suggest while a cart remains unpurchased. The project includes 5,000 genuine events: 4,879 views, 98 carts and 23 transactions. A separate mock script makes the demonstration deterministic. Source: https://www.kaggle.com/datasets/retailrocket/ecommerce-dataset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Explain each processing boundary and that the audit, intent and console queries use separate checkpoints. This is a single-host deployment with two parallel Spark tasks. Sources: delivered docker-compose.yml, streaming_etl.py and retail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Both can use micro-batches. Structured Streaming expresses an unbounded table and incremental query rather than requiring a sequence-of-RDD programming model. The project uses a five-second micro-batch trigger. Sources: https://spark.apache.org/docs/3.5.7/streaming-programming-guide.html and https://spark.apache.org/docs/3.5.7/structured-streaming-programming-guide.html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Define brokers, topics, producers, consumers and consumer groups orally. Kafka orders within partitions and supports independent consumer groups over retained logs. Flume uses source-channel-sink agents. KRaft replaces ZooKeeper metadata coordination in the selected deployment. Sources: https://kafka.apache.org/39/getting-started/introduction/ and https://flume.apache.org/FlumeUserGuide.html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Armbrust et al., Spark SQL: Relational Data Processing in Spark, SIGMOD 2015, DOI 10.1145/2723372.2742797, motivates relational and procedural ETL and presents Catalyst. Apply its ideas by expressing transformations in built-in DataFrame operations. Its paper benchmarks are not this project's measurements. Source: https://jkbradley.github.io/assets/papers/2015_sigmod_spark_sql.pdf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Spark computes ten overlapping windows per event. The serving snapshot chooses one earliest still-active aligned window so popularity is not counted ten times. Watermark progress follows observed event time and can stall when input is idle. Older events are not universally guaranteed to be dropped immediately. The acceptance test places a rejected event beyond all affected windows. Source: https://spark.apache.org/docs/3.5.7/structured-streaming-programming-guide.html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The incomplete threshold in the assignment is resolved as score at least 5, with a cart and zero transactions for the visitor-item pair. A high numeric score alone is insufficient. Values are code constants rather than empirical measurements. Source: retail/transforms.py.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One strongest cart anchor per visitor, then live popularity candidates, exclusion of seen items and top three. The current snapshot replaces earlier output. A purchased anchor is suppressed, but another unpurchased cart may still qualify. This is an explainable rule-based baseline and does not claim online model training. Source: retail/transforms.py.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Native streaming Parquet retains file-sink commits. foreachBatch needs application retry protection. The sink writes state and recommendations to staging, renames the complete epoch and skips that epoch on replay after consuming the stateful batch. Contract: one writer and a same-filesystem local rename. It is not an object-store transaction or a cross-query transaction. Sources: retail/sinks.py and https://spark.apache.org/docs/3.5.7/structured-streaming-programming-guide.html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Use Linux containers and Docker Compose v2.20 or newer. Build before class. The default producer streams the real sample and then exits successfully. Use the terminal to show the topic partitions and Kafka events. Open localhost:4040 for the Spark UI. Source: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a schedule, then spend the time in the terminals. Total target is 13 minutes including the introductory slides. Commands and backup guidance are in DEMO.md. Stop the sample producer before controlled mock or lateness checks. Display saved evidence as saved evidence if a restart is slow.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about 30 seconds. Thirteen local tests passed on portable Java 17 and PySpark 3.5.7. Docker and WSL were absent on the preparation machine, so do not claim an executed Docker stack or invent throughput or accuracy. The provided GitHub Actions workflow runs Linux container acceptance checks after publication. Source: VALIDATION.md. Research references are in REPORT.md and the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aa1a4e4a1b48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75384d83e94d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0ec8130acf4c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3f6dffca8a47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fb5cc63cd34c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d2eb3a63e34d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DE761F-FFCA-460F-BD5D-FDD1D4AABF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CE6F22-7715-42AD-B4FF-A8097B9CE3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E0B9CA5-2B90-44B4-834D-1455A5643C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28B4AB-689C-489D-AA7F-BAC4E0400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60C013-4F01-4F31-9001-541EDCA66B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D4EB90-B927-45B8-957D-C6268FD15C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7744FD-ACD1-4A4C-BD7A-381EEB6F42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103048-CDF3-40D7-8017-2EC2D5CA64B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CB0088-1DA9-4913-B51E-F00FC443C8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413AFA-F6FF-415D-8A5F-D79D441710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72498ae554e06" /><Relationship Type="http://schemas.openxmlformats.org/officeDocument/2006/relationships/slideLayout" Target="/ppt/slideLayouts/slideLayout1.xml" Id="R5cced9508a6543cb" /><Relationship Type="http://schemas.openxmlformats.org/officeDocument/2006/relationships/slideLayout" Target="/ppt/slideLayouts/slideLayout2.xml" Id="R566ad521e5144ac9" /><Relationship Type="http://schemas.openxmlformats.org/officeDocument/2006/relationships/slideLayout" Target="/ppt/slideLayouts/slideLayout3.xml" Id="R3b0db5e029464730" /><Relationship Type="http://schemas.openxmlformats.org/officeDocument/2006/relationships/slideLayout" Target="/ppt/slideLayouts/slideLayout4.xml" Id="Rb609e17729c34bd9" /><Relationship Type="http://schemas.openxmlformats.org/officeDocument/2006/relationships/slideLayout" Target="/ppt/slideLayouts/slideLayout5.xml" Id="Rf667c64b0f8e4483" /><Relationship Type="http://schemas.openxmlformats.org/officeDocument/2006/relationships/slideLayout" Target="/ppt/slideLayouts/slideLayout6.xml" Id="R4da3bd4579cd4b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ced9508a6543cb"/>
    <p:sldLayoutId xmlns:r="http://schemas.openxmlformats.org/officeDocument/2006/relationships" id="2147483650" r:id="R566ad521e5144ac9"/>
    <p:sldLayoutId xmlns:r="http://schemas.openxmlformats.org/officeDocument/2006/relationships" id="2147483651" r:id="R3b0db5e029464730"/>
    <p:sldLayoutId xmlns:r="http://schemas.openxmlformats.org/officeDocument/2006/relationships" id="2147483652" r:id="Rb609e17729c34bd9"/>
    <p:sldLayoutId xmlns:r="http://schemas.openxmlformats.org/officeDocument/2006/relationships" id="2147483653" r:id="Rf667c64b0f8e4483"/>
    <p:sldLayoutId xmlns:r="http://schemas.openxmlformats.org/officeDocument/2006/relationships" id="2147483654" r:id="R4da3bd4579cd4b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10d47650a2488b" /><Relationship Type="http://schemas.openxmlformats.org/officeDocument/2006/relationships/notesSlide" Target="/ppt/notesSlides/notesSlide1.xml" Id="R3daf0c9aebdb49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80dd1818bb4cb3" /><Relationship Type="http://schemas.openxmlformats.org/officeDocument/2006/relationships/notesSlide" Target="/ppt/notesSlides/notesSlide2.xml" Id="R048a9a1649e04e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e30924a5b24265" /><Relationship Type="http://schemas.openxmlformats.org/officeDocument/2006/relationships/notesSlide" Target="/ppt/notesSlides/notesSlide3.xml" Id="R53445aacfc5645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c6e0669d734449" /><Relationship Type="http://schemas.openxmlformats.org/officeDocument/2006/relationships/notesSlide" Target="/ppt/notesSlides/notesSlide4.xml" Id="R1e1326a13b5145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5299cbc6c074aed" /><Relationship Type="http://schemas.openxmlformats.org/officeDocument/2006/relationships/notesSlide" Target="/ppt/notesSlides/notesSlide5.xml" Id="Reb0a148d69554e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4bc6e739d34ec1" /><Relationship Type="http://schemas.openxmlformats.org/officeDocument/2006/relationships/notesSlide" Target="/ppt/notesSlides/notesSlide6.xml" Id="R0253c1a1685443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61bf2093994e41" /><Relationship Type="http://schemas.openxmlformats.org/officeDocument/2006/relationships/notesSlide" Target="/ppt/notesSlides/notesSlide7.xml" Id="R3c183be9871d41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d0d81db76354761" /><Relationship Type="http://schemas.openxmlformats.org/officeDocument/2006/relationships/notesSlide" Target="/ppt/notesSlides/notesSlide8.xml" Id="Ra193fb56d58a48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41a23e1cd540e7" /><Relationship Type="http://schemas.openxmlformats.org/officeDocument/2006/relationships/notesSlide" Target="/ppt/notesSlides/notesSlide9.xml" Id="R3854fbc8688e4d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a4e8d44e2b4349" /><Relationship Type="http://schemas.openxmlformats.org/officeDocument/2006/relationships/notesSlide" Target="/ppt/notesSlides/notesSlide10.xml" Id="R43dee725f8ee47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7461331fed9474c" /><Relationship Type="http://schemas.openxmlformats.org/officeDocument/2006/relationships/notesSlide" Target="/ppt/notesSlides/notesSlide11.xml" Id="R2414aed64bf345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1b0196dd994881" /><Relationship Type="http://schemas.openxmlformats.org/officeDocument/2006/relationships/notesSlide" Target="/ppt/notesSlides/notesSlide12.xml" Id="Ra9a35dac59204a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79a3ac25da4ec2" /><Relationship Type="http://schemas.openxmlformats.org/officeDocument/2006/relationships/notesSlide" Target="/ppt/notesSlides/notesSlide13.xml" Id="R88f8d5abbb034e6e"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63BE861-DCBE-4977-9DC3-6DE5777EC27F}"/>
              </a:ext>
            </a:extLst>
          </p:cNvPr>
          <p:cNvSpPr>
            <a:spLocks xmlns:a="http://schemas.openxmlformats.org/drawingml/2006/main" noGrp="1"/>
          </p:cNvSpPr>
          <p:nvPr/>
        </p:nvSpPr>
        <p:spPr>
          <a:xfrm xmlns:a="http://schemas.openxmlformats.org/drawingml/2006/main">
            <a:off x="609600" y="15240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142839"/>
                </a:solidFill>
                <a:latin typeface="Arial"/>
                <a:ea typeface="Arial"/>
                <a:cs typeface="Arial"/>
              </a:defRPr>
            </a:defPPr>
          </a:lstStyle>
          <a:p xmlns:a="http://schemas.openxmlformats.org/drawingml/2006/main">
            <a:pPr>
              <a:defRPr sz="4800" b="1">
                <a:solidFill>
                  <a:srgbClr val="142839"/>
                </a:solidFill>
                <a:latin typeface="Arial"/>
                <a:ea typeface="Arial"/>
                <a:cs typeface="Arial"/>
              </a:defRPr>
            </a:pPr>
            <a:r>
              <a:rPr sz="4800" b="1">
                <a:solidFill>
                  <a:srgbClr val="142839"/>
                </a:solidFill>
                <a:latin typeface="Arial"/>
                <a:ea typeface="Arial"/>
                <a:cs typeface="Arial"/>
              </a:rPr>
              <a:t>Real Time E Commerce</a:t>
            </a:r>
          </a:p>
          <a:p xmlns:a="http://schemas.openxmlformats.org/drawingml/2006/main">
            <a:pPr>
              <a:defRPr sz="4800" b="1">
                <a:solidFill>
                  <a:srgbClr val="142839"/>
                </a:solidFill>
                <a:latin typeface="Arial"/>
                <a:ea typeface="Arial"/>
                <a:cs typeface="Arial"/>
              </a:defRPr>
            </a:pPr>
            <a:r>
              <a:rPr sz="4800" b="1">
                <a:solidFill>
                  <a:srgbClr val="142839"/>
                </a:solidFill>
                <a:latin typeface="Arial"/>
                <a:ea typeface="Arial"/>
                <a:cs typeface="Arial"/>
              </a:rPr>
              <a:t>Session Tracking</a:t>
            </a:r>
          </a:p>
        </p:txBody>
      </p:sp>
      <p:sp>
        <p:nvSpPr>
          <p:cNvPr id="2" name="">
            <a:extLst xmlns:a="http://schemas.openxmlformats.org/drawingml/2006/main">
              <a:ext uri="{FF2B5EF4-FFF2-40B4-BE49-F238E27FC236}">
                <a16:creationId xmlns:a16="http://schemas.microsoft.com/office/drawing/2014/main" id="{DED474F1-0C92-4160-B596-1C68BFEE084B}"/>
              </a:ext>
            </a:extLst>
          </p:cNvPr>
          <p:cNvSpPr>
            <a:spLocks xmlns:a="http://schemas.openxmlformats.org/drawingml/2006/main" noGrp="1"/>
          </p:cNvSpPr>
          <p:nvPr/>
        </p:nvSpPr>
        <p:spPr>
          <a:xfrm xmlns:a="http://schemas.openxmlformats.org/drawingml/2006/main">
            <a:off x="647700" y="37147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42586A"/>
                </a:solidFill>
                <a:latin typeface="Arial"/>
                <a:ea typeface="Arial"/>
                <a:cs typeface="Arial"/>
              </a:defRPr>
            </a:defPPr>
          </a:lstStyle>
          <a:p xmlns:a="http://schemas.openxmlformats.org/drawingml/2006/main">
            <a:pPr>
              <a:defRPr sz="2475" b="0">
                <a:solidFill>
                  <a:srgbClr val="42586A"/>
                </a:solidFill>
                <a:latin typeface="Arial"/>
                <a:ea typeface="Arial"/>
                <a:cs typeface="Arial"/>
              </a:defRPr>
            </a:pPr>
            <a:r>
              <a:rPr sz="2475" b="0">
                <a:solidFill>
                  <a:srgbClr val="42586A"/>
                </a:solidFill>
                <a:latin typeface="Arial"/>
                <a:ea typeface="Arial"/>
                <a:cs typeface="Arial"/>
              </a:rPr>
              <a:t>Kafka ingestion and Spark Structured Streaming personalization</a:t>
            </a:r>
          </a:p>
        </p:txBody>
      </p:sp>
      <p:sp>
        <p:nvSpPr>
          <p:cNvPr id="3" name="">
            <a:extLst xmlns:a="http://schemas.openxmlformats.org/drawingml/2006/main">
              <a:ext uri="{FF2B5EF4-FFF2-40B4-BE49-F238E27FC236}">
                <a16:creationId xmlns:a16="http://schemas.microsoft.com/office/drawing/2014/main" id="{167F3154-E0C2-4003-9642-15F0B7ECD285}"/>
              </a:ext>
            </a:extLst>
          </p:cNvPr>
          <p:cNvSpPr>
            <a:spLocks xmlns:a="http://schemas.openxmlformats.org/drawingml/2006/main" noGrp="1"/>
          </p:cNvSpPr>
          <p:nvPr/>
        </p:nvSpPr>
        <p:spPr>
          <a:xfrm xmlns:a="http://schemas.openxmlformats.org/drawingml/2006/main">
            <a:off x="647700" y="5619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2586A"/>
                </a:solidFill>
                <a:latin typeface="Arial"/>
                <a:ea typeface="Arial"/>
                <a:cs typeface="Arial"/>
              </a:defRPr>
            </a:defPPr>
          </a:lstStyle>
          <a:p xmlns:a="http://schemas.openxmlformats.org/drawingml/2006/main">
            <a:pPr>
              <a:defRPr sz="1800" b="0">
                <a:solidFill>
                  <a:srgbClr val="42586A"/>
                </a:solidFill>
                <a:latin typeface="Arial"/>
                <a:ea typeface="Arial"/>
                <a:cs typeface="Arial"/>
              </a:defRPr>
            </a:pPr>
            <a:r>
              <a:rPr sz="1800" b="0">
                <a:solidFill>
                  <a:srgbClr val="42586A"/>
                </a:solidFill>
                <a:latin typeface="Arial"/>
                <a:ea typeface="Arial"/>
                <a:cs typeface="Arial"/>
              </a:rPr>
              <a:t>Retail Rocket assignment   Technical presentation and live demonstration</a:t>
            </a:r>
          </a:p>
        </p:txBody>
      </p:sp>
    </p:spTree>
    <p:extLst>
      <p:ext uri="{BB962C8B-B14F-4D97-AF65-F5344CB8AC3E}">
        <p14:creationId xmlns:p14="http://schemas.microsoft.com/office/powerpoint/2010/main" val="2020732964"/>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206046-D31B-42E9-98DC-3941F0C8CBE5}"/>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Retail Rocket events and the business question</a:t>
            </a:r>
          </a:p>
        </p:txBody>
      </p:sp>
      <p:graphicFrame>
        <p:nvGraphicFramePr>
          <p:cNvPr id="2" name="">
            <a:extLst xmlns:a="http://schemas.openxmlformats.org/drawingml/2006/main">
              <a:ext uri="{FF2B5EF4-FFF2-40B4-BE49-F238E27FC236}">
                <a16:creationId xmlns:a16="http://schemas.microsoft.com/office/drawing/2014/main" id="{322EEDFA-4F1A-48FF-8712-F453A73A66A4}"/>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2571750"/>
                <a:gridCol w="4286250"/>
                <a:gridCol w="4114800"/>
              </a:tblGrid>
              <a:tr h="603250">
                <a:tc>
                  <a:txBody>
                    <a:bodyPr/>
                    <a:lstStyle/>
                    <a:p>
                      <a:r>
                        <a:rPr sz="1875" b="1">
                          <a:solidFill>
                            <a:srgbClr val="FFFFFF"/>
                          </a:solidFill>
                          <a:latin typeface="Arial"/>
                          <a:ea typeface="Arial"/>
                          <a:cs typeface="Arial"/>
                        </a:rPr>
                        <a:t>Field</a:t>
                      </a:r>
                    </a:p>
                  </a:txBody>
                  <a:tcPr marL="91440" marR="91440" marT="45720" marB="45720">
                    <a:solidFill>
                      <a:srgbClr val="142839"/>
                    </a:solidFill>
                  </a:tcPr>
                </a:tc>
                <a:tc>
                  <a:txBody>
                    <a:bodyPr/>
                    <a:lstStyle/>
                    <a:p>
                      <a:r>
                        <a:rPr sz="1875" b="1">
                          <a:solidFill>
                            <a:srgbClr val="FFFFFF"/>
                          </a:solidFill>
                          <a:latin typeface="Arial"/>
                          <a:ea typeface="Arial"/>
                          <a:cs typeface="Arial"/>
                        </a:rPr>
                        <a:t>Representation</a:t>
                      </a:r>
                    </a:p>
                  </a:txBody>
                  <a:tcPr marL="91440" marR="91440" marT="45720" marB="45720">
                    <a:solidFill>
                      <a:srgbClr val="142839"/>
                    </a:solidFill>
                  </a:tcPr>
                </a:tc>
                <a:tc>
                  <a:txBody>
                    <a:bodyPr/>
                    <a:lstStyle/>
                    <a:p>
                      <a:r>
                        <a:rPr sz="1875" b="1">
                          <a:solidFill>
                            <a:srgbClr val="FFFFFF"/>
                          </a:solidFill>
                          <a:latin typeface="Arial"/>
                          <a:ea typeface="Arial"/>
                          <a:cs typeface="Arial"/>
                        </a:rPr>
                        <a:t>Purpose</a:t>
                      </a:r>
                    </a:p>
                  </a:txBody>
                  <a:tcPr marL="91440" marR="91440" marT="45720" marB="45720">
                    <a:solidFill>
                      <a:srgbClr val="142839"/>
                    </a:solidFill>
                  </a:tcPr>
                </a:tc>
              </a:tr>
              <a:tr h="603250">
                <a:tc>
                  <a:txBody>
                    <a:bodyPr/>
                    <a:lstStyle/>
                    <a:p>
                      <a:r>
                        <a:rPr sz="1875" b="0">
                          <a:solidFill>
                            <a:srgbClr val="142839"/>
                          </a:solidFill>
                          <a:latin typeface="Arial"/>
                          <a:ea typeface="Arial"/>
                          <a:cs typeface="Arial"/>
                        </a:rPr>
                        <a:t>timestamp</a:t>
                      </a:r>
                    </a:p>
                  </a:txBody>
                  <a:tcPr marL="91440" marR="91440" marT="45720" marB="45720">
                    <a:solidFill>
                      <a:srgbClr val="FFFFFF"/>
                    </a:solidFill>
                  </a:tcPr>
                </a:tc>
                <a:tc>
                  <a:txBody>
                    <a:bodyPr/>
                    <a:lstStyle/>
                    <a:p>
                      <a:r>
                        <a:rPr sz="1875" b="0">
                          <a:solidFill>
                            <a:srgbClr val="142839"/>
                          </a:solidFill>
                          <a:latin typeface="Arial"/>
                          <a:ea typeface="Arial"/>
                          <a:cs typeface="Arial"/>
                        </a:rPr>
                        <a:t>Epoch milliseconds</a:t>
                      </a:r>
                    </a:p>
                  </a:txBody>
                  <a:tcPr marL="91440" marR="91440" marT="45720" marB="45720">
                    <a:solidFill>
                      <a:srgbClr val="FFFFFF"/>
                    </a:solidFill>
                  </a:tcPr>
                </a:tc>
                <a:tc>
                  <a:txBody>
                    <a:bodyPr/>
                    <a:lstStyle/>
                    <a:p>
                      <a:r>
                        <a:rPr sz="1875" b="0">
                          <a:solidFill>
                            <a:srgbClr val="142839"/>
                          </a:solidFill>
                          <a:latin typeface="Arial"/>
                          <a:ea typeface="Arial"/>
                          <a:cs typeface="Arial"/>
                        </a:rPr>
                        <a:t>Event-time windows</a:t>
                      </a:r>
                    </a:p>
                  </a:txBody>
                  <a:tcPr marL="91440" marR="91440" marT="45720" marB="45720">
                    <a:solidFill>
                      <a:srgbClr val="FFFFFF"/>
                    </a:solidFill>
                  </a:tcPr>
                </a:tc>
              </a:tr>
              <a:tr h="603250">
                <a:tc>
                  <a:txBody>
                    <a:bodyPr/>
                    <a:lstStyle/>
                    <a:p>
                      <a:r>
                        <a:rPr sz="1875" b="0">
                          <a:solidFill>
                            <a:srgbClr val="142839"/>
                          </a:solidFill>
                          <a:latin typeface="Arial"/>
                          <a:ea typeface="Arial"/>
                          <a:cs typeface="Arial"/>
                        </a:rPr>
                        <a:t>visitorid</a:t>
                      </a:r>
                    </a:p>
                  </a:txBody>
                  <a:tcPr marL="91440" marR="91440" marT="45720" marB="45720">
                    <a:solidFill>
                      <a:srgbClr val="EDF2F4"/>
                    </a:solidFill>
                  </a:tcPr>
                </a:tc>
                <a:tc>
                  <a:txBody>
                    <a:bodyPr/>
                    <a:lstStyle/>
                    <a:p>
                      <a:r>
                        <a:rPr sz="1875" b="0">
                          <a:solidFill>
                            <a:srgbClr val="142839"/>
                          </a:solidFill>
                          <a:latin typeface="Arial"/>
                          <a:ea typeface="Arial"/>
                          <a:cs typeface="Arial"/>
                        </a:rPr>
                        <a:t>Integer</a:t>
                      </a:r>
                    </a:p>
                  </a:txBody>
                  <a:tcPr marL="91440" marR="91440" marT="45720" marB="45720">
                    <a:solidFill>
                      <a:srgbClr val="EDF2F4"/>
                    </a:solidFill>
                  </a:tcPr>
                </a:tc>
                <a:tc>
                  <a:txBody>
                    <a:bodyPr/>
                    <a:lstStyle/>
                    <a:p>
                      <a:r>
                        <a:rPr sz="1875" b="0">
                          <a:solidFill>
                            <a:srgbClr val="142839"/>
                          </a:solidFill>
                          <a:latin typeface="Arial"/>
                          <a:ea typeface="Arial"/>
                          <a:cs typeface="Arial"/>
                        </a:rPr>
                        <a:t>Visitor key</a:t>
                      </a:r>
                    </a:p>
                  </a:txBody>
                  <a:tcPr marL="91440" marR="91440" marT="45720" marB="45720">
                    <a:solidFill>
                      <a:srgbClr val="EDF2F4"/>
                    </a:solidFill>
                  </a:tcPr>
                </a:tc>
              </a:tr>
              <a:tr h="603250">
                <a:tc>
                  <a:txBody>
                    <a:bodyPr/>
                    <a:lstStyle/>
                    <a:p>
                      <a:r>
                        <a:rPr sz="1875" b="0">
                          <a:solidFill>
                            <a:srgbClr val="142839"/>
                          </a:solidFill>
                          <a:latin typeface="Arial"/>
                          <a:ea typeface="Arial"/>
                          <a:cs typeface="Arial"/>
                        </a:rPr>
                        <a:t>event</a:t>
                      </a:r>
                    </a:p>
                  </a:txBody>
                  <a:tcPr marL="91440" marR="91440" marT="45720" marB="45720">
                    <a:solidFill>
                      <a:srgbClr val="FFFFFF"/>
                    </a:solidFill>
                  </a:tcPr>
                </a:tc>
                <a:tc>
                  <a:txBody>
                    <a:bodyPr/>
                    <a:lstStyle/>
                    <a:p>
                      <a:r>
                        <a:rPr sz="1875" b="0">
                          <a:solidFill>
                            <a:srgbClr val="142839"/>
                          </a:solidFill>
                          <a:latin typeface="Arial"/>
                          <a:ea typeface="Arial"/>
                          <a:cs typeface="Arial"/>
                        </a:rPr>
                        <a:t>view / addtocart / transaction</a:t>
                      </a:r>
                    </a:p>
                  </a:txBody>
                  <a:tcPr marL="91440" marR="91440" marT="45720" marB="45720">
                    <a:solidFill>
                      <a:srgbClr val="FFFFFF"/>
                    </a:solidFill>
                  </a:tcPr>
                </a:tc>
                <a:tc>
                  <a:txBody>
                    <a:bodyPr/>
                    <a:lstStyle/>
                    <a:p>
                      <a:r>
                        <a:rPr sz="1875" b="0">
                          <a:solidFill>
                            <a:srgbClr val="142839"/>
                          </a:solidFill>
                          <a:latin typeface="Arial"/>
                          <a:ea typeface="Arial"/>
                          <a:cs typeface="Arial"/>
                        </a:rPr>
                        <a:t>Engagement weight</a:t>
                      </a:r>
                    </a:p>
                  </a:txBody>
                  <a:tcPr marL="91440" marR="91440" marT="45720" marB="45720">
                    <a:solidFill>
                      <a:srgbClr val="FFFFFF"/>
                    </a:solidFill>
                  </a:tcPr>
                </a:tc>
              </a:tr>
              <a:tr h="603250">
                <a:tc>
                  <a:txBody>
                    <a:bodyPr/>
                    <a:lstStyle/>
                    <a:p>
                      <a:r>
                        <a:rPr sz="1875" b="0">
                          <a:solidFill>
                            <a:srgbClr val="142839"/>
                          </a:solidFill>
                          <a:latin typeface="Arial"/>
                          <a:ea typeface="Arial"/>
                          <a:cs typeface="Arial"/>
                        </a:rPr>
                        <a:t>itemid</a:t>
                      </a:r>
                    </a:p>
                  </a:txBody>
                  <a:tcPr marL="91440" marR="91440" marT="45720" marB="45720">
                    <a:solidFill>
                      <a:srgbClr val="EDF2F4"/>
                    </a:solidFill>
                  </a:tcPr>
                </a:tc>
                <a:tc>
                  <a:txBody>
                    <a:bodyPr/>
                    <a:lstStyle/>
                    <a:p>
                      <a:r>
                        <a:rPr sz="1875" b="0">
                          <a:solidFill>
                            <a:srgbClr val="142839"/>
                          </a:solidFill>
                          <a:latin typeface="Arial"/>
                          <a:ea typeface="Arial"/>
                          <a:cs typeface="Arial"/>
                        </a:rPr>
                        <a:t>Integer</a:t>
                      </a:r>
                    </a:p>
                  </a:txBody>
                  <a:tcPr marL="91440" marR="91440" marT="45720" marB="45720">
                    <a:solidFill>
                      <a:srgbClr val="EDF2F4"/>
                    </a:solidFill>
                  </a:tcPr>
                </a:tc>
                <a:tc>
                  <a:txBody>
                    <a:bodyPr/>
                    <a:lstStyle/>
                    <a:p>
                      <a:r>
                        <a:rPr sz="1875" b="0">
                          <a:solidFill>
                            <a:srgbClr val="142839"/>
                          </a:solidFill>
                          <a:latin typeface="Arial"/>
                          <a:ea typeface="Arial"/>
                          <a:cs typeface="Arial"/>
                        </a:rPr>
                        <a:t>Product key</a:t>
                      </a:r>
                    </a:p>
                  </a:txBody>
                  <a:tcPr marL="91440" marR="91440" marT="45720" marB="45720">
                    <a:solidFill>
                      <a:srgbClr val="EDF2F4"/>
                    </a:solidFill>
                  </a:tcPr>
                </a:tc>
              </a:tr>
              <a:tr h="603250">
                <a:tc>
                  <a:txBody>
                    <a:bodyPr/>
                    <a:lstStyle/>
                    <a:p>
                      <a:r>
                        <a:rPr sz="1875" b="0">
                          <a:solidFill>
                            <a:srgbClr val="142839"/>
                          </a:solidFill>
                          <a:latin typeface="Arial"/>
                          <a:ea typeface="Arial"/>
                          <a:cs typeface="Arial"/>
                        </a:rPr>
                        <a:t>transactionid</a:t>
                      </a:r>
                    </a:p>
                  </a:txBody>
                  <a:tcPr marL="91440" marR="91440" marT="45720" marB="45720">
                    <a:solidFill>
                      <a:srgbClr val="FFFFFF"/>
                    </a:solidFill>
                  </a:tcPr>
                </a:tc>
                <a:tc>
                  <a:txBody>
                    <a:bodyPr/>
                    <a:lstStyle/>
                    <a:p>
                      <a:r>
                        <a:rPr sz="1875" b="0">
                          <a:solidFill>
                            <a:srgbClr val="142839"/>
                          </a:solidFill>
                          <a:latin typeface="Arial"/>
                          <a:ea typeface="Arial"/>
                          <a:cs typeface="Arial"/>
                        </a:rPr>
                        <a:t>Integer or null</a:t>
                      </a:r>
                    </a:p>
                  </a:txBody>
                  <a:tcPr marL="91440" marR="91440" marT="45720" marB="45720">
                    <a:solidFill>
                      <a:srgbClr val="FFFFFF"/>
                    </a:solidFill>
                  </a:tcPr>
                </a:tc>
                <a:tc>
                  <a:txBody>
                    <a:bodyPr/>
                    <a:lstStyle/>
                    <a:p>
                      <a:r>
                        <a:rPr sz="1875" b="0">
                          <a:solidFill>
                            <a:srgbClr val="142839"/>
                          </a:solidFill>
                          <a:latin typeface="Arial"/>
                          <a:ea typeface="Arial"/>
                          <a:cs typeface="Arial"/>
                        </a:rPr>
                        <a:t>Purchase evidence</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5B239DF-BAAC-4E2B-A989-DFAE031D999E}"/>
              </a:ext>
            </a:extLst>
          </p:cNvPr>
          <p:cNvSpPr>
            <a:spLocks xmlns:a="http://schemas.openxmlformats.org/drawingml/2006/main" noGrp="1"/>
          </p:cNvSpPr>
          <p:nvPr/>
        </p:nvSpPr>
        <p:spPr>
          <a:xfrm xmlns:a="http://schemas.openxmlformats.org/drawingml/2006/main">
            <a:off x="666750" y="5638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76C75"/>
                </a:solidFill>
                <a:latin typeface="Arial"/>
                <a:ea typeface="Arial"/>
                <a:cs typeface="Arial"/>
              </a:defRPr>
            </a:defPPr>
          </a:lstStyle>
          <a:p xmlns:a="http://schemas.openxmlformats.org/drawingml/2006/main">
            <a:pPr>
              <a:defRPr sz="2175" b="1">
                <a:solidFill>
                  <a:srgbClr val="176C75"/>
                </a:solidFill>
                <a:latin typeface="Arial"/>
                <a:ea typeface="Arial"/>
                <a:cs typeface="Arial"/>
              </a:defRPr>
            </a:pPr>
            <a:r>
              <a:rPr sz="2175" b="1">
                <a:solidFill>
                  <a:srgbClr val="176C75"/>
                </a:solidFill>
                <a:latin typeface="Arial"/>
                <a:ea typeface="Arial"/>
                <a:cs typeface="Arial"/>
              </a:rPr>
              <a:t>A cart should change recommendations before the shopping interaction ends.</a:t>
            </a:r>
          </a:p>
        </p:txBody>
      </p:sp>
    </p:spTree>
    <p:extLst>
      <p:ext uri="{BB962C8B-B14F-4D97-AF65-F5344CB8AC3E}">
        <p14:creationId xmlns:p14="http://schemas.microsoft.com/office/powerpoint/2010/main" val="1574392227"/>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A1A6530-D882-48AF-9D64-58D61E548DC4}"/>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Pipeline architecture</a:t>
            </a:r>
          </a:p>
        </p:txBody>
      </p:sp>
      <p:sp>
        <p:nvSpPr>
          <p:cNvPr id="2" name="">
            <a:extLst xmlns:a="http://schemas.openxmlformats.org/drawingml/2006/main">
              <a:ext uri="{FF2B5EF4-FFF2-40B4-BE49-F238E27FC236}">
                <a16:creationId xmlns:a16="http://schemas.microsoft.com/office/drawing/2014/main" id="{2B6C0985-F028-4545-951A-56414DAE8535}"/>
              </a:ext>
            </a:extLst>
          </p:cNvPr>
          <p:cNvSpPr>
            <a:spLocks xmlns:a="http://schemas.openxmlformats.org/drawingml/2006/main" noGrp="1"/>
          </p:cNvSpPr>
          <p:nvPr/>
        </p:nvSpPr>
        <p:spPr>
          <a:xfrm xmlns:a="http://schemas.openxmlformats.org/drawingml/2006/main">
            <a:off x="609600" y="2095500"/>
            <a:ext cx="2333625"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3" name="">
            <a:extLst xmlns:a="http://schemas.openxmlformats.org/drawingml/2006/main">
              <a:ext uri="{FF2B5EF4-FFF2-40B4-BE49-F238E27FC236}">
                <a16:creationId xmlns:a16="http://schemas.microsoft.com/office/drawing/2014/main" id="{294A840D-A145-4C85-B69C-947FFB4CDB6C}"/>
              </a:ext>
            </a:extLst>
          </p:cNvPr>
          <p:cNvSpPr>
            <a:spLocks xmlns:a="http://schemas.openxmlformats.org/drawingml/2006/main" noGrp="1"/>
          </p:cNvSpPr>
          <p:nvPr/>
        </p:nvSpPr>
        <p:spPr>
          <a:xfrm xmlns:a="http://schemas.openxmlformats.org/drawingml/2006/main">
            <a:off x="723900" y="2266950"/>
            <a:ext cx="2105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CSV producer</a:t>
            </a:r>
          </a:p>
        </p:txBody>
      </p:sp>
      <p:sp>
        <p:nvSpPr>
          <p:cNvPr id="4" name="">
            <a:extLst xmlns:a="http://schemas.openxmlformats.org/drawingml/2006/main">
              <a:ext uri="{FF2B5EF4-FFF2-40B4-BE49-F238E27FC236}">
                <a16:creationId xmlns:a16="http://schemas.microsoft.com/office/drawing/2014/main" id="{D26951A0-7521-4317-84EC-15833F9B8F18}"/>
              </a:ext>
            </a:extLst>
          </p:cNvPr>
          <p:cNvSpPr>
            <a:spLocks xmlns:a="http://schemas.openxmlformats.org/drawingml/2006/main" noGrp="1"/>
          </p:cNvSpPr>
          <p:nvPr/>
        </p:nvSpPr>
        <p:spPr>
          <a:xfrm xmlns:a="http://schemas.openxmlformats.org/drawingml/2006/main">
            <a:off x="723900" y="2714625"/>
            <a:ext cx="2105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Typed JSON and pacing</a:t>
            </a:r>
          </a:p>
        </p:txBody>
      </p:sp>
      <p:sp>
        <p:nvSpPr>
          <p:cNvPr id="5" name="">
            <a:extLst xmlns:a="http://schemas.openxmlformats.org/drawingml/2006/main">
              <a:ext uri="{FF2B5EF4-FFF2-40B4-BE49-F238E27FC236}">
                <a16:creationId xmlns:a16="http://schemas.microsoft.com/office/drawing/2014/main" id="{98C47A72-8C94-42D8-8DFE-7EA2BF853E61}"/>
              </a:ext>
            </a:extLst>
          </p:cNvPr>
          <p:cNvSpPr>
            <a:spLocks xmlns:a="http://schemas.openxmlformats.org/drawingml/2006/main" noGrp="1"/>
          </p:cNvSpPr>
          <p:nvPr/>
        </p:nvSpPr>
        <p:spPr>
          <a:xfrm xmlns:a="http://schemas.openxmlformats.org/drawingml/2006/main">
            <a:off x="3028950" y="2524125"/>
            <a:ext cx="381000" cy="238125"/>
          </a:xfrm>
          <a:prstGeom xmlns:a="http://schemas.openxmlformats.org/drawingml/2006/main" prst="rightArrow">
            <a:avLst/>
          </a:prstGeom>
          <a:solidFill xmlns:a="http://schemas.openxmlformats.org/drawingml/2006/main">
            <a:srgbClr val="176C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44E47BE-68A7-4A10-8A23-042D1D4B3A97}"/>
              </a:ext>
            </a:extLst>
          </p:cNvPr>
          <p:cNvSpPr>
            <a:spLocks xmlns:a="http://schemas.openxmlformats.org/drawingml/2006/main" noGrp="1"/>
          </p:cNvSpPr>
          <p:nvPr/>
        </p:nvSpPr>
        <p:spPr>
          <a:xfrm xmlns:a="http://schemas.openxmlformats.org/drawingml/2006/main">
            <a:off x="3505200" y="2095500"/>
            <a:ext cx="2333625"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7" name="">
            <a:extLst xmlns:a="http://schemas.openxmlformats.org/drawingml/2006/main">
              <a:ext uri="{FF2B5EF4-FFF2-40B4-BE49-F238E27FC236}">
                <a16:creationId xmlns:a16="http://schemas.microsoft.com/office/drawing/2014/main" id="{9999BA01-ED26-4159-88E1-948BAC7329C4}"/>
              </a:ext>
            </a:extLst>
          </p:cNvPr>
          <p:cNvSpPr>
            <a:spLocks xmlns:a="http://schemas.openxmlformats.org/drawingml/2006/main" noGrp="1"/>
          </p:cNvSpPr>
          <p:nvPr/>
        </p:nvSpPr>
        <p:spPr>
          <a:xfrm xmlns:a="http://schemas.openxmlformats.org/drawingml/2006/main">
            <a:off x="3619500" y="2266950"/>
            <a:ext cx="2105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Kafka KRaft</a:t>
            </a:r>
          </a:p>
        </p:txBody>
      </p:sp>
      <p:sp>
        <p:nvSpPr>
          <p:cNvPr id="8" name="">
            <a:extLst xmlns:a="http://schemas.openxmlformats.org/drawingml/2006/main">
              <a:ext uri="{FF2B5EF4-FFF2-40B4-BE49-F238E27FC236}">
                <a16:creationId xmlns:a16="http://schemas.microsoft.com/office/drawing/2014/main" id="{BEAFF392-6A52-4058-A6AB-529369532270}"/>
              </a:ext>
            </a:extLst>
          </p:cNvPr>
          <p:cNvSpPr>
            <a:spLocks xmlns:a="http://schemas.openxmlformats.org/drawingml/2006/main" noGrp="1"/>
          </p:cNvSpPr>
          <p:nvPr/>
        </p:nvSpPr>
        <p:spPr>
          <a:xfrm xmlns:a="http://schemas.openxmlformats.org/drawingml/2006/main">
            <a:off x="3619500" y="2714625"/>
            <a:ext cx="2105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Two topic partitions</a:t>
            </a:r>
          </a:p>
        </p:txBody>
      </p:sp>
      <p:sp>
        <p:nvSpPr>
          <p:cNvPr id="9" name="">
            <a:extLst xmlns:a="http://schemas.openxmlformats.org/drawingml/2006/main">
              <a:ext uri="{FF2B5EF4-FFF2-40B4-BE49-F238E27FC236}">
                <a16:creationId xmlns:a16="http://schemas.microsoft.com/office/drawing/2014/main" id="{C5CFBA8B-7971-4701-B827-853F780CD3E2}"/>
              </a:ext>
            </a:extLst>
          </p:cNvPr>
          <p:cNvSpPr>
            <a:spLocks xmlns:a="http://schemas.openxmlformats.org/drawingml/2006/main" noGrp="1"/>
          </p:cNvSpPr>
          <p:nvPr/>
        </p:nvSpPr>
        <p:spPr>
          <a:xfrm xmlns:a="http://schemas.openxmlformats.org/drawingml/2006/main">
            <a:off x="5924550" y="2524125"/>
            <a:ext cx="381000" cy="238125"/>
          </a:xfrm>
          <a:prstGeom xmlns:a="http://schemas.openxmlformats.org/drawingml/2006/main" prst="rightArrow">
            <a:avLst/>
          </a:prstGeom>
          <a:solidFill xmlns:a="http://schemas.openxmlformats.org/drawingml/2006/main">
            <a:srgbClr val="176C7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46CB96-37B0-4A8E-8906-F41604868CB9}"/>
              </a:ext>
            </a:extLst>
          </p:cNvPr>
          <p:cNvSpPr>
            <a:spLocks xmlns:a="http://schemas.openxmlformats.org/drawingml/2006/main" noGrp="1"/>
          </p:cNvSpPr>
          <p:nvPr/>
        </p:nvSpPr>
        <p:spPr>
          <a:xfrm xmlns:a="http://schemas.openxmlformats.org/drawingml/2006/main">
            <a:off x="6400800" y="2095500"/>
            <a:ext cx="2333625"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11" name="">
            <a:extLst xmlns:a="http://schemas.openxmlformats.org/drawingml/2006/main">
              <a:ext uri="{FF2B5EF4-FFF2-40B4-BE49-F238E27FC236}">
                <a16:creationId xmlns:a16="http://schemas.microsoft.com/office/drawing/2014/main" id="{BEE03661-C0CF-4AF2-9042-0BD1C13C66B9}"/>
              </a:ext>
            </a:extLst>
          </p:cNvPr>
          <p:cNvSpPr>
            <a:spLocks xmlns:a="http://schemas.openxmlformats.org/drawingml/2006/main" noGrp="1"/>
          </p:cNvSpPr>
          <p:nvPr/>
        </p:nvSpPr>
        <p:spPr>
          <a:xfrm xmlns:a="http://schemas.openxmlformats.org/drawingml/2006/main">
            <a:off x="6515100" y="2266950"/>
            <a:ext cx="2105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Spark ETL</a:t>
            </a:r>
          </a:p>
        </p:txBody>
      </p:sp>
      <p:sp>
        <p:nvSpPr>
          <p:cNvPr id="12" name="">
            <a:extLst xmlns:a="http://schemas.openxmlformats.org/drawingml/2006/main">
              <a:ext uri="{FF2B5EF4-FFF2-40B4-BE49-F238E27FC236}">
                <a16:creationId xmlns:a16="http://schemas.microsoft.com/office/drawing/2014/main" id="{58477A4C-78D2-4D89-A31E-3C9B6308A816}"/>
              </a:ext>
            </a:extLst>
          </p:cNvPr>
          <p:cNvSpPr>
            <a:spLocks xmlns:a="http://schemas.openxmlformats.org/drawingml/2006/main" noGrp="1"/>
          </p:cNvSpPr>
          <p:nvPr/>
        </p:nvSpPr>
        <p:spPr>
          <a:xfrm xmlns:a="http://schemas.openxmlformats.org/drawingml/2006/main">
            <a:off x="6515100" y="2714625"/>
            <a:ext cx="2105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Schema and event time</a:t>
            </a:r>
          </a:p>
        </p:txBody>
      </p:sp>
      <p:sp>
        <p:nvSpPr>
          <p:cNvPr id="13" name="">
            <a:extLst xmlns:a="http://schemas.openxmlformats.org/drawingml/2006/main">
              <a:ext uri="{FF2B5EF4-FFF2-40B4-BE49-F238E27FC236}">
                <a16:creationId xmlns:a16="http://schemas.microsoft.com/office/drawing/2014/main" id="{2A9556D7-E34F-4690-AE9B-589A05FBC7ED}"/>
              </a:ext>
            </a:extLst>
          </p:cNvPr>
          <p:cNvSpPr>
            <a:spLocks xmlns:a="http://schemas.openxmlformats.org/drawingml/2006/main" noGrp="1"/>
          </p:cNvSpPr>
          <p:nvPr/>
        </p:nvSpPr>
        <p:spPr>
          <a:xfrm xmlns:a="http://schemas.openxmlformats.org/drawingml/2006/main">
            <a:off x="8820150" y="2524125"/>
            <a:ext cx="381000" cy="238125"/>
          </a:xfrm>
          <a:prstGeom xmlns:a="http://schemas.openxmlformats.org/drawingml/2006/main" prst="rightArrow">
            <a:avLst/>
          </a:prstGeom>
          <a:solidFill xmlns:a="http://schemas.openxmlformats.org/drawingml/2006/main">
            <a:srgbClr val="176C7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AFEB9C-2A18-4793-9389-163C7FD87D73}"/>
              </a:ext>
            </a:extLst>
          </p:cNvPr>
          <p:cNvSpPr>
            <a:spLocks xmlns:a="http://schemas.openxmlformats.org/drawingml/2006/main" noGrp="1"/>
          </p:cNvSpPr>
          <p:nvPr/>
        </p:nvSpPr>
        <p:spPr>
          <a:xfrm xmlns:a="http://schemas.openxmlformats.org/drawingml/2006/main">
            <a:off x="9296400" y="2095500"/>
            <a:ext cx="2286000"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15" name="">
            <a:extLst xmlns:a="http://schemas.openxmlformats.org/drawingml/2006/main">
              <a:ext uri="{FF2B5EF4-FFF2-40B4-BE49-F238E27FC236}">
                <a16:creationId xmlns:a16="http://schemas.microsoft.com/office/drawing/2014/main" id="{BD77813C-710D-46C5-A28A-E35B3386FFE2}"/>
              </a:ext>
            </a:extLst>
          </p:cNvPr>
          <p:cNvSpPr>
            <a:spLocks xmlns:a="http://schemas.openxmlformats.org/drawingml/2006/main" noGrp="1"/>
          </p:cNvSpPr>
          <p:nvPr/>
        </p:nvSpPr>
        <p:spPr>
          <a:xfrm xmlns:a="http://schemas.openxmlformats.org/drawingml/2006/main">
            <a:off x="9410700" y="2266950"/>
            <a:ext cx="2057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Intent output</a:t>
            </a:r>
          </a:p>
        </p:txBody>
      </p:sp>
      <p:sp>
        <p:nvSpPr>
          <p:cNvPr id="16" name="">
            <a:extLst xmlns:a="http://schemas.openxmlformats.org/drawingml/2006/main">
              <a:ext uri="{FF2B5EF4-FFF2-40B4-BE49-F238E27FC236}">
                <a16:creationId xmlns:a16="http://schemas.microsoft.com/office/drawing/2014/main" id="{4A0E4BD6-6E9C-4744-B10C-91ABB5F00884}"/>
              </a:ext>
            </a:extLst>
          </p:cNvPr>
          <p:cNvSpPr>
            <a:spLocks xmlns:a="http://schemas.openxmlformats.org/drawingml/2006/main" noGrp="1"/>
          </p:cNvSpPr>
          <p:nvPr/>
        </p:nvSpPr>
        <p:spPr>
          <a:xfrm xmlns:a="http://schemas.openxmlformats.org/drawingml/2006/main">
            <a:off x="9410700" y="2714625"/>
            <a:ext cx="2057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Current recommendations</a:t>
            </a:r>
          </a:p>
        </p:txBody>
      </p:sp>
      <p:sp>
        <p:nvSpPr>
          <p:cNvPr id="17" name="">
            <a:extLst xmlns:a="http://schemas.openxmlformats.org/drawingml/2006/main">
              <a:ext uri="{FF2B5EF4-FFF2-40B4-BE49-F238E27FC236}">
                <a16:creationId xmlns:a16="http://schemas.microsoft.com/office/drawing/2014/main" id="{08B35B47-4478-4ADB-9042-F0BE843B8B7D}"/>
              </a:ext>
            </a:extLst>
          </p:cNvPr>
          <p:cNvSpPr>
            <a:spLocks xmlns:a="http://schemas.openxmlformats.org/drawingml/2006/main" noGrp="1"/>
          </p:cNvSpPr>
          <p:nvPr/>
        </p:nvSpPr>
        <p:spPr>
          <a:xfrm xmlns:a="http://schemas.openxmlformats.org/drawingml/2006/main">
            <a:off x="704850" y="3829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2839"/>
                </a:solidFill>
                <a:latin typeface="Arial"/>
                <a:ea typeface="Arial"/>
                <a:cs typeface="Arial"/>
              </a:defRPr>
            </a:defPPr>
          </a:lstStyle>
          <a:p xmlns:a="http://schemas.openxmlformats.org/drawingml/2006/main">
            <a:pPr>
              <a:defRPr sz="2325" b="1">
                <a:solidFill>
                  <a:srgbClr val="142839"/>
                </a:solidFill>
                <a:latin typeface="Arial"/>
                <a:ea typeface="Arial"/>
                <a:cs typeface="Arial"/>
              </a:defRPr>
            </a:pPr>
            <a:r>
              <a:rPr sz="2325" b="1">
                <a:solidFill>
                  <a:srgbClr val="142839"/>
                </a:solidFill>
                <a:latin typeface="Arial"/>
                <a:ea typeface="Arial"/>
                <a:cs typeface="Arial"/>
              </a:rPr>
              <a:t>10-minute windows     1-minute slide     5-minute watermark</a:t>
            </a:r>
          </a:p>
        </p:txBody>
      </p:sp>
      <p:sp>
        <p:nvSpPr>
          <p:cNvPr id="18" name="">
            <a:extLst xmlns:a="http://schemas.openxmlformats.org/drawingml/2006/main">
              <a:ext uri="{FF2B5EF4-FFF2-40B4-BE49-F238E27FC236}">
                <a16:creationId xmlns:a16="http://schemas.microsoft.com/office/drawing/2014/main" id="{73E5BAAB-1F73-43FF-8D87-268F3A31CFFE}"/>
              </a:ext>
            </a:extLst>
          </p:cNvPr>
          <p:cNvSpPr>
            <a:spLocks xmlns:a="http://schemas.openxmlformats.org/drawingml/2006/main" noGrp="1"/>
          </p:cNvSpPr>
          <p:nvPr/>
        </p:nvSpPr>
        <p:spPr>
          <a:xfrm xmlns:a="http://schemas.openxmlformats.org/drawingml/2006/main">
            <a:off x="704850" y="48101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42586A"/>
                </a:solidFill>
                <a:latin typeface="Arial"/>
                <a:ea typeface="Arial"/>
                <a:cs typeface="Arial"/>
              </a:defRPr>
            </a:defPPr>
          </a:lstStyle>
          <a:p xmlns:a="http://schemas.openxmlformats.org/drawingml/2006/main">
            <a:pPr>
              <a:defRPr sz="2250" b="0">
                <a:solidFill>
                  <a:srgbClr val="42586A"/>
                </a:solidFill>
                <a:latin typeface="Arial"/>
                <a:ea typeface="Arial"/>
                <a:cs typeface="Arial"/>
              </a:defRPr>
            </a:pPr>
            <a:r>
              <a:rPr sz="2250" b="0">
                <a:solidFill>
                  <a:srgbClr val="42586A"/>
                </a:solidFill>
                <a:latin typeface="Arial"/>
                <a:ea typeface="Arial"/>
                <a:cs typeface="Arial"/>
              </a:rPr>
              <a:t>Partitioned Parquet audit and intent epochs</a:t>
            </a:r>
          </a:p>
          <a:p xmlns:a="http://schemas.openxmlformats.org/drawingml/2006/main">
            <a:pPr>
              <a:defRPr sz="2250" b="0">
                <a:solidFill>
                  <a:srgbClr val="42586A"/>
                </a:solidFill>
                <a:latin typeface="Arial"/>
                <a:ea typeface="Arial"/>
                <a:cs typeface="Arial"/>
              </a:defRPr>
            </a:pPr>
            <a:r>
              <a:rPr sz="2250" b="0">
                <a:solidFill>
                  <a:srgbClr val="42586A"/>
                </a:solidFill>
                <a:latin typeface="Arial"/>
                <a:ea typeface="Arial"/>
                <a:cs typeface="Arial"/>
              </a:rPr>
              <a:t>Independent checkpoints and structured batch logs</a:t>
            </a:r>
          </a:p>
        </p:txBody>
      </p:sp>
    </p:spTree>
    <p:extLst>
      <p:ext uri="{BB962C8B-B14F-4D97-AF65-F5344CB8AC3E}">
        <p14:creationId xmlns:p14="http://schemas.microsoft.com/office/powerpoint/2010/main" val="194861584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0D926286-ACAA-4A96-A089-21ACBE4F9EA0}"/>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DStreams and Structured Streaming</a:t>
            </a:r>
          </a:p>
        </p:txBody>
      </p:sp>
      <p:graphicFrame>
        <p:nvGraphicFramePr>
          <p:cNvPr id="2" name="">
            <a:extLst xmlns:a="http://schemas.openxmlformats.org/drawingml/2006/main">
              <a:ext uri="{FF2B5EF4-FFF2-40B4-BE49-F238E27FC236}">
                <a16:creationId xmlns:a16="http://schemas.microsoft.com/office/drawing/2014/main" id="{867209A8-6E53-4869-A7B5-3FCBCEAE091F}"/>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2476500"/>
                <a:gridCol w="4048125"/>
                <a:gridCol w="4448175"/>
              </a:tblGrid>
              <a:tr h="642938">
                <a:tc>
                  <a:txBody>
                    <a:bodyPr/>
                    <a:lstStyle/>
                    <a:p>
                      <a:r>
                        <a:rPr sz="1950" b="1">
                          <a:solidFill>
                            <a:srgbClr val="FFFFFF"/>
                          </a:solidFill>
                          <a:latin typeface="Arial"/>
                          <a:ea typeface="Arial"/>
                          <a:cs typeface="Arial"/>
                        </a:rPr>
                        <a:t>Aspect</a:t>
                      </a:r>
                    </a:p>
                  </a:txBody>
                  <a:tcPr marL="91440" marR="91440" marT="45720" marB="45720">
                    <a:solidFill>
                      <a:srgbClr val="142839"/>
                    </a:solidFill>
                  </a:tcPr>
                </a:tc>
                <a:tc>
                  <a:txBody>
                    <a:bodyPr/>
                    <a:lstStyle/>
                    <a:p>
                      <a:r>
                        <a:rPr sz="1950" b="1">
                          <a:solidFill>
                            <a:srgbClr val="FFFFFF"/>
                          </a:solidFill>
                          <a:latin typeface="Arial"/>
                          <a:ea typeface="Arial"/>
                          <a:cs typeface="Arial"/>
                        </a:rPr>
                        <a:t>DStreams</a:t>
                      </a:r>
                    </a:p>
                  </a:txBody>
                  <a:tcPr marL="91440" marR="91440" marT="45720" marB="45720">
                    <a:solidFill>
                      <a:srgbClr val="142839"/>
                    </a:solidFill>
                  </a:tcPr>
                </a:tc>
                <a:tc>
                  <a:txBody>
                    <a:bodyPr/>
                    <a:lstStyle/>
                    <a:p>
                      <a:r>
                        <a:rPr sz="1950" b="1">
                          <a:solidFill>
                            <a:srgbClr val="FFFFFF"/>
                          </a:solidFill>
                          <a:latin typeface="Arial"/>
                          <a:ea typeface="Arial"/>
                          <a:cs typeface="Arial"/>
                        </a:rPr>
                        <a:t>Structured Streaming</a:t>
                      </a:r>
                    </a:p>
                  </a:txBody>
                  <a:tcPr marL="91440" marR="91440" marT="45720" marB="45720">
                    <a:solidFill>
                      <a:srgbClr val="142839"/>
                    </a:solidFill>
                  </a:tcPr>
                </a:tc>
              </a:tr>
              <a:tr h="642938">
                <a:tc>
                  <a:txBody>
                    <a:bodyPr/>
                    <a:lstStyle/>
                    <a:p>
                      <a:r>
                        <a:rPr sz="1950" b="0">
                          <a:solidFill>
                            <a:srgbClr val="142839"/>
                          </a:solidFill>
                          <a:latin typeface="Arial"/>
                          <a:ea typeface="Arial"/>
                          <a:cs typeface="Arial"/>
                        </a:rPr>
                        <a:t>Data model</a:t>
                      </a:r>
                    </a:p>
                  </a:txBody>
                  <a:tcPr marL="91440" marR="91440" marT="45720" marB="45720">
                    <a:solidFill>
                      <a:srgbClr val="FFFFFF"/>
                    </a:solidFill>
                  </a:tcPr>
                </a:tc>
                <a:tc>
                  <a:txBody>
                    <a:bodyPr/>
                    <a:lstStyle/>
                    <a:p>
                      <a:r>
                        <a:rPr sz="1950" b="0">
                          <a:solidFill>
                            <a:srgbClr val="142839"/>
                          </a:solidFill>
                          <a:latin typeface="Arial"/>
                          <a:ea typeface="Arial"/>
                          <a:cs typeface="Arial"/>
                        </a:rPr>
                        <a:t>Sequence of RDDs</a:t>
                      </a:r>
                    </a:p>
                  </a:txBody>
                  <a:tcPr marL="91440" marR="91440" marT="45720" marB="45720">
                    <a:solidFill>
                      <a:srgbClr val="FFFFFF"/>
                    </a:solidFill>
                  </a:tcPr>
                </a:tc>
                <a:tc>
                  <a:txBody>
                    <a:bodyPr/>
                    <a:lstStyle/>
                    <a:p>
                      <a:r>
                        <a:rPr sz="1950" b="0">
                          <a:solidFill>
                            <a:srgbClr val="142839"/>
                          </a:solidFill>
                          <a:latin typeface="Arial"/>
                          <a:ea typeface="Arial"/>
                          <a:cs typeface="Arial"/>
                        </a:rPr>
                        <a:t>Unbounded table</a:t>
                      </a:r>
                    </a:p>
                  </a:txBody>
                  <a:tcPr marL="91440" marR="91440" marT="45720" marB="45720">
                    <a:solidFill>
                      <a:srgbClr val="FFFFFF"/>
                    </a:solidFill>
                  </a:tcPr>
                </a:tc>
              </a:tr>
              <a:tr h="642938">
                <a:tc>
                  <a:txBody>
                    <a:bodyPr/>
                    <a:lstStyle/>
                    <a:p>
                      <a:r>
                        <a:rPr sz="1950" b="0">
                          <a:solidFill>
                            <a:srgbClr val="142839"/>
                          </a:solidFill>
                          <a:latin typeface="Arial"/>
                          <a:ea typeface="Arial"/>
                          <a:cs typeface="Arial"/>
                        </a:rPr>
                        <a:t>API</a:t>
                      </a:r>
                    </a:p>
                  </a:txBody>
                  <a:tcPr marL="91440" marR="91440" marT="45720" marB="45720">
                    <a:solidFill>
                      <a:srgbClr val="EDF2F4"/>
                    </a:solidFill>
                  </a:tcPr>
                </a:tc>
                <a:tc>
                  <a:txBody>
                    <a:bodyPr/>
                    <a:lstStyle/>
                    <a:p>
                      <a:r>
                        <a:rPr sz="1950" b="0">
                          <a:solidFill>
                            <a:srgbClr val="142839"/>
                          </a:solidFill>
                          <a:latin typeface="Arial"/>
                          <a:ea typeface="Arial"/>
                          <a:cs typeface="Arial"/>
                        </a:rPr>
                        <a:t>RDD transformations</a:t>
                      </a:r>
                    </a:p>
                  </a:txBody>
                  <a:tcPr marL="91440" marR="91440" marT="45720" marB="45720">
                    <a:solidFill>
                      <a:srgbClr val="EDF2F4"/>
                    </a:solidFill>
                  </a:tcPr>
                </a:tc>
                <a:tc>
                  <a:txBody>
                    <a:bodyPr/>
                    <a:lstStyle/>
                    <a:p>
                      <a:r>
                        <a:rPr sz="1950" b="0">
                          <a:solidFill>
                            <a:srgbClr val="142839"/>
                          </a:solidFill>
                          <a:latin typeface="Arial"/>
                          <a:ea typeface="Arial"/>
                          <a:cs typeface="Arial"/>
                        </a:rPr>
                        <a:t>DataFrame and SQL</a:t>
                      </a:r>
                    </a:p>
                  </a:txBody>
                  <a:tcPr marL="91440" marR="91440" marT="45720" marB="45720">
                    <a:solidFill>
                      <a:srgbClr val="EDF2F4"/>
                    </a:solidFill>
                  </a:tcPr>
                </a:tc>
              </a:tr>
              <a:tr h="642938">
                <a:tc>
                  <a:txBody>
                    <a:bodyPr/>
                    <a:lstStyle/>
                    <a:p>
                      <a:r>
                        <a:rPr sz="1950" b="0">
                          <a:solidFill>
                            <a:srgbClr val="142839"/>
                          </a:solidFill>
                          <a:latin typeface="Arial"/>
                          <a:ea typeface="Arial"/>
                          <a:cs typeface="Arial"/>
                        </a:rPr>
                        <a:t>Event-time state</a:t>
                      </a:r>
                    </a:p>
                  </a:txBody>
                  <a:tcPr marL="91440" marR="91440" marT="45720" marB="45720">
                    <a:solidFill>
                      <a:srgbClr val="FFFFFF"/>
                    </a:solidFill>
                  </a:tcPr>
                </a:tc>
                <a:tc>
                  <a:txBody>
                    <a:bodyPr/>
                    <a:lstStyle/>
                    <a:p>
                      <a:r>
                        <a:rPr sz="1950" b="0">
                          <a:solidFill>
                            <a:srgbClr val="142839"/>
                          </a:solidFill>
                          <a:latin typeface="Arial"/>
                          <a:ea typeface="Arial"/>
                          <a:cs typeface="Arial"/>
                        </a:rPr>
                        <a:t>More manual logic</a:t>
                      </a:r>
                    </a:p>
                  </a:txBody>
                  <a:tcPr marL="91440" marR="91440" marT="45720" marB="45720">
                    <a:solidFill>
                      <a:srgbClr val="FFFFFF"/>
                    </a:solidFill>
                  </a:tcPr>
                </a:tc>
                <a:tc>
                  <a:txBody>
                    <a:bodyPr/>
                    <a:lstStyle/>
                    <a:p>
                      <a:r>
                        <a:rPr sz="1950" b="0">
                          <a:solidFill>
                            <a:srgbClr val="142839"/>
                          </a:solidFill>
                          <a:latin typeface="Arial"/>
                          <a:ea typeface="Arial"/>
                          <a:cs typeface="Arial"/>
                        </a:rPr>
                        <a:t>Windows and watermarks</a:t>
                      </a:r>
                    </a:p>
                  </a:txBody>
                  <a:tcPr marL="91440" marR="91440" marT="45720" marB="45720">
                    <a:solidFill>
                      <a:srgbClr val="FFFFFF"/>
                    </a:solidFill>
                  </a:tcPr>
                </a:tc>
              </a:tr>
              <a:tr h="642938">
                <a:tc>
                  <a:txBody>
                    <a:bodyPr/>
                    <a:lstStyle/>
                    <a:p>
                      <a:r>
                        <a:rPr sz="1950" b="0">
                          <a:solidFill>
                            <a:srgbClr val="142839"/>
                          </a:solidFill>
                          <a:latin typeface="Arial"/>
                          <a:ea typeface="Arial"/>
                          <a:cs typeface="Arial"/>
                        </a:rPr>
                        <a:t>Optimization</a:t>
                      </a:r>
                    </a:p>
                  </a:txBody>
                  <a:tcPr marL="91440" marR="91440" marT="45720" marB="45720">
                    <a:solidFill>
                      <a:srgbClr val="EDF2F4"/>
                    </a:solidFill>
                  </a:tcPr>
                </a:tc>
                <a:tc>
                  <a:txBody>
                    <a:bodyPr/>
                    <a:lstStyle/>
                    <a:p>
                      <a:r>
                        <a:rPr sz="1950" b="0">
                          <a:solidFill>
                            <a:srgbClr val="142839"/>
                          </a:solidFill>
                          <a:latin typeface="Arial"/>
                          <a:ea typeface="Arial"/>
                          <a:cs typeface="Arial"/>
                        </a:rPr>
                        <a:t>Procedural functions</a:t>
                      </a:r>
                    </a:p>
                  </a:txBody>
                  <a:tcPr marL="91440" marR="91440" marT="45720" marB="45720">
                    <a:solidFill>
                      <a:srgbClr val="EDF2F4"/>
                    </a:solidFill>
                  </a:tcPr>
                </a:tc>
                <a:tc>
                  <a:txBody>
                    <a:bodyPr/>
                    <a:lstStyle/>
                    <a:p>
                      <a:r>
                        <a:rPr sz="1950" b="0">
                          <a:solidFill>
                            <a:srgbClr val="142839"/>
                          </a:solidFill>
                          <a:latin typeface="Arial"/>
                          <a:ea typeface="Arial"/>
                          <a:cs typeface="Arial"/>
                        </a:rPr>
                        <a:t>Spark SQL engine</a:t>
                      </a:r>
                    </a:p>
                  </a:txBody>
                  <a:tcPr marL="91440" marR="91440" marT="45720" marB="45720">
                    <a:solidFill>
                      <a:srgbClr val="EDF2F4"/>
                    </a:solidFill>
                  </a:tcPr>
                </a:tc>
              </a:tr>
              <a:tr h="642938">
                <a:tc>
                  <a:txBody>
                    <a:bodyPr/>
                    <a:lstStyle/>
                    <a:p>
                      <a:r>
                        <a:rPr sz="1950" b="0">
                          <a:solidFill>
                            <a:srgbClr val="142839"/>
                          </a:solidFill>
                          <a:latin typeface="Arial"/>
                          <a:ea typeface="Arial"/>
                          <a:cs typeface="Arial"/>
                        </a:rPr>
                        <a:t>Project choice</a:t>
                      </a:r>
                    </a:p>
                  </a:txBody>
                  <a:tcPr marL="91440" marR="91440" marT="45720" marB="45720">
                    <a:solidFill>
                      <a:srgbClr val="FFFFFF"/>
                    </a:solidFill>
                  </a:tcPr>
                </a:tc>
                <a:tc>
                  <a:txBody>
                    <a:bodyPr/>
                    <a:lstStyle/>
                    <a:p>
                      <a:r>
                        <a:rPr sz="1950" b="0">
                          <a:solidFill>
                            <a:srgbClr val="142839"/>
                          </a:solidFill>
                          <a:latin typeface="Arial"/>
                          <a:ea typeface="Arial"/>
                          <a:cs typeface="Arial"/>
                        </a:rPr>
                        <a:t>Legacy comparison</a:t>
                      </a:r>
                    </a:p>
                  </a:txBody>
                  <a:tcPr marL="91440" marR="91440" marT="45720" marB="45720">
                    <a:solidFill>
                      <a:srgbClr val="FFFFFF"/>
                    </a:solidFill>
                  </a:tcPr>
                </a:tc>
                <a:tc>
                  <a:txBody>
                    <a:bodyPr/>
                    <a:lstStyle/>
                    <a:p>
                      <a:r>
                        <a:rPr sz="1950" b="0">
                          <a:solidFill>
                            <a:srgbClr val="142839"/>
                          </a:solidFill>
                          <a:latin typeface="Arial"/>
                          <a:ea typeface="Arial"/>
                          <a:cs typeface="Arial"/>
                        </a:rPr>
                        <a:t>Selected implementation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2390651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7589026-B94E-4A1E-856C-2EB27B4F27C0}"/>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Kafka and Flume ingestion choices</a:t>
            </a:r>
          </a:p>
        </p:txBody>
      </p:sp>
      <p:graphicFrame>
        <p:nvGraphicFramePr>
          <p:cNvPr id="2" name="">
            <a:extLst xmlns:a="http://schemas.openxmlformats.org/drawingml/2006/main">
              <a:ext uri="{FF2B5EF4-FFF2-40B4-BE49-F238E27FC236}">
                <a16:creationId xmlns:a16="http://schemas.microsoft.com/office/drawing/2014/main" id="{D8A49223-16C1-4152-9E58-83262C75CD74}"/>
              </a:ext>
            </a:extLst>
          </p:cNvPr>
          <p:cNvGraphicFramePr/>
          <p:nvPr/>
        </p:nvGraphicFramePr>
        <p:xfrm>
          <a:off xmlns:a="http://schemas.openxmlformats.org/drawingml/2006/main" x="609600" y="1714500"/>
          <a:ext xmlns:a="http://schemas.openxmlformats.org/drawingml/2006/main" cx="10972800" cy="3810000"/>
        </p:xfrm>
        <a:graphic xmlns:a="http://schemas.openxmlformats.org/drawingml/2006/main">
          <a:graphicData uri="http://schemas.openxmlformats.org/drawingml/2006/table">
            <a:tbl>
              <a:tblPr/>
              <a:tblGrid>
                <a:gridCol w="2571750"/>
                <a:gridCol w="4191000"/>
                <a:gridCol w="4210050"/>
              </a:tblGrid>
              <a:tr h="635000">
                <a:tc>
                  <a:txBody>
                    <a:bodyPr/>
                    <a:lstStyle/>
                    <a:p>
                      <a:r>
                        <a:rPr sz="1875" b="1">
                          <a:solidFill>
                            <a:srgbClr val="FFFFFF"/>
                          </a:solidFill>
                          <a:latin typeface="Arial"/>
                          <a:ea typeface="Arial"/>
                          <a:cs typeface="Arial"/>
                        </a:rPr>
                        <a:t>Criterion</a:t>
                      </a:r>
                    </a:p>
                  </a:txBody>
                  <a:tcPr marL="91440" marR="91440" marT="45720" marB="45720">
                    <a:solidFill>
                      <a:srgbClr val="142839"/>
                    </a:solidFill>
                  </a:tcPr>
                </a:tc>
                <a:tc>
                  <a:txBody>
                    <a:bodyPr/>
                    <a:lstStyle/>
                    <a:p>
                      <a:r>
                        <a:rPr sz="1875" b="1">
                          <a:solidFill>
                            <a:srgbClr val="FFFFFF"/>
                          </a:solidFill>
                          <a:latin typeface="Arial"/>
                          <a:ea typeface="Arial"/>
                          <a:cs typeface="Arial"/>
                        </a:rPr>
                        <a:t>Kafka</a:t>
                      </a:r>
                    </a:p>
                  </a:txBody>
                  <a:tcPr marL="91440" marR="91440" marT="45720" marB="45720">
                    <a:solidFill>
                      <a:srgbClr val="142839"/>
                    </a:solidFill>
                  </a:tcPr>
                </a:tc>
                <a:tc>
                  <a:txBody>
                    <a:bodyPr/>
                    <a:lstStyle/>
                    <a:p>
                      <a:r>
                        <a:rPr sz="1875" b="1">
                          <a:solidFill>
                            <a:srgbClr val="FFFFFF"/>
                          </a:solidFill>
                          <a:latin typeface="Arial"/>
                          <a:ea typeface="Arial"/>
                          <a:cs typeface="Arial"/>
                        </a:rPr>
                        <a:t>Flume</a:t>
                      </a:r>
                    </a:p>
                  </a:txBody>
                  <a:tcPr marL="91440" marR="91440" marT="45720" marB="45720">
                    <a:solidFill>
                      <a:srgbClr val="142839"/>
                    </a:solidFill>
                  </a:tcPr>
                </a:tc>
              </a:tr>
              <a:tr h="635000">
                <a:tc>
                  <a:txBody>
                    <a:bodyPr/>
                    <a:lstStyle/>
                    <a:p>
                      <a:r>
                        <a:rPr sz="1875" b="0">
                          <a:solidFill>
                            <a:srgbClr val="142839"/>
                          </a:solidFill>
                          <a:latin typeface="Arial"/>
                          <a:ea typeface="Arial"/>
                          <a:cs typeface="Arial"/>
                        </a:rPr>
                        <a:t>Core model</a:t>
                      </a:r>
                    </a:p>
                  </a:txBody>
                  <a:tcPr marL="91440" marR="91440" marT="45720" marB="45720">
                    <a:solidFill>
                      <a:srgbClr val="FFFFFF"/>
                    </a:solidFill>
                  </a:tcPr>
                </a:tc>
                <a:tc>
                  <a:txBody>
                    <a:bodyPr/>
                    <a:lstStyle/>
                    <a:p>
                      <a:r>
                        <a:rPr sz="1875" b="0">
                          <a:solidFill>
                            <a:srgbClr val="142839"/>
                          </a:solidFill>
                          <a:latin typeface="Arial"/>
                          <a:ea typeface="Arial"/>
                          <a:cs typeface="Arial"/>
                        </a:rPr>
                        <a:t>Retained partitioned log</a:t>
                      </a:r>
                    </a:p>
                  </a:txBody>
                  <a:tcPr marL="91440" marR="91440" marT="45720" marB="45720">
                    <a:solidFill>
                      <a:srgbClr val="FFFFFF"/>
                    </a:solidFill>
                  </a:tcPr>
                </a:tc>
                <a:tc>
                  <a:txBody>
                    <a:bodyPr/>
                    <a:lstStyle/>
                    <a:p>
                      <a:r>
                        <a:rPr sz="1875" b="0">
                          <a:solidFill>
                            <a:srgbClr val="142839"/>
                          </a:solidFill>
                          <a:latin typeface="Arial"/>
                          <a:ea typeface="Arial"/>
                          <a:cs typeface="Arial"/>
                        </a:rPr>
                        <a:t>Source channel sink</a:t>
                      </a:r>
                    </a:p>
                  </a:txBody>
                  <a:tcPr marL="91440" marR="91440" marT="45720" marB="45720">
                    <a:solidFill>
                      <a:srgbClr val="FFFFFF"/>
                    </a:solidFill>
                  </a:tcPr>
                </a:tc>
              </a:tr>
              <a:tr h="635000">
                <a:tc>
                  <a:txBody>
                    <a:bodyPr/>
                    <a:lstStyle/>
                    <a:p>
                      <a:r>
                        <a:rPr sz="1875" b="0">
                          <a:solidFill>
                            <a:srgbClr val="142839"/>
                          </a:solidFill>
                          <a:latin typeface="Arial"/>
                          <a:ea typeface="Arial"/>
                          <a:cs typeface="Arial"/>
                        </a:rPr>
                        <a:t>Replay</a:t>
                      </a:r>
                    </a:p>
                  </a:txBody>
                  <a:tcPr marL="91440" marR="91440" marT="45720" marB="45720">
                    <a:solidFill>
                      <a:srgbClr val="EDF2F4"/>
                    </a:solidFill>
                  </a:tcPr>
                </a:tc>
                <a:tc>
                  <a:txBody>
                    <a:bodyPr/>
                    <a:lstStyle/>
                    <a:p>
                      <a:r>
                        <a:rPr sz="1875" b="0">
                          <a:solidFill>
                            <a:srgbClr val="142839"/>
                          </a:solidFill>
                          <a:latin typeface="Arial"/>
                          <a:ea typeface="Arial"/>
                          <a:cs typeface="Arial"/>
                        </a:rPr>
                        <a:t>Seek retained offsets</a:t>
                      </a:r>
                    </a:p>
                  </a:txBody>
                  <a:tcPr marL="91440" marR="91440" marT="45720" marB="45720">
                    <a:solidFill>
                      <a:srgbClr val="EDF2F4"/>
                    </a:solidFill>
                  </a:tcPr>
                </a:tc>
                <a:tc>
                  <a:txBody>
                    <a:bodyPr/>
                    <a:lstStyle/>
                    <a:p>
                      <a:r>
                        <a:rPr sz="1875" b="0">
                          <a:solidFill>
                            <a:srgbClr val="142839"/>
                          </a:solidFill>
                          <a:latin typeface="Arial"/>
                          <a:ea typeface="Arial"/>
                          <a:cs typeface="Arial"/>
                        </a:rPr>
                        <a:t>Depends on delivery flow</a:t>
                      </a:r>
                    </a:p>
                  </a:txBody>
                  <a:tcPr marL="91440" marR="91440" marT="45720" marB="45720">
                    <a:solidFill>
                      <a:srgbClr val="EDF2F4"/>
                    </a:solidFill>
                  </a:tcPr>
                </a:tc>
              </a:tr>
              <a:tr h="635000">
                <a:tc>
                  <a:txBody>
                    <a:bodyPr/>
                    <a:lstStyle/>
                    <a:p>
                      <a:r>
                        <a:rPr sz="1875" b="0">
                          <a:solidFill>
                            <a:srgbClr val="142839"/>
                          </a:solidFill>
                          <a:latin typeface="Arial"/>
                          <a:ea typeface="Arial"/>
                          <a:cs typeface="Arial"/>
                        </a:rPr>
                        <a:t>Multiple readers</a:t>
                      </a:r>
                    </a:p>
                  </a:txBody>
                  <a:tcPr marL="91440" marR="91440" marT="45720" marB="45720">
                    <a:solidFill>
                      <a:srgbClr val="FFFFFF"/>
                    </a:solidFill>
                  </a:tcPr>
                </a:tc>
                <a:tc>
                  <a:txBody>
                    <a:bodyPr/>
                    <a:lstStyle/>
                    <a:p>
                      <a:r>
                        <a:rPr sz="1875" b="0">
                          <a:solidFill>
                            <a:srgbClr val="142839"/>
                          </a:solidFill>
                          <a:latin typeface="Arial"/>
                          <a:ea typeface="Arial"/>
                          <a:cs typeface="Arial"/>
                        </a:rPr>
                        <a:t>Independent groups</a:t>
                      </a:r>
                    </a:p>
                  </a:txBody>
                  <a:tcPr marL="91440" marR="91440" marT="45720" marB="45720">
                    <a:solidFill>
                      <a:srgbClr val="FFFFFF"/>
                    </a:solidFill>
                  </a:tcPr>
                </a:tc>
                <a:tc>
                  <a:txBody>
                    <a:bodyPr/>
                    <a:lstStyle/>
                    <a:p>
                      <a:r>
                        <a:rPr sz="1875" b="0">
                          <a:solidFill>
                            <a:srgbClr val="142839"/>
                          </a:solidFill>
                          <a:latin typeface="Arial"/>
                          <a:ea typeface="Arial"/>
                          <a:cs typeface="Arial"/>
                        </a:rPr>
                        <a:t>Configured fan-out</a:t>
                      </a:r>
                    </a:p>
                  </a:txBody>
                  <a:tcPr marL="91440" marR="91440" marT="45720" marB="45720">
                    <a:solidFill>
                      <a:srgbClr val="FFFFFF"/>
                    </a:solidFill>
                  </a:tcPr>
                </a:tc>
              </a:tr>
              <a:tr h="635000">
                <a:tc>
                  <a:txBody>
                    <a:bodyPr/>
                    <a:lstStyle/>
                    <a:p>
                      <a:r>
                        <a:rPr sz="1875" b="0">
                          <a:solidFill>
                            <a:srgbClr val="142839"/>
                          </a:solidFill>
                          <a:latin typeface="Arial"/>
                          <a:ea typeface="Arial"/>
                          <a:cs typeface="Arial"/>
                        </a:rPr>
                        <a:t>Best project fit</a:t>
                      </a:r>
                    </a:p>
                  </a:txBody>
                  <a:tcPr marL="91440" marR="91440" marT="45720" marB="45720">
                    <a:solidFill>
                      <a:srgbClr val="EDF2F4"/>
                    </a:solidFill>
                  </a:tcPr>
                </a:tc>
                <a:tc>
                  <a:txBody>
                    <a:bodyPr/>
                    <a:lstStyle/>
                    <a:p>
                      <a:r>
                        <a:rPr sz="1875" b="0">
                          <a:solidFill>
                            <a:srgbClr val="142839"/>
                          </a:solidFill>
                          <a:latin typeface="Arial"/>
                          <a:ea typeface="Arial"/>
                          <a:cs typeface="Arial"/>
                        </a:rPr>
                        <a:t>Shared event ingestion</a:t>
                      </a:r>
                    </a:p>
                  </a:txBody>
                  <a:tcPr marL="91440" marR="91440" marT="45720" marB="45720">
                    <a:solidFill>
                      <a:srgbClr val="EDF2F4"/>
                    </a:solidFill>
                  </a:tcPr>
                </a:tc>
                <a:tc>
                  <a:txBody>
                    <a:bodyPr/>
                    <a:lstStyle/>
                    <a:p>
                      <a:r>
                        <a:rPr sz="1875" b="0">
                          <a:solidFill>
                            <a:srgbClr val="142839"/>
                          </a:solidFill>
                          <a:latin typeface="Arial"/>
                          <a:ea typeface="Arial"/>
                          <a:cs typeface="Arial"/>
                        </a:rPr>
                        <a:t>Log forwarding</a:t>
                      </a:r>
                    </a:p>
                  </a:txBody>
                  <a:tcPr marL="91440" marR="91440" marT="45720" marB="45720">
                    <a:solidFill>
                      <a:srgbClr val="EDF2F4"/>
                    </a:solidFill>
                  </a:tcPr>
                </a:tc>
              </a:tr>
              <a:tr h="635000">
                <a:tc>
                  <a:txBody>
                    <a:bodyPr/>
                    <a:lstStyle/>
                    <a:p>
                      <a:r>
                        <a:rPr sz="1875" b="0">
                          <a:solidFill>
                            <a:srgbClr val="142839"/>
                          </a:solidFill>
                          <a:latin typeface="Arial"/>
                          <a:ea typeface="Arial"/>
                          <a:cs typeface="Arial"/>
                        </a:rPr>
                        <a:t>Operational cost</a:t>
                      </a:r>
                    </a:p>
                  </a:txBody>
                  <a:tcPr marL="91440" marR="91440" marT="45720" marB="45720">
                    <a:solidFill>
                      <a:srgbClr val="FFFFFF"/>
                    </a:solidFill>
                  </a:tcPr>
                </a:tc>
                <a:tc>
                  <a:txBody>
                    <a:bodyPr/>
                    <a:lstStyle/>
                    <a:p>
                      <a:r>
                        <a:rPr sz="1875" b="0">
                          <a:solidFill>
                            <a:srgbClr val="142839"/>
                          </a:solidFill>
                          <a:latin typeface="Arial"/>
                          <a:ea typeface="Arial"/>
                          <a:cs typeface="Arial"/>
                        </a:rPr>
                        <a:t>Broker and partition planning</a:t>
                      </a:r>
                    </a:p>
                  </a:txBody>
                  <a:tcPr marL="91440" marR="91440" marT="45720" marB="45720">
                    <a:solidFill>
                      <a:srgbClr val="FFFFFF"/>
                    </a:solidFill>
                  </a:tcPr>
                </a:tc>
                <a:tc>
                  <a:txBody>
                    <a:bodyPr/>
                    <a:lstStyle/>
                    <a:p>
                      <a:r>
                        <a:rPr sz="1875" b="0">
                          <a:solidFill>
                            <a:srgbClr val="142839"/>
                          </a:solidFill>
                          <a:latin typeface="Arial"/>
                          <a:ea typeface="Arial"/>
                          <a:cs typeface="Arial"/>
                        </a:rPr>
                        <a:t>Agents and flow planning</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7791F5F-F62C-460F-B838-EAEFC069D42A}"/>
              </a:ext>
            </a:extLst>
          </p:cNvPr>
          <p:cNvSpPr>
            <a:spLocks xmlns:a="http://schemas.openxmlformats.org/drawingml/2006/main" noGrp="1"/>
          </p:cNvSpPr>
          <p:nvPr/>
        </p:nvSpPr>
        <p:spPr>
          <a:xfrm xmlns:a="http://schemas.openxmlformats.org/drawingml/2006/main">
            <a:off x="66675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6C75"/>
                </a:solidFill>
                <a:latin typeface="Arial"/>
                <a:ea typeface="Arial"/>
                <a:cs typeface="Arial"/>
              </a:defRPr>
            </a:defPPr>
          </a:lstStyle>
          <a:p xmlns:a="http://schemas.openxmlformats.org/drawingml/2006/main">
            <a:pPr>
              <a:defRPr sz="2100" b="1">
                <a:solidFill>
                  <a:srgbClr val="176C75"/>
                </a:solidFill>
                <a:latin typeface="Arial"/>
                <a:ea typeface="Arial"/>
                <a:cs typeface="Arial"/>
              </a:defRPr>
            </a:pPr>
            <a:r>
              <a:rPr sz="2100" b="1">
                <a:solidFill>
                  <a:srgbClr val="176C75"/>
                </a:solidFill>
                <a:latin typeface="Arial"/>
                <a:ea typeface="Arial"/>
                <a:cs typeface="Arial"/>
              </a:rPr>
              <a:t>The local broker uses KRaft and replication factor one.</a:t>
            </a:r>
          </a:p>
        </p:txBody>
      </p:sp>
    </p:spTree>
    <p:extLst>
      <p:ext uri="{BB962C8B-B14F-4D97-AF65-F5344CB8AC3E}">
        <p14:creationId xmlns:p14="http://schemas.microsoft.com/office/powerpoint/2010/main" val="1559160275"/>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6C6DD7-6C47-4579-BBBA-F9CA8FE867CA}"/>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Continuous ETL and optimization research</a:t>
            </a:r>
          </a:p>
        </p:txBody>
      </p:sp>
      <p:sp>
        <p:nvSpPr>
          <p:cNvPr id="2" name="">
            <a:extLst xmlns:a="http://schemas.openxmlformats.org/drawingml/2006/main">
              <a:ext uri="{FF2B5EF4-FFF2-40B4-BE49-F238E27FC236}">
                <a16:creationId xmlns:a16="http://schemas.microsoft.com/office/drawing/2014/main" id="{DF2E7CD3-1EDE-4EC4-B9DE-4387EA116A8E}"/>
              </a:ext>
            </a:extLst>
          </p:cNvPr>
          <p:cNvSpPr>
            <a:spLocks xmlns:a="http://schemas.openxmlformats.org/drawingml/2006/main" noGrp="1"/>
          </p:cNvSpPr>
          <p:nvPr/>
        </p:nvSpPr>
        <p:spPr>
          <a:xfrm xmlns:a="http://schemas.openxmlformats.org/drawingml/2006/main">
            <a:off x="704850" y="1809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Extract retains the Kafka topic, partition and offset.</a:t>
            </a:r>
          </a:p>
        </p:txBody>
      </p:sp>
      <p:sp>
        <p:nvSpPr>
          <p:cNvPr id="3" name="">
            <a:extLst xmlns:a="http://schemas.openxmlformats.org/drawingml/2006/main">
              <a:ext uri="{FF2B5EF4-FFF2-40B4-BE49-F238E27FC236}">
                <a16:creationId xmlns:a16="http://schemas.microsoft.com/office/drawing/2014/main" id="{7F6EECDD-53EB-4BF4-AFC8-C3C7B2DB6653}"/>
              </a:ext>
            </a:extLst>
          </p:cNvPr>
          <p:cNvSpPr>
            <a:spLocks xmlns:a="http://schemas.openxmlformats.org/drawingml/2006/main" noGrp="1"/>
          </p:cNvSpPr>
          <p:nvPr/>
        </p:nvSpPr>
        <p:spPr>
          <a:xfrm xmlns:a="http://schemas.openxmlformats.org/drawingml/2006/main">
            <a:off x="704850" y="27051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Transform validates JSON and maintains visitor-item window state.</a:t>
            </a:r>
          </a:p>
        </p:txBody>
      </p:sp>
      <p:sp>
        <p:nvSpPr>
          <p:cNvPr id="4" name="">
            <a:extLst xmlns:a="http://schemas.openxmlformats.org/drawingml/2006/main">
              <a:ext uri="{FF2B5EF4-FFF2-40B4-BE49-F238E27FC236}">
                <a16:creationId xmlns:a16="http://schemas.microsoft.com/office/drawing/2014/main" id="{BB55EF92-D499-4A53-B61E-58EA98ADADE7}"/>
              </a:ext>
            </a:extLst>
          </p:cNvPr>
          <p:cNvSpPr>
            <a:spLocks xmlns:a="http://schemas.openxmlformats.org/drawingml/2006/main" noGrp="1"/>
          </p:cNvSpPr>
          <p:nvPr/>
        </p:nvSpPr>
        <p:spPr>
          <a:xfrm xmlns:a="http://schemas.openxmlformats.org/drawingml/2006/main">
            <a:off x="704850" y="36004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Load publishes Parquet history and current recommendation snapshots.</a:t>
            </a:r>
          </a:p>
        </p:txBody>
      </p:sp>
      <p:sp>
        <p:nvSpPr>
          <p:cNvPr id="5" name="">
            <a:extLst xmlns:a="http://schemas.openxmlformats.org/drawingml/2006/main">
              <a:ext uri="{FF2B5EF4-FFF2-40B4-BE49-F238E27FC236}">
                <a16:creationId xmlns:a16="http://schemas.microsoft.com/office/drawing/2014/main" id="{270B62BE-CF93-46AA-A111-986C29F182EC}"/>
              </a:ext>
            </a:extLst>
          </p:cNvPr>
          <p:cNvSpPr>
            <a:spLocks xmlns:a="http://schemas.openxmlformats.org/drawingml/2006/main" noGrp="1"/>
          </p:cNvSpPr>
          <p:nvPr/>
        </p:nvSpPr>
        <p:spPr>
          <a:xfrm xmlns:a="http://schemas.openxmlformats.org/drawingml/2006/main">
            <a:off x="704850" y="4762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6C75"/>
                </a:solidFill>
                <a:latin typeface="Arial"/>
                <a:ea typeface="Arial"/>
                <a:cs typeface="Arial"/>
              </a:defRPr>
            </a:defPPr>
          </a:lstStyle>
          <a:p xmlns:a="http://schemas.openxmlformats.org/drawingml/2006/main">
            <a:pPr>
              <a:defRPr sz="2325" b="1">
                <a:solidFill>
                  <a:srgbClr val="176C75"/>
                </a:solidFill>
                <a:latin typeface="Arial"/>
                <a:ea typeface="Arial"/>
                <a:cs typeface="Arial"/>
              </a:defRPr>
            </a:pPr>
            <a:r>
              <a:rPr sz="2325" b="1">
                <a:solidFill>
                  <a:srgbClr val="176C75"/>
                </a:solidFill>
                <a:latin typeface="Arial"/>
                <a:ea typeface="Arial"/>
                <a:cs typeface="Arial"/>
              </a:rPr>
              <a:t>Spark SQL research supports declarative transformations</a:t>
            </a:r>
          </a:p>
          <a:p xmlns:a="http://schemas.openxmlformats.org/drawingml/2006/main">
            <a:pPr>
              <a:defRPr sz="2325" b="1">
                <a:solidFill>
                  <a:srgbClr val="176C75"/>
                </a:solidFill>
                <a:latin typeface="Arial"/>
                <a:ea typeface="Arial"/>
                <a:cs typeface="Arial"/>
              </a:defRPr>
            </a:pPr>
            <a:r>
              <a:rPr sz="2325" b="1">
                <a:solidFill>
                  <a:srgbClr val="176C75"/>
                </a:solidFill>
                <a:latin typeface="Arial"/>
                <a:ea typeface="Arial"/>
                <a:cs typeface="Arial"/>
              </a:rPr>
              <a:t>and optimizer-visible expressions without Python UDFs.</a:t>
            </a:r>
          </a:p>
        </p:txBody>
      </p:sp>
    </p:spTree>
    <p:extLst>
      <p:ext uri="{BB962C8B-B14F-4D97-AF65-F5344CB8AC3E}">
        <p14:creationId xmlns:p14="http://schemas.microsoft.com/office/powerpoint/2010/main" val="702609775"/>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D8BD7F-C6A1-4798-958C-108761A4D2B0}"/>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Event-time windows and late records</a:t>
            </a:r>
          </a:p>
        </p:txBody>
      </p:sp>
      <p:sp>
        <p:nvSpPr>
          <p:cNvPr id="2" name="">
            <a:extLst xmlns:a="http://schemas.openxmlformats.org/drawingml/2006/main">
              <a:ext uri="{FF2B5EF4-FFF2-40B4-BE49-F238E27FC236}">
                <a16:creationId xmlns:a16="http://schemas.microsoft.com/office/drawing/2014/main" id="{DE477F95-C10C-48D8-B3E6-4FC767E76114}"/>
              </a:ext>
            </a:extLst>
          </p:cNvPr>
          <p:cNvSpPr>
            <a:spLocks xmlns:a="http://schemas.openxmlformats.org/drawingml/2006/main" noGrp="1"/>
          </p:cNvSpPr>
          <p:nvPr/>
        </p:nvSpPr>
        <p:spPr>
          <a:xfrm xmlns:a="http://schemas.openxmlformats.org/drawingml/2006/main">
            <a:off x="704850" y="1638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42839"/>
                </a:solidFill>
                <a:latin typeface="Arial"/>
                <a:ea typeface="Arial"/>
                <a:cs typeface="Arial"/>
              </a:defRPr>
            </a:defPPr>
          </a:lstStyle>
          <a:p xmlns:a="http://schemas.openxmlformats.org/drawingml/2006/main">
            <a:pPr>
              <a:defRPr sz="2550" b="1">
                <a:solidFill>
                  <a:srgbClr val="142839"/>
                </a:solidFill>
                <a:latin typeface="Arial"/>
                <a:ea typeface="Arial"/>
                <a:cs typeface="Arial"/>
              </a:defRPr>
            </a:pPr>
            <a:r>
              <a:rPr sz="2550" b="1">
                <a:solidFill>
                  <a:srgbClr val="142839"/>
                </a:solidFill>
                <a:latin typeface="Arial"/>
                <a:ea typeface="Arial"/>
                <a:cs typeface="Arial"/>
              </a:rPr>
              <a:t>10 minutes per window     1 minute per slide</a:t>
            </a:r>
          </a:p>
          <a:p xmlns:a="http://schemas.openxmlformats.org/drawingml/2006/main">
            <a:pPr>
              <a:defRPr sz="2550" b="1">
                <a:solidFill>
                  <a:srgbClr val="142839"/>
                </a:solidFill>
                <a:latin typeface="Arial"/>
                <a:ea typeface="Arial"/>
                <a:cs typeface="Arial"/>
              </a:defRPr>
            </a:pPr>
            <a:r>
              <a:rPr sz="2550" b="1">
                <a:solidFill>
                  <a:srgbClr val="142839"/>
                </a:solidFill>
                <a:latin typeface="Arial"/>
                <a:ea typeface="Arial"/>
                <a:cs typeface="Arial"/>
              </a:rPr>
              <a:t>5 minutes of watermark delay</a:t>
            </a:r>
          </a:p>
        </p:txBody>
      </p:sp>
      <p:graphicFrame>
        <p:nvGraphicFramePr>
          <p:cNvPr id="3" name="">
            <a:extLst xmlns:a="http://schemas.openxmlformats.org/drawingml/2006/main">
              <a:ext uri="{FF2B5EF4-FFF2-40B4-BE49-F238E27FC236}">
                <a16:creationId xmlns:a16="http://schemas.microsoft.com/office/drawing/2014/main" id="{A38555E8-9724-4D29-B45F-036AB979B6BA}"/>
              </a:ext>
            </a:extLst>
          </p:cNvPr>
          <p:cNvGraphicFramePr/>
          <p:nvPr/>
        </p:nvGraphicFramePr>
        <p:xfrm>
          <a:off xmlns:a="http://schemas.openxmlformats.org/drawingml/2006/main" x="609600" y="3143250"/>
          <a:ext xmlns:a="http://schemas.openxmlformats.org/drawingml/2006/main" cx="10972800" cy="2190750"/>
        </p:xfrm>
        <a:graphic xmlns:a="http://schemas.openxmlformats.org/drawingml/2006/main">
          <a:graphicData uri="http://schemas.openxmlformats.org/drawingml/2006/table">
            <a:tbl>
              <a:tblPr/>
              <a:tblGrid>
                <a:gridCol w="3143250"/>
                <a:gridCol w="3143250"/>
                <a:gridCol w="4686300"/>
              </a:tblGrid>
              <a:tr h="547688">
                <a:tc>
                  <a:txBody>
                    <a:bodyPr/>
                    <a:lstStyle/>
                    <a:p>
                      <a:r>
                        <a:rPr sz="1875" b="1">
                          <a:solidFill>
                            <a:srgbClr val="FFFFFF"/>
                          </a:solidFill>
                          <a:latin typeface="Arial"/>
                          <a:ea typeface="Arial"/>
                          <a:cs typeface="Arial"/>
                        </a:rPr>
                        <a:t>Example</a:t>
                      </a:r>
                    </a:p>
                  </a:txBody>
                  <a:tcPr marL="91440" marR="91440" marT="45720" marB="45720">
                    <a:solidFill>
                      <a:srgbClr val="142839"/>
                    </a:solidFill>
                  </a:tcPr>
                </a:tc>
                <a:tc>
                  <a:txBody>
                    <a:bodyPr/>
                    <a:lstStyle/>
                    <a:p>
                      <a:r>
                        <a:rPr sz="1875" b="1">
                          <a:solidFill>
                            <a:srgbClr val="FFFFFF"/>
                          </a:solidFill>
                          <a:latin typeface="Arial"/>
                          <a:ea typeface="Arial"/>
                          <a:cs typeface="Arial"/>
                        </a:rPr>
                        <a:t>Observed frontier</a:t>
                      </a:r>
                    </a:p>
                  </a:txBody>
                  <a:tcPr marL="91440" marR="91440" marT="45720" marB="45720">
                    <a:solidFill>
                      <a:srgbClr val="142839"/>
                    </a:solidFill>
                  </a:tcPr>
                </a:tc>
                <a:tc>
                  <a:txBody>
                    <a:bodyPr/>
                    <a:lstStyle/>
                    <a:p>
                      <a:r>
                        <a:rPr sz="1875" b="1">
                          <a:solidFill>
                            <a:srgbClr val="FFFFFF"/>
                          </a:solidFill>
                          <a:latin typeface="Arial"/>
                          <a:ea typeface="Arial"/>
                          <a:cs typeface="Arial"/>
                        </a:rPr>
                        <a:t>Interpretation</a:t>
                      </a:r>
                    </a:p>
                  </a:txBody>
                  <a:tcPr marL="91440" marR="91440" marT="45720" marB="45720">
                    <a:solidFill>
                      <a:srgbClr val="142839"/>
                    </a:solidFill>
                  </a:tcPr>
                </a:tc>
              </a:tr>
              <a:tr h="547688">
                <a:tc>
                  <a:txBody>
                    <a:bodyPr/>
                    <a:lstStyle/>
                    <a:p>
                      <a:r>
                        <a:rPr sz="1875" b="0">
                          <a:solidFill>
                            <a:srgbClr val="142839"/>
                          </a:solidFill>
                          <a:latin typeface="Arial"/>
                          <a:ea typeface="Arial"/>
                          <a:cs typeface="Arial"/>
                        </a:rPr>
                        <a:t>Latest event</a:t>
                      </a:r>
                    </a:p>
                  </a:txBody>
                  <a:tcPr marL="91440" marR="91440" marT="45720" marB="45720">
                    <a:solidFill>
                      <a:srgbClr val="FFFFFF"/>
                    </a:solidFill>
                  </a:tcPr>
                </a:tc>
                <a:tc>
                  <a:txBody>
                    <a:bodyPr/>
                    <a:lstStyle/>
                    <a:p>
                      <a:r>
                        <a:rPr sz="1875" b="0">
                          <a:solidFill>
                            <a:srgbClr val="142839"/>
                          </a:solidFill>
                          <a:latin typeface="Arial"/>
                          <a:ea typeface="Arial"/>
                          <a:cs typeface="Arial"/>
                        </a:rPr>
                        <a:t>12:20</a:t>
                      </a:r>
                    </a:p>
                  </a:txBody>
                  <a:tcPr marL="91440" marR="91440" marT="45720" marB="45720">
                    <a:solidFill>
                      <a:srgbClr val="FFFFFF"/>
                    </a:solidFill>
                  </a:tcPr>
                </a:tc>
                <a:tc>
                  <a:txBody>
                    <a:bodyPr/>
                    <a:lstStyle/>
                    <a:p>
                      <a:r>
                        <a:rPr sz="1875" b="0">
                          <a:solidFill>
                            <a:srgbClr val="142839"/>
                          </a:solidFill>
                          <a:latin typeface="Arial"/>
                          <a:ea typeface="Arial"/>
                          <a:cs typeface="Arial"/>
                        </a:rPr>
                        <a:t>Conceptual watermark near 12:15</a:t>
                      </a:r>
                    </a:p>
                  </a:txBody>
                  <a:tcPr marL="91440" marR="91440" marT="45720" marB="45720">
                    <a:solidFill>
                      <a:srgbClr val="FFFFFF"/>
                    </a:solidFill>
                  </a:tcPr>
                </a:tc>
              </a:tr>
              <a:tr h="547688">
                <a:tc>
                  <a:txBody>
                    <a:bodyPr/>
                    <a:lstStyle/>
                    <a:p>
                      <a:r>
                        <a:rPr sz="1875" b="0">
                          <a:solidFill>
                            <a:srgbClr val="142839"/>
                          </a:solidFill>
                          <a:latin typeface="Arial"/>
                          <a:ea typeface="Arial"/>
                          <a:cs typeface="Arial"/>
                        </a:rPr>
                        <a:t>Event at 12:18</a:t>
                      </a:r>
                    </a:p>
                  </a:txBody>
                  <a:tcPr marL="91440" marR="91440" marT="45720" marB="45720">
                    <a:solidFill>
                      <a:srgbClr val="EDF2F4"/>
                    </a:solidFill>
                  </a:tcPr>
                </a:tc>
                <a:tc>
                  <a:txBody>
                    <a:bodyPr/>
                    <a:lstStyle/>
                    <a:p>
                      <a:r>
                        <a:rPr sz="1875" b="0">
                          <a:solidFill>
                            <a:srgbClr val="142839"/>
                          </a:solidFill>
                          <a:latin typeface="Arial"/>
                          <a:ea typeface="Arial"/>
                          <a:cs typeface="Arial"/>
                        </a:rPr>
                        <a:t>2 minutes late</a:t>
                      </a:r>
                    </a:p>
                  </a:txBody>
                  <a:tcPr marL="91440" marR="91440" marT="45720" marB="45720">
                    <a:solidFill>
                      <a:srgbClr val="EDF2F4"/>
                    </a:solidFill>
                  </a:tcPr>
                </a:tc>
                <a:tc>
                  <a:txBody>
                    <a:bodyPr/>
                    <a:lstStyle/>
                    <a:p>
                      <a:r>
                        <a:rPr sz="1875" b="0">
                          <a:solidFill>
                            <a:srgbClr val="142839"/>
                          </a:solidFill>
                          <a:latin typeface="Arial"/>
                          <a:ea typeface="Arial"/>
                          <a:cs typeface="Arial"/>
                        </a:rPr>
                        <a:t>Within lateness guarantee</a:t>
                      </a:r>
                    </a:p>
                  </a:txBody>
                  <a:tcPr marL="91440" marR="91440" marT="45720" marB="45720">
                    <a:solidFill>
                      <a:srgbClr val="EDF2F4"/>
                    </a:solidFill>
                  </a:tcPr>
                </a:tc>
              </a:tr>
              <a:tr h="547688">
                <a:tc>
                  <a:txBody>
                    <a:bodyPr/>
                    <a:lstStyle/>
                    <a:p>
                      <a:r>
                        <a:rPr sz="1875" b="0">
                          <a:solidFill>
                            <a:srgbClr val="142839"/>
                          </a:solidFill>
                          <a:latin typeface="Arial"/>
                          <a:ea typeface="Arial"/>
                          <a:cs typeface="Arial"/>
                        </a:rPr>
                        <a:t>Event at 11:20</a:t>
                      </a:r>
                    </a:p>
                  </a:txBody>
                  <a:tcPr marL="91440" marR="91440" marT="45720" marB="45720">
                    <a:solidFill>
                      <a:srgbClr val="FFFFFF"/>
                    </a:solidFill>
                  </a:tcPr>
                </a:tc>
                <a:tc>
                  <a:txBody>
                    <a:bodyPr/>
                    <a:lstStyle/>
                    <a:p>
                      <a:r>
                        <a:rPr sz="1875" b="0">
                          <a:solidFill>
                            <a:srgbClr val="142839"/>
                          </a:solidFill>
                          <a:latin typeface="Arial"/>
                          <a:ea typeface="Arial"/>
                          <a:cs typeface="Arial"/>
                        </a:rPr>
                        <a:t>1 hour late</a:t>
                      </a:r>
                    </a:p>
                  </a:txBody>
                  <a:tcPr marL="91440" marR="91440" marT="45720" marB="45720">
                    <a:solidFill>
                      <a:srgbClr val="FFFFFF"/>
                    </a:solidFill>
                  </a:tcPr>
                </a:tc>
                <a:tc>
                  <a:txBody>
                    <a:bodyPr/>
                    <a:lstStyle/>
                    <a:p>
                      <a:r>
                        <a:rPr sz="1875" b="0">
                          <a:solidFill>
                            <a:srgbClr val="142839"/>
                          </a:solidFill>
                          <a:latin typeface="Arial"/>
                          <a:ea typeface="Arial"/>
                          <a:cs typeface="Arial"/>
                        </a:rPr>
                        <a:t>Affected windows have expired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C94C127-366D-40E9-8DAA-1A4E1FDB18F7}"/>
              </a:ext>
            </a:extLst>
          </p:cNvPr>
          <p:cNvSpPr>
            <a:spLocks xmlns:a="http://schemas.openxmlformats.org/drawingml/2006/main" noGrp="1"/>
          </p:cNvSpPr>
          <p:nvPr/>
        </p:nvSpPr>
        <p:spPr>
          <a:xfrm xmlns:a="http://schemas.openxmlformats.org/drawingml/2006/main">
            <a:off x="704850" y="57340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2586A"/>
                </a:solidFill>
                <a:latin typeface="Arial"/>
                <a:ea typeface="Arial"/>
                <a:cs typeface="Arial"/>
              </a:defRPr>
            </a:defPPr>
          </a:lstStyle>
          <a:p xmlns:a="http://schemas.openxmlformats.org/drawingml/2006/main">
            <a:pPr>
              <a:defRPr sz="2100" b="0">
                <a:solidFill>
                  <a:srgbClr val="42586A"/>
                </a:solidFill>
                <a:latin typeface="Arial"/>
                <a:ea typeface="Arial"/>
                <a:cs typeface="Arial"/>
              </a:defRPr>
            </a:pPr>
            <a:r>
              <a:rPr sz="2100" b="0">
                <a:solidFill>
                  <a:srgbClr val="42586A"/>
                </a:solidFill>
                <a:latin typeface="Arial"/>
                <a:ea typeface="Arial"/>
                <a:cs typeface="Arial"/>
              </a:rPr>
              <a:t>A watermark is an event-time frontier. It does not mean waiting five minutes.</a:t>
            </a:r>
          </a:p>
        </p:txBody>
      </p:sp>
    </p:spTree>
    <p:extLst>
      <p:ext uri="{BB962C8B-B14F-4D97-AF65-F5344CB8AC3E}">
        <p14:creationId xmlns:p14="http://schemas.microsoft.com/office/powerpoint/2010/main" val="194308430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2C8C22-7491-40EF-8FA5-09A07E2619D9}"/>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Intent scores and purchase suppression</a:t>
            </a:r>
          </a:p>
        </p:txBody>
      </p:sp>
      <p:graphicFrame>
        <p:nvGraphicFramePr>
          <p:cNvPr id="2" name="">
            <a:extLst xmlns:a="http://schemas.openxmlformats.org/drawingml/2006/main">
              <a:ext uri="{FF2B5EF4-FFF2-40B4-BE49-F238E27FC236}">
                <a16:creationId xmlns:a16="http://schemas.microsoft.com/office/drawing/2014/main" id="{330F1932-E69E-44D2-BA56-9CAE240013C6}"/>
              </a:ext>
            </a:extLst>
          </p:cNvPr>
          <p:cNvGraphicFramePr/>
          <p:nvPr/>
        </p:nvGraphicFramePr>
        <p:xfrm>
          <a:off xmlns:a="http://schemas.openxmlformats.org/drawingml/2006/main" x="609600" y="1714500"/>
          <a:ext xmlns:a="http://schemas.openxmlformats.org/drawingml/2006/main" cx="10972800" cy="2714625"/>
        </p:xfrm>
        <a:graphic xmlns:a="http://schemas.openxmlformats.org/drawingml/2006/main">
          <a:graphicData uri="http://schemas.openxmlformats.org/drawingml/2006/table">
            <a:tbl>
              <a:tblPr/>
              <a:tblGrid>
                <a:gridCol w="3333750"/>
                <a:gridCol w="2095500"/>
                <a:gridCol w="5543550"/>
              </a:tblGrid>
              <a:tr h="678656">
                <a:tc>
                  <a:txBody>
                    <a:bodyPr/>
                    <a:lstStyle/>
                    <a:p>
                      <a:r>
                        <a:rPr sz="2175" b="1">
                          <a:solidFill>
                            <a:srgbClr val="FFFFFF"/>
                          </a:solidFill>
                          <a:latin typeface="Arial"/>
                          <a:ea typeface="Arial"/>
                          <a:cs typeface="Arial"/>
                        </a:rPr>
                        <a:t>Event</a:t>
                      </a:r>
                    </a:p>
                  </a:txBody>
                  <a:tcPr marL="91440" marR="91440" marT="45720" marB="45720">
                    <a:solidFill>
                      <a:srgbClr val="142839"/>
                    </a:solidFill>
                  </a:tcPr>
                </a:tc>
                <a:tc>
                  <a:txBody>
                    <a:bodyPr/>
                    <a:lstStyle/>
                    <a:p>
                      <a:r>
                        <a:rPr sz="2175" b="1">
                          <a:solidFill>
                            <a:srgbClr val="FFFFFF"/>
                          </a:solidFill>
                          <a:latin typeface="Arial"/>
                          <a:ea typeface="Arial"/>
                          <a:cs typeface="Arial"/>
                        </a:rPr>
                        <a:t>Weight</a:t>
                      </a:r>
                    </a:p>
                  </a:txBody>
                  <a:tcPr marL="91440" marR="91440" marT="45720" marB="45720">
                    <a:solidFill>
                      <a:srgbClr val="142839"/>
                    </a:solidFill>
                  </a:tcPr>
                </a:tc>
                <a:tc>
                  <a:txBody>
                    <a:bodyPr/>
                    <a:lstStyle/>
                    <a:p>
                      <a:r>
                        <a:rPr sz="2175" b="1">
                          <a:solidFill>
                            <a:srgbClr val="FFFFFF"/>
                          </a:solidFill>
                          <a:latin typeface="Arial"/>
                          <a:ea typeface="Arial"/>
                          <a:cs typeface="Arial"/>
                        </a:rPr>
                        <a:t>Example running score</a:t>
                      </a:r>
                    </a:p>
                  </a:txBody>
                  <a:tcPr marL="91440" marR="91440" marT="45720" marB="45720">
                    <a:solidFill>
                      <a:srgbClr val="142839"/>
                    </a:solidFill>
                  </a:tcPr>
                </a:tc>
              </a:tr>
              <a:tr h="678656">
                <a:tc>
                  <a:txBody>
                    <a:bodyPr/>
                    <a:lstStyle/>
                    <a:p>
                      <a:r>
                        <a:rPr sz="2175" b="0">
                          <a:solidFill>
                            <a:srgbClr val="142839"/>
                          </a:solidFill>
                          <a:latin typeface="Arial"/>
                          <a:ea typeface="Arial"/>
                          <a:cs typeface="Arial"/>
                        </a:rPr>
                        <a:t>view</a:t>
                      </a:r>
                    </a:p>
                  </a:txBody>
                  <a:tcPr marL="91440" marR="91440" marT="45720" marB="45720">
                    <a:solidFill>
                      <a:srgbClr val="FFFFFF"/>
                    </a:solidFill>
                  </a:tcPr>
                </a:tc>
                <a:tc>
                  <a:txBody>
                    <a:bodyPr/>
                    <a:lstStyle/>
                    <a:p>
                      <a:r>
                        <a:rPr sz="2175" b="0">
                          <a:solidFill>
                            <a:srgbClr val="142839"/>
                          </a:solidFill>
                          <a:latin typeface="Arial"/>
                          <a:ea typeface="Arial"/>
                          <a:cs typeface="Arial"/>
                        </a:rPr>
                        <a:t>1</a:t>
                      </a:r>
                    </a:p>
                  </a:txBody>
                  <a:tcPr marL="91440" marR="91440" marT="45720" marB="45720">
                    <a:solidFill>
                      <a:srgbClr val="FFFFFF"/>
                    </a:solidFill>
                  </a:tcPr>
                </a:tc>
                <a:tc>
                  <a:txBody>
                    <a:bodyPr/>
                    <a:lstStyle/>
                    <a:p>
                      <a:r>
                        <a:rPr sz="2175" b="0">
                          <a:solidFill>
                            <a:srgbClr val="142839"/>
                          </a:solidFill>
                          <a:latin typeface="Arial"/>
                          <a:ea typeface="Arial"/>
                          <a:cs typeface="Arial"/>
                        </a:rPr>
                        <a:t>1</a:t>
                      </a:r>
                    </a:p>
                  </a:txBody>
                  <a:tcPr marL="91440" marR="91440" marT="45720" marB="45720">
                    <a:solidFill>
                      <a:srgbClr val="FFFFFF"/>
                    </a:solidFill>
                  </a:tcPr>
                </a:tc>
              </a:tr>
              <a:tr h="678656">
                <a:tc>
                  <a:txBody>
                    <a:bodyPr/>
                    <a:lstStyle/>
                    <a:p>
                      <a:r>
                        <a:rPr sz="2175" b="0">
                          <a:solidFill>
                            <a:srgbClr val="142839"/>
                          </a:solidFill>
                          <a:latin typeface="Arial"/>
                          <a:ea typeface="Arial"/>
                          <a:cs typeface="Arial"/>
                        </a:rPr>
                        <a:t>addtocart</a:t>
                      </a:r>
                    </a:p>
                  </a:txBody>
                  <a:tcPr marL="91440" marR="91440" marT="45720" marB="45720">
                    <a:solidFill>
                      <a:srgbClr val="EDF2F4"/>
                    </a:solidFill>
                  </a:tcPr>
                </a:tc>
                <a:tc>
                  <a:txBody>
                    <a:bodyPr/>
                    <a:lstStyle/>
                    <a:p>
                      <a:r>
                        <a:rPr sz="2175" b="0">
                          <a:solidFill>
                            <a:srgbClr val="142839"/>
                          </a:solidFill>
                          <a:latin typeface="Arial"/>
                          <a:ea typeface="Arial"/>
                          <a:cs typeface="Arial"/>
                        </a:rPr>
                        <a:t>5</a:t>
                      </a:r>
                    </a:p>
                  </a:txBody>
                  <a:tcPr marL="91440" marR="91440" marT="45720" marB="45720">
                    <a:solidFill>
                      <a:srgbClr val="EDF2F4"/>
                    </a:solidFill>
                  </a:tcPr>
                </a:tc>
                <a:tc>
                  <a:txBody>
                    <a:bodyPr/>
                    <a:lstStyle/>
                    <a:p>
                      <a:r>
                        <a:rPr sz="2175" b="0">
                          <a:solidFill>
                            <a:srgbClr val="142839"/>
                          </a:solidFill>
                          <a:latin typeface="Arial"/>
                          <a:ea typeface="Arial"/>
                          <a:cs typeface="Arial"/>
                        </a:rPr>
                        <a:t>6</a:t>
                      </a:r>
                    </a:p>
                  </a:txBody>
                  <a:tcPr marL="91440" marR="91440" marT="45720" marB="45720">
                    <a:solidFill>
                      <a:srgbClr val="EDF2F4"/>
                    </a:solidFill>
                  </a:tcPr>
                </a:tc>
              </a:tr>
              <a:tr h="678656">
                <a:tc>
                  <a:txBody>
                    <a:bodyPr/>
                    <a:lstStyle/>
                    <a:p>
                      <a:r>
                        <a:rPr sz="2175" b="0">
                          <a:solidFill>
                            <a:srgbClr val="142839"/>
                          </a:solidFill>
                          <a:latin typeface="Arial"/>
                          <a:ea typeface="Arial"/>
                          <a:cs typeface="Arial"/>
                        </a:rPr>
                        <a:t>transaction</a:t>
                      </a:r>
                    </a:p>
                  </a:txBody>
                  <a:tcPr marL="91440" marR="91440" marT="45720" marB="45720">
                    <a:solidFill>
                      <a:srgbClr val="FFFFFF"/>
                    </a:solidFill>
                  </a:tcPr>
                </a:tc>
                <a:tc>
                  <a:txBody>
                    <a:bodyPr/>
                    <a:lstStyle/>
                    <a:p>
                      <a:r>
                        <a:rPr sz="2175" b="0">
                          <a:solidFill>
                            <a:srgbClr val="142839"/>
                          </a:solidFill>
                          <a:latin typeface="Arial"/>
                          <a:ea typeface="Arial"/>
                          <a:cs typeface="Arial"/>
                        </a:rPr>
                        <a:t>10</a:t>
                      </a:r>
                    </a:p>
                  </a:txBody>
                  <a:tcPr marL="91440" marR="91440" marT="45720" marB="45720">
                    <a:solidFill>
                      <a:srgbClr val="FFFFFF"/>
                    </a:solidFill>
                  </a:tcPr>
                </a:tc>
                <a:tc>
                  <a:txBody>
                    <a:bodyPr/>
                    <a:lstStyle/>
                    <a:p>
                      <a:r>
                        <a:rPr sz="2175" b="0">
                          <a:solidFill>
                            <a:srgbClr val="142839"/>
                          </a:solidFill>
                          <a:latin typeface="Arial"/>
                          <a:ea typeface="Arial"/>
                          <a:cs typeface="Arial"/>
                        </a:rPr>
                        <a:t>16</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FEB08F7-9B65-4C90-8CCC-9D461E9EDFF3}"/>
              </a:ext>
            </a:extLst>
          </p:cNvPr>
          <p:cNvSpPr>
            <a:spLocks xmlns:a="http://schemas.openxmlformats.org/drawingml/2006/main" noGrp="1"/>
          </p:cNvSpPr>
          <p:nvPr/>
        </p:nvSpPr>
        <p:spPr>
          <a:xfrm xmlns:a="http://schemas.openxmlformats.org/drawingml/2006/main">
            <a:off x="704850" y="4857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76C75"/>
                </a:solidFill>
                <a:latin typeface="Arial"/>
                <a:ea typeface="Arial"/>
                <a:cs typeface="Arial"/>
              </a:defRPr>
            </a:defPPr>
          </a:lstStyle>
          <a:p xmlns:a="http://schemas.openxmlformats.org/drawingml/2006/main">
            <a:pPr>
              <a:defRPr sz="2625" b="1">
                <a:solidFill>
                  <a:srgbClr val="176C75"/>
                </a:solidFill>
                <a:latin typeface="Arial"/>
                <a:ea typeface="Arial"/>
                <a:cs typeface="Arial"/>
              </a:defRPr>
            </a:pPr>
            <a:r>
              <a:rPr sz="2625" b="1">
                <a:solidFill>
                  <a:srgbClr val="176C75"/>
                </a:solidFill>
                <a:latin typeface="Arial"/>
                <a:ea typeface="Arial"/>
                <a:cs typeface="Arial"/>
              </a:rPr>
              <a:t>Cart at score 6 qualifies.</a:t>
            </a:r>
          </a:p>
          <a:p xmlns:a="http://schemas.openxmlformats.org/drawingml/2006/main">
            <a:pPr>
              <a:defRPr sz="2625" b="1">
                <a:solidFill>
                  <a:srgbClr val="176C75"/>
                </a:solidFill>
                <a:latin typeface="Arial"/>
                <a:ea typeface="Arial"/>
                <a:cs typeface="Arial"/>
              </a:defRPr>
            </a:pPr>
            <a:r>
              <a:rPr sz="2625" b="1">
                <a:solidFill>
                  <a:srgbClr val="176C75"/>
                </a:solidFill>
                <a:latin typeface="Arial"/>
                <a:ea typeface="Arial"/>
                <a:cs typeface="Arial"/>
              </a:rPr>
              <a:t>Purchase at score 16 removes that item from eligibility.</a:t>
            </a:r>
          </a:p>
        </p:txBody>
      </p:sp>
    </p:spTree>
    <p:extLst>
      <p:ext uri="{BB962C8B-B14F-4D97-AF65-F5344CB8AC3E}">
        <p14:creationId xmlns:p14="http://schemas.microsoft.com/office/powerpoint/2010/main" val="1423493149"/>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2A2F4F-9220-42E3-99FF-12CE473A91E6}"/>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Live recommendation selection</a:t>
            </a:r>
          </a:p>
        </p:txBody>
      </p:sp>
      <p:sp>
        <p:nvSpPr>
          <p:cNvPr id="2" name="">
            <a:extLst xmlns:a="http://schemas.openxmlformats.org/drawingml/2006/main">
              <a:ext uri="{FF2B5EF4-FFF2-40B4-BE49-F238E27FC236}">
                <a16:creationId xmlns:a16="http://schemas.microsoft.com/office/drawing/2014/main" id="{03ABE63B-8FF2-4F4A-A4C9-1822E16066BB}"/>
              </a:ext>
            </a:extLst>
          </p:cNvPr>
          <p:cNvSpPr>
            <a:spLocks xmlns:a="http://schemas.openxmlformats.org/drawingml/2006/main" noGrp="1"/>
          </p:cNvSpPr>
          <p:nvPr/>
        </p:nvSpPr>
        <p:spPr>
          <a:xfrm xmlns:a="http://schemas.openxmlformats.org/drawingml/2006/main">
            <a:off x="704850" y="1714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1   Select the strongest eligible visitor-item cart.</a:t>
            </a:r>
          </a:p>
        </p:txBody>
      </p:sp>
      <p:sp>
        <p:nvSpPr>
          <p:cNvPr id="3" name="">
            <a:extLst xmlns:a="http://schemas.openxmlformats.org/drawingml/2006/main">
              <a:ext uri="{FF2B5EF4-FFF2-40B4-BE49-F238E27FC236}">
                <a16:creationId xmlns:a16="http://schemas.microsoft.com/office/drawing/2014/main" id="{C874179C-7035-4CA7-8D28-FD69AF37B121}"/>
              </a:ext>
            </a:extLst>
          </p:cNvPr>
          <p:cNvSpPr>
            <a:spLocks xmlns:a="http://schemas.openxmlformats.org/drawingml/2006/main" noGrp="1"/>
          </p:cNvSpPr>
          <p:nvPr/>
        </p:nvSpPr>
        <p:spPr>
          <a:xfrm xmlns:a="http://schemas.openxmlformats.org/drawingml/2006/main">
            <a:off x="704850" y="26098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2   Rank products using popularity in the current live window.</a:t>
            </a:r>
          </a:p>
        </p:txBody>
      </p:sp>
      <p:sp>
        <p:nvSpPr>
          <p:cNvPr id="4" name="">
            <a:extLst xmlns:a="http://schemas.openxmlformats.org/drawingml/2006/main">
              <a:ext uri="{FF2B5EF4-FFF2-40B4-BE49-F238E27FC236}">
                <a16:creationId xmlns:a16="http://schemas.microsoft.com/office/drawing/2014/main" id="{41C286DE-EA37-4F68-9F1E-2E00A1A9707B}"/>
              </a:ext>
            </a:extLst>
          </p:cNvPr>
          <p:cNvSpPr>
            <a:spLocks xmlns:a="http://schemas.openxmlformats.org/drawingml/2006/main" noGrp="1"/>
          </p:cNvSpPr>
          <p:nvPr/>
        </p:nvSpPr>
        <p:spPr>
          <a:xfrm xmlns:a="http://schemas.openxmlformats.org/drawingml/2006/main">
            <a:off x="704850" y="35052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3   Exclude every product the visitor has already seen in that window.</a:t>
            </a:r>
          </a:p>
        </p:txBody>
      </p:sp>
      <p:sp>
        <p:nvSpPr>
          <p:cNvPr id="5" name="">
            <a:extLst xmlns:a="http://schemas.openxmlformats.org/drawingml/2006/main">
              <a:ext uri="{FF2B5EF4-FFF2-40B4-BE49-F238E27FC236}">
                <a16:creationId xmlns:a16="http://schemas.microsoft.com/office/drawing/2014/main" id="{67066287-280E-4286-986F-E1C6C8BA7F35}"/>
              </a:ext>
            </a:extLst>
          </p:cNvPr>
          <p:cNvSpPr>
            <a:spLocks xmlns:a="http://schemas.openxmlformats.org/drawingml/2006/main" noGrp="1"/>
          </p:cNvSpPr>
          <p:nvPr/>
        </p:nvSpPr>
        <p:spPr>
          <a:xfrm xmlns:a="http://schemas.openxmlformats.org/drawingml/2006/main">
            <a:off x="704850" y="44005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2839"/>
                </a:solidFill>
                <a:latin typeface="Arial"/>
                <a:ea typeface="Arial"/>
                <a:cs typeface="Arial"/>
              </a:defRPr>
            </a:defPPr>
          </a:lstStyle>
          <a:p xmlns:a="http://schemas.openxmlformats.org/drawingml/2006/main">
            <a:pPr>
              <a:defRPr sz="2250" b="0">
                <a:solidFill>
                  <a:srgbClr val="142839"/>
                </a:solidFill>
                <a:latin typeface="Arial"/>
                <a:ea typeface="Arial"/>
                <a:cs typeface="Arial"/>
              </a:defRPr>
            </a:pPr>
            <a:r>
              <a:rPr sz="2250" b="0">
                <a:solidFill>
                  <a:srgbClr val="142839"/>
                </a:solidFill>
                <a:latin typeface="Arial"/>
                <a:ea typeface="Arial"/>
                <a:cs typeface="Arial"/>
              </a:rPr>
              <a:t>4   Publish up to three unseen items with rank and reason.</a:t>
            </a:r>
          </a:p>
        </p:txBody>
      </p:sp>
      <p:sp>
        <p:nvSpPr>
          <p:cNvPr id="6" name="">
            <a:extLst xmlns:a="http://schemas.openxmlformats.org/drawingml/2006/main">
              <a:ext uri="{FF2B5EF4-FFF2-40B4-BE49-F238E27FC236}">
                <a16:creationId xmlns:a16="http://schemas.microsoft.com/office/drawing/2014/main" id="{A8D5A36B-B1B5-40C9-A2BC-104313CDF77B}"/>
              </a:ext>
            </a:extLst>
          </p:cNvPr>
          <p:cNvSpPr>
            <a:spLocks xmlns:a="http://schemas.openxmlformats.org/drawingml/2006/main" noGrp="1"/>
          </p:cNvSpPr>
          <p:nvPr/>
        </p:nvSpPr>
        <p:spPr>
          <a:xfrm xmlns:a="http://schemas.openxmlformats.org/drawingml/2006/main">
            <a:off x="70485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76C75"/>
                </a:solidFill>
                <a:latin typeface="Arial"/>
                <a:ea typeface="Arial"/>
                <a:cs typeface="Arial"/>
              </a:defRPr>
            </a:defPPr>
          </a:lstStyle>
          <a:p xmlns:a="http://schemas.openxmlformats.org/drawingml/2006/main">
            <a:pPr>
              <a:defRPr sz="2100" b="1">
                <a:solidFill>
                  <a:srgbClr val="176C75"/>
                </a:solidFill>
                <a:latin typeface="Arial"/>
                <a:ea typeface="Arial"/>
                <a:cs typeface="Arial"/>
              </a:defRPr>
            </a:pPr>
            <a:r>
              <a:rPr sz="2100" b="1">
                <a:solidFill>
                  <a:srgbClr val="176C75"/>
                </a:solidFill>
                <a:latin typeface="Arial"/>
                <a:ea typeface="Arial"/>
                <a:cs typeface="Arial"/>
              </a:rPr>
              <a:t>Sparse traffic may produce no unseen candidates.</a:t>
            </a:r>
          </a:p>
        </p:txBody>
      </p:sp>
    </p:spTree>
    <p:extLst>
      <p:ext uri="{BB962C8B-B14F-4D97-AF65-F5344CB8AC3E}">
        <p14:creationId xmlns:p14="http://schemas.microsoft.com/office/powerpoint/2010/main" val="190069290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A3963D-EE31-41E1-B17B-4E8C92114F27}"/>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Checkpoint recovery and atomic epochs</a:t>
            </a:r>
          </a:p>
        </p:txBody>
      </p:sp>
      <p:sp>
        <p:nvSpPr>
          <p:cNvPr id="2" name="">
            <a:extLst xmlns:a="http://schemas.openxmlformats.org/drawingml/2006/main">
              <a:ext uri="{FF2B5EF4-FFF2-40B4-BE49-F238E27FC236}">
                <a16:creationId xmlns:a16="http://schemas.microsoft.com/office/drawing/2014/main" id="{DF8D3039-2AF9-4428-B5BF-8EB0661F2B60}"/>
              </a:ext>
            </a:extLst>
          </p:cNvPr>
          <p:cNvSpPr>
            <a:spLocks xmlns:a="http://schemas.openxmlformats.org/drawingml/2006/main" noGrp="1"/>
          </p:cNvSpPr>
          <p:nvPr/>
        </p:nvSpPr>
        <p:spPr>
          <a:xfrm xmlns:a="http://schemas.openxmlformats.org/drawingml/2006/main">
            <a:off x="609600" y="2047875"/>
            <a:ext cx="2952750"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3" name="">
            <a:extLst xmlns:a="http://schemas.openxmlformats.org/drawingml/2006/main">
              <a:ext uri="{FF2B5EF4-FFF2-40B4-BE49-F238E27FC236}">
                <a16:creationId xmlns:a16="http://schemas.microsoft.com/office/drawing/2014/main" id="{C766B3C8-DA1E-4B51-A23D-D54CF8ECC7DC}"/>
              </a:ext>
            </a:extLst>
          </p:cNvPr>
          <p:cNvSpPr>
            <a:spLocks xmlns:a="http://schemas.openxmlformats.org/drawingml/2006/main" noGrp="1"/>
          </p:cNvSpPr>
          <p:nvPr/>
        </p:nvSpPr>
        <p:spPr>
          <a:xfrm xmlns:a="http://schemas.openxmlformats.org/drawingml/2006/main">
            <a:off x="723900" y="2219325"/>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Write staging epoch</a:t>
            </a:r>
          </a:p>
        </p:txBody>
      </p:sp>
      <p:sp>
        <p:nvSpPr>
          <p:cNvPr id="4" name="">
            <a:extLst xmlns:a="http://schemas.openxmlformats.org/drawingml/2006/main">
              <a:ext uri="{FF2B5EF4-FFF2-40B4-BE49-F238E27FC236}">
                <a16:creationId xmlns:a16="http://schemas.microsoft.com/office/drawing/2014/main" id="{5155C12B-300D-4272-BC8C-F685AEA80E65}"/>
              </a:ext>
            </a:extLst>
          </p:cNvPr>
          <p:cNvSpPr>
            <a:spLocks xmlns:a="http://schemas.openxmlformats.org/drawingml/2006/main" noGrp="1"/>
          </p:cNvSpPr>
          <p:nvPr/>
        </p:nvSpPr>
        <p:spPr>
          <a:xfrm xmlns:a="http://schemas.openxmlformats.org/drawingml/2006/main">
            <a:off x="723900" y="2667000"/>
            <a:ext cx="2724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State and recommendations</a:t>
            </a:r>
          </a:p>
        </p:txBody>
      </p:sp>
      <p:sp>
        <p:nvSpPr>
          <p:cNvPr id="5" name="">
            <a:extLst xmlns:a="http://schemas.openxmlformats.org/drawingml/2006/main">
              <a:ext uri="{FF2B5EF4-FFF2-40B4-BE49-F238E27FC236}">
                <a16:creationId xmlns:a16="http://schemas.microsoft.com/office/drawing/2014/main" id="{2777FD75-FB05-4643-8C83-985592AC036F}"/>
              </a:ext>
            </a:extLst>
          </p:cNvPr>
          <p:cNvSpPr>
            <a:spLocks xmlns:a="http://schemas.openxmlformats.org/drawingml/2006/main" noGrp="1"/>
          </p:cNvSpPr>
          <p:nvPr/>
        </p:nvSpPr>
        <p:spPr>
          <a:xfrm xmlns:a="http://schemas.openxmlformats.org/drawingml/2006/main">
            <a:off x="3686175" y="2457450"/>
            <a:ext cx="419100" cy="238125"/>
          </a:xfrm>
          <a:prstGeom xmlns:a="http://schemas.openxmlformats.org/drawingml/2006/main" prst="rightArrow">
            <a:avLst/>
          </a:prstGeom>
          <a:solidFill xmlns:a="http://schemas.openxmlformats.org/drawingml/2006/main">
            <a:srgbClr val="176C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3FCB184-6FAF-4BF8-BEA9-CF82FFBED342}"/>
              </a:ext>
            </a:extLst>
          </p:cNvPr>
          <p:cNvSpPr>
            <a:spLocks xmlns:a="http://schemas.openxmlformats.org/drawingml/2006/main" noGrp="1"/>
          </p:cNvSpPr>
          <p:nvPr/>
        </p:nvSpPr>
        <p:spPr>
          <a:xfrm xmlns:a="http://schemas.openxmlformats.org/drawingml/2006/main">
            <a:off x="4286250" y="2047875"/>
            <a:ext cx="2952750"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7" name="">
            <a:extLst xmlns:a="http://schemas.openxmlformats.org/drawingml/2006/main">
              <a:ext uri="{FF2B5EF4-FFF2-40B4-BE49-F238E27FC236}">
                <a16:creationId xmlns:a16="http://schemas.microsoft.com/office/drawing/2014/main" id="{08E8A4CF-15A5-48E8-BBE4-A7759D8FDC31}"/>
              </a:ext>
            </a:extLst>
          </p:cNvPr>
          <p:cNvSpPr>
            <a:spLocks xmlns:a="http://schemas.openxmlformats.org/drawingml/2006/main" noGrp="1"/>
          </p:cNvSpPr>
          <p:nvPr/>
        </p:nvSpPr>
        <p:spPr>
          <a:xfrm xmlns:a="http://schemas.openxmlformats.org/drawingml/2006/main">
            <a:off x="4400550" y="2219325"/>
            <a:ext cx="2724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Publish epoch</a:t>
            </a:r>
          </a:p>
        </p:txBody>
      </p:sp>
      <p:sp>
        <p:nvSpPr>
          <p:cNvPr id="8" name="">
            <a:extLst xmlns:a="http://schemas.openxmlformats.org/drawingml/2006/main">
              <a:ext uri="{FF2B5EF4-FFF2-40B4-BE49-F238E27FC236}">
                <a16:creationId xmlns:a16="http://schemas.microsoft.com/office/drawing/2014/main" id="{0D4B6CA5-CBF4-4EF7-81DD-397EA5498A00}"/>
              </a:ext>
            </a:extLst>
          </p:cNvPr>
          <p:cNvSpPr>
            <a:spLocks xmlns:a="http://schemas.openxmlformats.org/drawingml/2006/main" noGrp="1"/>
          </p:cNvSpPr>
          <p:nvPr/>
        </p:nvSpPr>
        <p:spPr>
          <a:xfrm xmlns:a="http://schemas.openxmlformats.org/drawingml/2006/main">
            <a:off x="4400550" y="2667000"/>
            <a:ext cx="2724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Same-filesystem rename</a:t>
            </a:r>
          </a:p>
        </p:txBody>
      </p:sp>
      <p:sp>
        <p:nvSpPr>
          <p:cNvPr id="9" name="">
            <a:extLst xmlns:a="http://schemas.openxmlformats.org/drawingml/2006/main">
              <a:ext uri="{FF2B5EF4-FFF2-40B4-BE49-F238E27FC236}">
                <a16:creationId xmlns:a16="http://schemas.microsoft.com/office/drawing/2014/main" id="{432D12E9-F1D5-494A-931C-59458F1F5126}"/>
              </a:ext>
            </a:extLst>
          </p:cNvPr>
          <p:cNvSpPr>
            <a:spLocks xmlns:a="http://schemas.openxmlformats.org/drawingml/2006/main" noGrp="1"/>
          </p:cNvSpPr>
          <p:nvPr/>
        </p:nvSpPr>
        <p:spPr>
          <a:xfrm xmlns:a="http://schemas.openxmlformats.org/drawingml/2006/main">
            <a:off x="7362825" y="2457450"/>
            <a:ext cx="419100" cy="238125"/>
          </a:xfrm>
          <a:prstGeom xmlns:a="http://schemas.openxmlformats.org/drawingml/2006/main" prst="rightArrow">
            <a:avLst/>
          </a:prstGeom>
          <a:solidFill xmlns:a="http://schemas.openxmlformats.org/drawingml/2006/main">
            <a:srgbClr val="176C7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5F2DED0-AC8E-43FD-BB2B-F67B87999543}"/>
              </a:ext>
            </a:extLst>
          </p:cNvPr>
          <p:cNvSpPr>
            <a:spLocks xmlns:a="http://schemas.openxmlformats.org/drawingml/2006/main" noGrp="1"/>
          </p:cNvSpPr>
          <p:nvPr/>
        </p:nvSpPr>
        <p:spPr>
          <a:xfrm xmlns:a="http://schemas.openxmlformats.org/drawingml/2006/main">
            <a:off x="7962900" y="2047875"/>
            <a:ext cx="3619500" cy="1123950"/>
          </a:xfrm>
          <a:prstGeom xmlns:a="http://schemas.openxmlformats.org/drawingml/2006/main" prst="rect">
            <a:avLst/>
          </a:prstGeom>
          <a:solidFill xmlns:a="http://schemas.openxmlformats.org/drawingml/2006/main">
            <a:srgbClr val="EDF2F4"/>
          </a:solidFill>
          <a:ln xmlns:a="http://schemas.openxmlformats.org/drawingml/2006/main" w="11430">
            <a:solidFill>
              <a:srgbClr val="8799A6"/>
            </a:solidFill>
          </a:ln>
        </p:spPr>
      </p:sp>
      <p:sp>
        <p:nvSpPr>
          <p:cNvPr id="11" name="">
            <a:extLst xmlns:a="http://schemas.openxmlformats.org/drawingml/2006/main">
              <a:ext uri="{FF2B5EF4-FFF2-40B4-BE49-F238E27FC236}">
                <a16:creationId xmlns:a16="http://schemas.microsoft.com/office/drawing/2014/main" id="{921B6F3C-92A4-405C-9E31-1A2AE76091AE}"/>
              </a:ext>
            </a:extLst>
          </p:cNvPr>
          <p:cNvSpPr>
            <a:spLocks xmlns:a="http://schemas.openxmlformats.org/drawingml/2006/main" noGrp="1"/>
          </p:cNvSpPr>
          <p:nvPr/>
        </p:nvSpPr>
        <p:spPr>
          <a:xfrm xmlns:a="http://schemas.openxmlformats.org/drawingml/2006/main">
            <a:off x="8077200" y="2219325"/>
            <a:ext cx="3390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42839"/>
                </a:solidFill>
                <a:latin typeface="Arial"/>
                <a:ea typeface="Arial"/>
                <a:cs typeface="Arial"/>
              </a:defRPr>
            </a:defPPr>
          </a:lstStyle>
          <a:p xmlns:a="http://schemas.openxmlformats.org/drawingml/2006/main">
            <a:pPr>
              <a:defRPr sz="2025" b="1">
                <a:solidFill>
                  <a:srgbClr val="142839"/>
                </a:solidFill>
                <a:latin typeface="Arial"/>
                <a:ea typeface="Arial"/>
                <a:cs typeface="Arial"/>
              </a:defRPr>
            </a:pPr>
            <a:r>
              <a:rPr sz="2025" b="1">
                <a:solidFill>
                  <a:srgbClr val="142839"/>
                </a:solidFill>
                <a:latin typeface="Arial"/>
                <a:ea typeface="Arial"/>
                <a:cs typeface="Arial"/>
              </a:rPr>
              <a:t>Spark checkpoint</a:t>
            </a:r>
          </a:p>
        </p:txBody>
      </p:sp>
      <p:sp>
        <p:nvSpPr>
          <p:cNvPr id="12" name="">
            <a:extLst xmlns:a="http://schemas.openxmlformats.org/drawingml/2006/main">
              <a:ext uri="{FF2B5EF4-FFF2-40B4-BE49-F238E27FC236}">
                <a16:creationId xmlns:a16="http://schemas.microsoft.com/office/drawing/2014/main" id="{AC440ADB-3A63-4C6F-A82A-9F19097599EF}"/>
              </a:ext>
            </a:extLst>
          </p:cNvPr>
          <p:cNvSpPr>
            <a:spLocks xmlns:a="http://schemas.openxmlformats.org/drawingml/2006/main" noGrp="1"/>
          </p:cNvSpPr>
          <p:nvPr/>
        </p:nvSpPr>
        <p:spPr>
          <a:xfrm xmlns:a="http://schemas.openxmlformats.org/drawingml/2006/main">
            <a:off x="8077200" y="26670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42586A"/>
                </a:solidFill>
                <a:latin typeface="Arial"/>
                <a:ea typeface="Arial"/>
                <a:cs typeface="Arial"/>
              </a:defRPr>
            </a:defPPr>
          </a:lstStyle>
          <a:p xmlns:a="http://schemas.openxmlformats.org/drawingml/2006/main">
            <a:pPr>
              <a:defRPr sz="1575" b="0">
                <a:solidFill>
                  <a:srgbClr val="42586A"/>
                </a:solidFill>
                <a:latin typeface="Arial"/>
                <a:ea typeface="Arial"/>
                <a:cs typeface="Arial"/>
              </a:defRPr>
            </a:pPr>
            <a:r>
              <a:rPr sz="1575" b="0">
                <a:solidFill>
                  <a:srgbClr val="42586A"/>
                </a:solidFill>
                <a:latin typeface="Arial"/>
                <a:ea typeface="Arial"/>
                <a:cs typeface="Arial"/>
              </a:rPr>
              <a:t>Commit source progress</a:t>
            </a:r>
          </a:p>
        </p:txBody>
      </p:sp>
      <p:sp>
        <p:nvSpPr>
          <p:cNvPr id="13" name="">
            <a:extLst xmlns:a="http://schemas.openxmlformats.org/drawingml/2006/main">
              <a:ext uri="{FF2B5EF4-FFF2-40B4-BE49-F238E27FC236}">
                <a16:creationId xmlns:a16="http://schemas.microsoft.com/office/drawing/2014/main" id="{7D6E678A-49F0-4669-9224-579F5C03AD5C}"/>
              </a:ext>
            </a:extLst>
          </p:cNvPr>
          <p:cNvSpPr>
            <a:spLocks xmlns:a="http://schemas.openxmlformats.org/drawingml/2006/main" noGrp="1"/>
          </p:cNvSpPr>
          <p:nvPr/>
        </p:nvSpPr>
        <p:spPr>
          <a:xfrm xmlns:a="http://schemas.openxmlformats.org/drawingml/2006/main">
            <a:off x="704850" y="3952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76C75"/>
                </a:solidFill>
                <a:latin typeface="Arial"/>
                <a:ea typeface="Arial"/>
                <a:cs typeface="Arial"/>
              </a:defRPr>
            </a:defPPr>
          </a:lstStyle>
          <a:p xmlns:a="http://schemas.openxmlformats.org/drawingml/2006/main">
            <a:pPr>
              <a:defRPr sz="2550" b="1">
                <a:solidFill>
                  <a:srgbClr val="176C75"/>
                </a:solidFill>
                <a:latin typeface="Arial"/>
                <a:ea typeface="Arial"/>
                <a:cs typeface="Arial"/>
              </a:defRPr>
            </a:pPr>
            <a:r>
              <a:rPr sz="2550" b="1">
                <a:solidFill>
                  <a:srgbClr val="176C75"/>
                </a:solidFill>
                <a:latin typeface="Arial"/>
                <a:ea typeface="Arial"/>
                <a:cs typeface="Arial"/>
              </a:rPr>
              <a:t>A retry consumes the batch and skips an already-published epoch.</a:t>
            </a:r>
          </a:p>
        </p:txBody>
      </p:sp>
      <p:sp>
        <p:nvSpPr>
          <p:cNvPr id="14" name="">
            <a:extLst xmlns:a="http://schemas.openxmlformats.org/drawingml/2006/main">
              <a:ext uri="{FF2B5EF4-FFF2-40B4-BE49-F238E27FC236}">
                <a16:creationId xmlns:a16="http://schemas.microsoft.com/office/drawing/2014/main" id="{003CC698-CA8C-43D7-A650-B83507384CE9}"/>
              </a:ext>
            </a:extLst>
          </p:cNvPr>
          <p:cNvSpPr>
            <a:spLocks xmlns:a="http://schemas.openxmlformats.org/drawingml/2006/main" noGrp="1"/>
          </p:cNvSpPr>
          <p:nvPr/>
        </p:nvSpPr>
        <p:spPr>
          <a:xfrm xmlns:a="http://schemas.openxmlformats.org/drawingml/2006/main">
            <a:off x="704850" y="51435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42586A"/>
                </a:solidFill>
                <a:latin typeface="Arial"/>
                <a:ea typeface="Arial"/>
                <a:cs typeface="Arial"/>
              </a:defRPr>
            </a:defPPr>
          </a:lstStyle>
          <a:p xmlns:a="http://schemas.openxmlformats.org/drawingml/2006/main">
            <a:pPr>
              <a:defRPr sz="2175" b="0">
                <a:solidFill>
                  <a:srgbClr val="42586A"/>
                </a:solidFill>
                <a:latin typeface="Arial"/>
                <a:ea typeface="Arial"/>
                <a:cs typeface="Arial"/>
              </a:defRPr>
            </a:pPr>
            <a:r>
              <a:rPr sz="2175" b="0">
                <a:solidFill>
                  <a:srgbClr val="42586A"/>
                </a:solidFill>
                <a:latin typeface="Arial"/>
                <a:ea typeface="Arial"/>
                <a:cs typeface="Arial"/>
              </a:rPr>
              <a:t>Console logs can repeat. Independent queries commit separately.</a:t>
            </a:r>
          </a:p>
          <a:p xmlns:a="http://schemas.openxmlformats.org/drawingml/2006/main">
            <a:pPr>
              <a:defRPr sz="2175" b="0">
                <a:solidFill>
                  <a:srgbClr val="42586A"/>
                </a:solidFill>
                <a:latin typeface="Arial"/>
                <a:ea typeface="Arial"/>
                <a:cs typeface="Arial"/>
              </a:defRPr>
            </a:pPr>
            <a:r>
              <a:rPr sz="2175" b="0">
                <a:solidFill>
                  <a:srgbClr val="42586A"/>
                </a:solidFill>
                <a:latin typeface="Arial"/>
                <a:ea typeface="Arial"/>
                <a:cs typeface="Arial"/>
              </a:rPr>
              <a:t>Keep Kafka storage, checkpoints and epochs together.</a:t>
            </a:r>
          </a:p>
        </p:txBody>
      </p:sp>
    </p:spTree>
    <p:extLst>
      <p:ext uri="{BB962C8B-B14F-4D97-AF65-F5344CB8AC3E}">
        <p14:creationId xmlns:p14="http://schemas.microsoft.com/office/powerpoint/2010/main" val="1864903828"/>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FA3E1E-22E1-4DB1-BDAF-162089F4CA6D}"/>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Single-command setup and observable output</a:t>
            </a:r>
          </a:p>
        </p:txBody>
      </p:sp>
      <p:sp>
        <p:nvSpPr>
          <p:cNvPr id="2" name="">
            <a:extLst xmlns:a="http://schemas.openxmlformats.org/drawingml/2006/main">
              <a:ext uri="{FF2B5EF4-FFF2-40B4-BE49-F238E27FC236}">
                <a16:creationId xmlns:a16="http://schemas.microsoft.com/office/drawing/2014/main" id="{3B0BC870-3D31-4835-AD36-6D48B3A8F285}"/>
              </a:ext>
            </a:extLst>
          </p:cNvPr>
          <p:cNvSpPr>
            <a:spLocks xmlns:a="http://schemas.openxmlformats.org/drawingml/2006/main" noGrp="1"/>
          </p:cNvSpPr>
          <p:nvPr/>
        </p:nvSpPr>
        <p:spPr>
          <a:xfrm xmlns:a="http://schemas.openxmlformats.org/drawingml/2006/main">
            <a:off x="704850" y="1857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76C75"/>
                </a:solidFill>
                <a:latin typeface="Arial"/>
                <a:ea typeface="Arial"/>
                <a:cs typeface="Arial"/>
              </a:defRPr>
            </a:defPPr>
          </a:lstStyle>
          <a:p xmlns:a="http://schemas.openxmlformats.org/drawingml/2006/main">
            <a:pPr>
              <a:defRPr sz="2850" b="1">
                <a:solidFill>
                  <a:srgbClr val="176C75"/>
                </a:solidFill>
                <a:latin typeface="Arial"/>
                <a:ea typeface="Arial"/>
                <a:cs typeface="Arial"/>
              </a:defRPr>
            </a:pPr>
            <a:r>
              <a:rPr sz="2850" b="1">
                <a:solidFill>
                  <a:srgbClr val="176C75"/>
                </a:solidFill>
                <a:latin typeface="Arial"/>
                <a:ea typeface="Arial"/>
                <a:cs typeface="Arial"/>
              </a:rPr>
              <a:t>docker compose up --build -d</a:t>
            </a:r>
          </a:p>
        </p:txBody>
      </p:sp>
      <p:sp>
        <p:nvSpPr>
          <p:cNvPr id="3" name="">
            <a:extLst xmlns:a="http://schemas.openxmlformats.org/drawingml/2006/main">
              <a:ext uri="{FF2B5EF4-FFF2-40B4-BE49-F238E27FC236}">
                <a16:creationId xmlns:a16="http://schemas.microsoft.com/office/drawing/2014/main" id="{4C41B864-7D64-4232-9DC3-B19F3010BDEF}"/>
              </a:ext>
            </a:extLst>
          </p:cNvPr>
          <p:cNvSpPr>
            <a:spLocks xmlns:a="http://schemas.openxmlformats.org/drawingml/2006/main" noGrp="1"/>
          </p:cNvSpPr>
          <p:nvPr/>
        </p:nvSpPr>
        <p:spPr>
          <a:xfrm xmlns:a="http://schemas.openxmlformats.org/drawingml/2006/main">
            <a:off x="704850" y="2952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2839"/>
                </a:solidFill>
                <a:latin typeface="Arial"/>
                <a:ea typeface="Arial"/>
                <a:cs typeface="Arial"/>
              </a:defRPr>
            </a:defPPr>
          </a:lstStyle>
          <a:p xmlns:a="http://schemas.openxmlformats.org/drawingml/2006/main">
            <a:pPr>
              <a:defRPr sz="2400" b="1">
                <a:solidFill>
                  <a:srgbClr val="142839"/>
                </a:solidFill>
                <a:latin typeface="Arial"/>
                <a:ea typeface="Arial"/>
                <a:cs typeface="Arial"/>
              </a:defRPr>
            </a:pPr>
            <a:r>
              <a:rPr sz="2400" b="1">
                <a:solidFill>
                  <a:srgbClr val="142839"/>
                </a:solidFill>
                <a:latin typeface="Arial"/>
                <a:ea typeface="Arial"/>
                <a:cs typeface="Arial"/>
              </a:rPr>
              <a:t>docker compose logs -f producer spark</a:t>
            </a:r>
          </a:p>
        </p:txBody>
      </p:sp>
      <p:sp>
        <p:nvSpPr>
          <p:cNvPr id="4" name="">
            <a:extLst xmlns:a="http://schemas.openxmlformats.org/drawingml/2006/main">
              <a:ext uri="{FF2B5EF4-FFF2-40B4-BE49-F238E27FC236}">
                <a16:creationId xmlns:a16="http://schemas.microsoft.com/office/drawing/2014/main" id="{A0810766-7A2C-464D-A599-0401982CACBA}"/>
              </a:ext>
            </a:extLst>
          </p:cNvPr>
          <p:cNvSpPr>
            <a:spLocks xmlns:a="http://schemas.openxmlformats.org/drawingml/2006/main" noGrp="1"/>
          </p:cNvSpPr>
          <p:nvPr/>
        </p:nvSpPr>
        <p:spPr>
          <a:xfrm xmlns:a="http://schemas.openxmlformats.org/drawingml/2006/main">
            <a:off x="704850" y="4095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42839"/>
                </a:solidFill>
                <a:latin typeface="Arial"/>
                <a:ea typeface="Arial"/>
                <a:cs typeface="Arial"/>
              </a:defRPr>
            </a:defPPr>
          </a:lstStyle>
          <a:p xmlns:a="http://schemas.openxmlformats.org/drawingml/2006/main">
            <a:pPr>
              <a:defRPr sz="2325" b="0">
                <a:solidFill>
                  <a:srgbClr val="142839"/>
                </a:solidFill>
                <a:latin typeface="Arial"/>
                <a:ea typeface="Arial"/>
                <a:cs typeface="Arial"/>
              </a:defRPr>
            </a:pPr>
            <a:r>
              <a:rPr sz="2325" b="0">
                <a:solidFill>
                  <a:srgbClr val="142839"/>
                </a:solidFill>
                <a:latin typeface="Arial"/>
                <a:ea typeface="Arial"/>
                <a:cs typeface="Arial"/>
              </a:rPr>
              <a:t>Host Kafka     localhost:29092</a:t>
            </a:r>
          </a:p>
          <a:p xmlns:a="http://schemas.openxmlformats.org/drawingml/2006/main">
            <a:pPr>
              <a:defRPr sz="2325" b="0">
                <a:solidFill>
                  <a:srgbClr val="142839"/>
                </a:solidFill>
                <a:latin typeface="Arial"/>
                <a:ea typeface="Arial"/>
                <a:cs typeface="Arial"/>
              </a:defRPr>
            </a:pPr>
            <a:r>
              <a:rPr sz="2325" b="0">
                <a:solidFill>
                  <a:srgbClr val="142839"/>
                </a:solidFill>
                <a:latin typeface="Arial"/>
                <a:ea typeface="Arial"/>
                <a:cs typeface="Arial"/>
              </a:rPr>
              <a:t>Spark UI         localhost:4040</a:t>
            </a:r>
          </a:p>
        </p:txBody>
      </p:sp>
      <p:sp>
        <p:nvSpPr>
          <p:cNvPr id="5" name="">
            <a:extLst xmlns:a="http://schemas.openxmlformats.org/drawingml/2006/main">
              <a:ext uri="{FF2B5EF4-FFF2-40B4-BE49-F238E27FC236}">
                <a16:creationId xmlns:a16="http://schemas.microsoft.com/office/drawing/2014/main" id="{B8EC297F-3F26-4886-9E0B-CD2ED31CEA5F}"/>
              </a:ext>
            </a:extLst>
          </p:cNvPr>
          <p:cNvSpPr>
            <a:spLocks xmlns:a="http://schemas.openxmlformats.org/drawingml/2006/main" noGrp="1"/>
          </p:cNvSpPr>
          <p:nvPr/>
        </p:nvSpPr>
        <p:spPr>
          <a:xfrm xmlns:a="http://schemas.openxmlformats.org/drawingml/2006/main">
            <a:off x="704850" y="5667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42586A"/>
                </a:solidFill>
                <a:latin typeface="Arial"/>
                <a:ea typeface="Arial"/>
                <a:cs typeface="Arial"/>
              </a:defRPr>
            </a:defPPr>
          </a:lstStyle>
          <a:p xmlns:a="http://schemas.openxmlformats.org/drawingml/2006/main">
            <a:pPr>
              <a:defRPr sz="2100" b="0">
                <a:solidFill>
                  <a:srgbClr val="42586A"/>
                </a:solidFill>
                <a:latin typeface="Arial"/>
                <a:ea typeface="Arial"/>
                <a:cs typeface="Arial"/>
              </a:defRPr>
            </a:pPr>
            <a:r>
              <a:rPr sz="2100" b="0">
                <a:solidFill>
                  <a:srgbClr val="42586A"/>
                </a:solidFill>
                <a:latin typeface="Arial"/>
                <a:ea typeface="Arial"/>
                <a:cs typeface="Arial"/>
              </a:rPr>
              <a:t>First-build downloads require Internet access.</a:t>
            </a:r>
          </a:p>
        </p:txBody>
      </p:sp>
    </p:spTree>
    <p:extLst>
      <p:ext uri="{BB962C8B-B14F-4D97-AF65-F5344CB8AC3E}">
        <p14:creationId xmlns:p14="http://schemas.microsoft.com/office/powerpoint/2010/main" val="1373460382"/>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8537624-8D2B-40BC-BD05-D8D134A143B8}"/>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Classroom demonstration schedule</a:t>
            </a:r>
          </a:p>
        </p:txBody>
      </p:sp>
      <p:graphicFrame>
        <p:nvGraphicFramePr>
          <p:cNvPr id="2" name="">
            <a:extLst xmlns:a="http://schemas.openxmlformats.org/drawingml/2006/main">
              <a:ext uri="{FF2B5EF4-FFF2-40B4-BE49-F238E27FC236}">
                <a16:creationId xmlns:a16="http://schemas.microsoft.com/office/drawing/2014/main" id="{04803031-3DCD-43D5-9809-9D0027DAE671}"/>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3333750"/>
                <a:gridCol w="7639050"/>
              </a:tblGrid>
              <a:tr h="571500">
                <a:tc>
                  <a:txBody>
                    <a:bodyPr/>
                    <a:lstStyle/>
                    <a:p>
                      <a:r>
                        <a:rPr sz="1875" b="1">
                          <a:solidFill>
                            <a:srgbClr val="FFFFFF"/>
                          </a:solidFill>
                          <a:latin typeface="Arial"/>
                          <a:ea typeface="Arial"/>
                          <a:cs typeface="Arial"/>
                        </a:rPr>
                        <a:t>Time</a:t>
                      </a:r>
                    </a:p>
                  </a:txBody>
                  <a:tcPr marL="91440" marR="91440" marT="45720" marB="45720">
                    <a:solidFill>
                      <a:srgbClr val="142839"/>
                    </a:solidFill>
                  </a:tcPr>
                </a:tc>
                <a:tc>
                  <a:txBody>
                    <a:bodyPr/>
                    <a:lstStyle/>
                    <a:p>
                      <a:r>
                        <a:rPr sz="1875" b="1">
                          <a:solidFill>
                            <a:srgbClr val="FFFFFF"/>
                          </a:solidFill>
                          <a:latin typeface="Arial"/>
                          <a:ea typeface="Arial"/>
                          <a:cs typeface="Arial"/>
                        </a:rPr>
                        <a:t>Live evidence</a:t>
                      </a:r>
                    </a:p>
                  </a:txBody>
                  <a:tcPr marL="91440" marR="91440" marT="45720" marB="45720">
                    <a:solidFill>
                      <a:srgbClr val="142839"/>
                    </a:solidFill>
                  </a:tcPr>
                </a:tc>
              </a:tr>
              <a:tr h="571500">
                <a:tc>
                  <a:txBody>
                    <a:bodyPr/>
                    <a:lstStyle/>
                    <a:p>
                      <a:r>
                        <a:rPr sz="1875" b="0">
                          <a:solidFill>
                            <a:srgbClr val="142839"/>
                          </a:solidFill>
                          <a:latin typeface="Arial"/>
                          <a:ea typeface="Arial"/>
                          <a:cs typeface="Arial"/>
                        </a:rPr>
                        <a:t>0 to 2 minutes</a:t>
                      </a:r>
                    </a:p>
                  </a:txBody>
                  <a:tcPr marL="91440" marR="91440" marT="45720" marB="45720">
                    <a:solidFill>
                      <a:srgbClr val="FFFFFF"/>
                    </a:solidFill>
                  </a:tcPr>
                </a:tc>
                <a:tc>
                  <a:txBody>
                    <a:bodyPr/>
                    <a:lstStyle/>
                    <a:p>
                      <a:r>
                        <a:rPr sz="1875" b="0">
                          <a:solidFill>
                            <a:srgbClr val="142839"/>
                          </a:solidFill>
                          <a:latin typeface="Arial"/>
                          <a:ea typeface="Arial"/>
                          <a:cs typeface="Arial"/>
                        </a:rPr>
                        <a:t>Business scenario and event contract</a:t>
                      </a:r>
                    </a:p>
                  </a:txBody>
                  <a:tcPr marL="91440" marR="91440" marT="45720" marB="45720">
                    <a:solidFill>
                      <a:srgbClr val="FFFFFF"/>
                    </a:solidFill>
                  </a:tcPr>
                </a:tc>
              </a:tr>
              <a:tr h="571500">
                <a:tc>
                  <a:txBody>
                    <a:bodyPr/>
                    <a:lstStyle/>
                    <a:p>
                      <a:r>
                        <a:rPr sz="1875" b="0">
                          <a:solidFill>
                            <a:srgbClr val="142839"/>
                          </a:solidFill>
                          <a:latin typeface="Arial"/>
                          <a:ea typeface="Arial"/>
                          <a:cs typeface="Arial"/>
                        </a:rPr>
                        <a:t>2 to 4 minutes</a:t>
                      </a:r>
                    </a:p>
                  </a:txBody>
                  <a:tcPr marL="91440" marR="91440" marT="45720" marB="45720">
                    <a:solidFill>
                      <a:srgbClr val="EDF2F4"/>
                    </a:solidFill>
                  </a:tcPr>
                </a:tc>
                <a:tc>
                  <a:txBody>
                    <a:bodyPr/>
                    <a:lstStyle/>
                    <a:p>
                      <a:r>
                        <a:rPr sz="1875" b="0">
                          <a:solidFill>
                            <a:srgbClr val="142839"/>
                          </a:solidFill>
                          <a:latin typeface="Arial"/>
                          <a:ea typeface="Arial"/>
                          <a:cs typeface="Arial"/>
                        </a:rPr>
                        <a:t>Kafka topic and two partitions</a:t>
                      </a:r>
                    </a:p>
                  </a:txBody>
                  <a:tcPr marL="91440" marR="91440" marT="45720" marB="45720">
                    <a:solidFill>
                      <a:srgbClr val="EDF2F4"/>
                    </a:solidFill>
                  </a:tcPr>
                </a:tc>
              </a:tr>
              <a:tr h="571500">
                <a:tc>
                  <a:txBody>
                    <a:bodyPr/>
                    <a:lstStyle/>
                    <a:p>
                      <a:r>
                        <a:rPr sz="1875" b="0">
                          <a:solidFill>
                            <a:srgbClr val="142839"/>
                          </a:solidFill>
                          <a:latin typeface="Arial"/>
                          <a:ea typeface="Arial"/>
                          <a:cs typeface="Arial"/>
                        </a:rPr>
                        <a:t>4 to 6 minutes</a:t>
                      </a:r>
                    </a:p>
                  </a:txBody>
                  <a:tcPr marL="91440" marR="91440" marT="45720" marB="45720">
                    <a:solidFill>
                      <a:srgbClr val="FFFFFF"/>
                    </a:solidFill>
                  </a:tcPr>
                </a:tc>
                <a:tc>
                  <a:txBody>
                    <a:bodyPr/>
                    <a:lstStyle/>
                    <a:p>
                      <a:r>
                        <a:rPr sz="1875" b="0">
                          <a:solidFill>
                            <a:srgbClr val="142839"/>
                          </a:solidFill>
                          <a:latin typeface="Arial"/>
                          <a:ea typeface="Arial"/>
                          <a:cs typeface="Arial"/>
                        </a:rPr>
                        <a:t>CSV producer, Kafka JSON and Spark logs</a:t>
                      </a:r>
                    </a:p>
                  </a:txBody>
                  <a:tcPr marL="91440" marR="91440" marT="45720" marB="45720">
                    <a:solidFill>
                      <a:srgbClr val="FFFFFF"/>
                    </a:solidFill>
                  </a:tcPr>
                </a:tc>
              </a:tr>
              <a:tr h="571500">
                <a:tc>
                  <a:txBody>
                    <a:bodyPr/>
                    <a:lstStyle/>
                    <a:p>
                      <a:r>
                        <a:rPr sz="1875" b="0">
                          <a:solidFill>
                            <a:srgbClr val="142839"/>
                          </a:solidFill>
                          <a:latin typeface="Arial"/>
                          <a:ea typeface="Arial"/>
                          <a:cs typeface="Arial"/>
                        </a:rPr>
                        <a:t>6 to 9 minutes</a:t>
                      </a:r>
                    </a:p>
                  </a:txBody>
                  <a:tcPr marL="91440" marR="91440" marT="45720" marB="45720">
                    <a:solidFill>
                      <a:srgbClr val="EDF2F4"/>
                    </a:solidFill>
                  </a:tcPr>
                </a:tc>
                <a:tc>
                  <a:txBody>
                    <a:bodyPr/>
                    <a:lstStyle/>
                    <a:p>
                      <a:r>
                        <a:rPr sz="1875" b="0">
                          <a:solidFill>
                            <a:srgbClr val="142839"/>
                          </a:solidFill>
                          <a:latin typeface="Arial"/>
                          <a:ea typeface="Arial"/>
                          <a:cs typeface="Arial"/>
                        </a:rPr>
                        <a:t>Cart recommendations and purchase retraction</a:t>
                      </a:r>
                    </a:p>
                  </a:txBody>
                  <a:tcPr marL="91440" marR="91440" marT="45720" marB="45720">
                    <a:solidFill>
                      <a:srgbClr val="EDF2F4"/>
                    </a:solidFill>
                  </a:tcPr>
                </a:tc>
              </a:tr>
              <a:tr h="571500">
                <a:tc>
                  <a:txBody>
                    <a:bodyPr/>
                    <a:lstStyle/>
                    <a:p>
                      <a:r>
                        <a:rPr sz="1875" b="0">
                          <a:solidFill>
                            <a:srgbClr val="142839"/>
                          </a:solidFill>
                          <a:latin typeface="Arial"/>
                          <a:ea typeface="Arial"/>
                          <a:cs typeface="Arial"/>
                        </a:rPr>
                        <a:t>9 to 11 minutes</a:t>
                      </a:r>
                    </a:p>
                  </a:txBody>
                  <a:tcPr marL="91440" marR="91440" marT="45720" marB="45720">
                    <a:solidFill>
                      <a:srgbClr val="FFFFFF"/>
                    </a:solidFill>
                  </a:tcPr>
                </a:tc>
                <a:tc>
                  <a:txBody>
                    <a:bodyPr/>
                    <a:lstStyle/>
                    <a:p>
                      <a:r>
                        <a:rPr sz="1875" b="0">
                          <a:solidFill>
                            <a:srgbClr val="142839"/>
                          </a:solidFill>
                          <a:latin typeface="Arial"/>
                          <a:ea typeface="Arial"/>
                          <a:cs typeface="Arial"/>
                        </a:rPr>
                        <a:t>Watermark checks, Parquet and checkpoints</a:t>
                      </a:r>
                    </a:p>
                  </a:txBody>
                  <a:tcPr marL="91440" marR="91440" marT="45720" marB="45720">
                    <a:solidFill>
                      <a:srgbClr val="FFFFFF"/>
                    </a:solidFill>
                  </a:tcPr>
                </a:tc>
              </a:tr>
              <a:tr h="571500">
                <a:tc>
                  <a:txBody>
                    <a:bodyPr/>
                    <a:lstStyle/>
                    <a:p>
                      <a:r>
                        <a:rPr sz="1875" b="0">
                          <a:solidFill>
                            <a:srgbClr val="142839"/>
                          </a:solidFill>
                          <a:latin typeface="Arial"/>
                          <a:ea typeface="Arial"/>
                          <a:cs typeface="Arial"/>
                        </a:rPr>
                        <a:t>11 to 13 minutes</a:t>
                      </a:r>
                    </a:p>
                  </a:txBody>
                  <a:tcPr marL="91440" marR="91440" marT="45720" marB="45720">
                    <a:solidFill>
                      <a:srgbClr val="EDF2F4"/>
                    </a:solidFill>
                  </a:tcPr>
                </a:tc>
                <a:tc>
                  <a:txBody>
                    <a:bodyPr/>
                    <a:lstStyle/>
                    <a:p>
                      <a:r>
                        <a:rPr sz="1875" b="0">
                          <a:solidFill>
                            <a:srgbClr val="142839"/>
                          </a:solidFill>
                          <a:latin typeface="Arial"/>
                          <a:ea typeface="Arial"/>
                          <a:cs typeface="Arial"/>
                        </a:rPr>
                        <a:t>Restart, recovery checks and limitations</a:t>
                      </a:r>
                    </a:p>
                  </a:txBody>
                  <a:tcPr marL="91440" marR="91440" marT="45720" marB="45720">
                    <a:solidFill>
                      <a:srgbClr val="EDF2F4"/>
                    </a:solidFill>
                  </a:tcPr>
                </a:tc>
              </a:tr>
            </a:tbl>
          </a:graphicData>
        </a:graphic>
      </p:graphicFrame>
    </p:spTree>
    <p:extLst>
      <p:ext uri="{BB962C8B-B14F-4D97-AF65-F5344CB8AC3E}">
        <p14:creationId xmlns:p14="http://schemas.microsoft.com/office/powerpoint/2010/main" val="1376646617"/>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CC76F39-370D-4133-BAD2-5DEDAA03FB19}"/>
              </a:ext>
            </a:extLst>
          </p:cNvPr>
          <p:cNvSpPr>
            <a:spLocks xmlns:a="http://schemas.openxmlformats.org/drawingml/2006/main" noGrp="1"/>
          </p:cNvSpPr>
          <p:nvPr/>
        </p:nvSpPr>
        <p:spPr>
          <a:xfrm xmlns:a="http://schemas.openxmlformats.org/drawingml/2006/main">
            <a:off x="609600" y="47625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839"/>
                </a:solidFill>
                <a:latin typeface="Arial"/>
                <a:ea typeface="Arial"/>
                <a:cs typeface="Arial"/>
              </a:defRPr>
            </a:defPPr>
          </a:lstStyle>
          <a:p xmlns:a="http://schemas.openxmlformats.org/drawingml/2006/main">
            <a:pPr>
              <a:defRPr sz="3300" b="1">
                <a:solidFill>
                  <a:srgbClr val="142839"/>
                </a:solidFill>
                <a:latin typeface="Arial"/>
                <a:ea typeface="Arial"/>
                <a:cs typeface="Arial"/>
              </a:defRPr>
            </a:pPr>
            <a:r>
              <a:rPr sz="3300" b="1">
                <a:solidFill>
                  <a:srgbClr val="142839"/>
                </a:solidFill>
                <a:latin typeface="Arial"/>
                <a:ea typeface="Arial"/>
                <a:cs typeface="Arial"/>
              </a:rPr>
              <a:t>Validation evidence and remaining checks</a:t>
            </a:r>
          </a:p>
        </p:txBody>
      </p:sp>
      <p:graphicFrame>
        <p:nvGraphicFramePr>
          <p:cNvPr id="2" name="">
            <a:extLst xmlns:a="http://schemas.openxmlformats.org/drawingml/2006/main">
              <a:ext uri="{FF2B5EF4-FFF2-40B4-BE49-F238E27FC236}">
                <a16:creationId xmlns:a16="http://schemas.microsoft.com/office/drawing/2014/main" id="{7EDF9812-9B1A-4E53-987F-822D12D97710}"/>
              </a:ext>
            </a:extLst>
          </p:cNvPr>
          <p:cNvGraphicFramePr/>
          <p:nvPr/>
        </p:nvGraphicFramePr>
        <p:xfrm>
          <a:off xmlns:a="http://schemas.openxmlformats.org/drawingml/2006/main" x="609600" y="1762125"/>
          <a:ext xmlns:a="http://schemas.openxmlformats.org/drawingml/2006/main" cx="10972800" cy="3143250"/>
        </p:xfrm>
        <a:graphic xmlns:a="http://schemas.openxmlformats.org/drawingml/2006/main">
          <a:graphicData uri="http://schemas.openxmlformats.org/drawingml/2006/table">
            <a:tbl>
              <a:tblPr/>
              <a:tblGrid>
                <a:gridCol w="6572250"/>
                <a:gridCol w="4400550"/>
              </a:tblGrid>
              <a:tr h="628650">
                <a:tc>
                  <a:txBody>
                    <a:bodyPr/>
                    <a:lstStyle/>
                    <a:p>
                      <a:r>
                        <a:rPr sz="1950" b="1">
                          <a:solidFill>
                            <a:srgbClr val="FFFFFF"/>
                          </a:solidFill>
                          <a:latin typeface="Arial"/>
                          <a:ea typeface="Arial"/>
                          <a:cs typeface="Arial"/>
                        </a:rPr>
                        <a:t>Check</a:t>
                      </a:r>
                    </a:p>
                  </a:txBody>
                  <a:tcPr marL="91440" marR="91440" marT="45720" marB="45720">
                    <a:solidFill>
                      <a:srgbClr val="142839"/>
                    </a:solidFill>
                  </a:tcPr>
                </a:tc>
                <a:tc>
                  <a:txBody>
                    <a:bodyPr/>
                    <a:lstStyle/>
                    <a:p>
                      <a:r>
                        <a:rPr sz="1950" b="1">
                          <a:solidFill>
                            <a:srgbClr val="FFFFFF"/>
                          </a:solidFill>
                          <a:latin typeface="Arial"/>
                          <a:ea typeface="Arial"/>
                          <a:cs typeface="Arial"/>
                        </a:rPr>
                        <a:t>Status</a:t>
                      </a:r>
                    </a:p>
                  </a:txBody>
                  <a:tcPr marL="91440" marR="91440" marT="45720" marB="45720">
                    <a:solidFill>
                      <a:srgbClr val="142839"/>
                    </a:solidFill>
                  </a:tcPr>
                </a:tc>
              </a:tr>
              <a:tr h="628650">
                <a:tc>
                  <a:txBody>
                    <a:bodyPr/>
                    <a:lstStyle/>
                    <a:p>
                      <a:r>
                        <a:rPr sz="1950" b="0">
                          <a:solidFill>
                            <a:srgbClr val="142839"/>
                          </a:solidFill>
                          <a:latin typeface="Arial"/>
                          <a:ea typeface="Arial"/>
                          <a:cs typeface="Arial"/>
                        </a:rPr>
                        <a:t>Producer, validation and sorting</a:t>
                      </a:r>
                    </a:p>
                  </a:txBody>
                  <a:tcPr marL="91440" marR="91440" marT="45720" marB="45720">
                    <a:solidFill>
                      <a:srgbClr val="FFFFFF"/>
                    </a:solidFill>
                  </a:tcPr>
                </a:tc>
                <a:tc>
                  <a:txBody>
                    <a:bodyPr/>
                    <a:lstStyle/>
                    <a:p>
                      <a:r>
                        <a:rPr sz="1950" b="0">
                          <a:solidFill>
                            <a:srgbClr val="142839"/>
                          </a:solidFill>
                          <a:latin typeface="Arial"/>
                          <a:ea typeface="Arial"/>
                          <a:cs typeface="Arial"/>
                        </a:rPr>
                        <a:t>8 tests passed</a:t>
                      </a:r>
                    </a:p>
                  </a:txBody>
                  <a:tcPr marL="91440" marR="91440" marT="45720" marB="45720">
                    <a:solidFill>
                      <a:srgbClr val="FFFFFF"/>
                    </a:solidFill>
                  </a:tcPr>
                </a:tc>
              </a:tr>
              <a:tr h="628650">
                <a:tc>
                  <a:txBody>
                    <a:bodyPr/>
                    <a:lstStyle/>
                    <a:p>
                      <a:r>
                        <a:rPr sz="1950" b="0">
                          <a:solidFill>
                            <a:srgbClr val="142839"/>
                          </a:solidFill>
                          <a:latin typeface="Arial"/>
                          <a:ea typeface="Arial"/>
                          <a:cs typeface="Arial"/>
                        </a:rPr>
                        <a:t>Spark parsing, scoring and recommendations</a:t>
                      </a:r>
                    </a:p>
                  </a:txBody>
                  <a:tcPr marL="91440" marR="91440" marT="45720" marB="45720">
                    <a:solidFill>
                      <a:srgbClr val="EDF2F4"/>
                    </a:solidFill>
                  </a:tcPr>
                </a:tc>
                <a:tc>
                  <a:txBody>
                    <a:bodyPr/>
                    <a:lstStyle/>
                    <a:p>
                      <a:r>
                        <a:rPr sz="1950" b="0">
                          <a:solidFill>
                            <a:srgbClr val="142839"/>
                          </a:solidFill>
                          <a:latin typeface="Arial"/>
                          <a:ea typeface="Arial"/>
                          <a:cs typeface="Arial"/>
                        </a:rPr>
                        <a:t>5 tests passed</a:t>
                      </a:r>
                    </a:p>
                  </a:txBody>
                  <a:tcPr marL="91440" marR="91440" marT="45720" marB="45720">
                    <a:solidFill>
                      <a:srgbClr val="EDF2F4"/>
                    </a:solidFill>
                  </a:tcPr>
                </a:tc>
              </a:tr>
              <a:tr h="628650">
                <a:tc>
                  <a:txBody>
                    <a:bodyPr/>
                    <a:lstStyle/>
                    <a:p>
                      <a:r>
                        <a:rPr sz="1950" b="0">
                          <a:solidFill>
                            <a:srgbClr val="142839"/>
                          </a:solidFill>
                          <a:latin typeface="Arial"/>
                          <a:ea typeface="Arial"/>
                          <a:cs typeface="Arial"/>
                        </a:rPr>
                        <a:t>Kafka to Spark to Parquet acceptance</a:t>
                      </a:r>
                    </a:p>
                  </a:txBody>
                  <a:tcPr marL="91440" marR="91440" marT="45720" marB="45720">
                    <a:solidFill>
                      <a:srgbClr val="FFFFFF"/>
                    </a:solidFill>
                  </a:tcPr>
                </a:tc>
                <a:tc>
                  <a:txBody>
                    <a:bodyPr/>
                    <a:lstStyle/>
                    <a:p>
                      <a:r>
                        <a:rPr sz="1950" b="0">
                          <a:solidFill>
                            <a:srgbClr val="142839"/>
                          </a:solidFill>
                          <a:latin typeface="Arial"/>
                          <a:ea typeface="Arial"/>
                          <a:cs typeface="Arial"/>
                        </a:rPr>
                        <a:t>Linux Docker checks supplied</a:t>
                      </a:r>
                    </a:p>
                  </a:txBody>
                  <a:tcPr marL="91440" marR="91440" marT="45720" marB="45720">
                    <a:solidFill>
                      <a:srgbClr val="FFFFFF"/>
                    </a:solidFill>
                  </a:tcPr>
                </a:tc>
              </a:tr>
              <a:tr h="628650">
                <a:tc>
                  <a:txBody>
                    <a:bodyPr/>
                    <a:lstStyle/>
                    <a:p>
                      <a:r>
                        <a:rPr sz="1950" b="0">
                          <a:solidFill>
                            <a:srgbClr val="142839"/>
                          </a:solidFill>
                          <a:latin typeface="Arial"/>
                          <a:ea typeface="Arial"/>
                          <a:cs typeface="Arial"/>
                        </a:rPr>
                        <a:t>Sink failure injection and driver recovery</a:t>
                      </a:r>
                    </a:p>
                  </a:txBody>
                  <a:tcPr marL="91440" marR="91440" marT="45720" marB="45720">
                    <a:solidFill>
                      <a:srgbClr val="EDF2F4"/>
                    </a:solidFill>
                  </a:tcPr>
                </a:tc>
                <a:tc>
                  <a:txBody>
                    <a:bodyPr/>
                    <a:lstStyle/>
                    <a:p>
                      <a:r>
                        <a:rPr sz="1950" b="0">
                          <a:solidFill>
                            <a:srgbClr val="142839"/>
                          </a:solidFill>
                          <a:latin typeface="Arial"/>
                          <a:ea typeface="Arial"/>
                          <a:cs typeface="Arial"/>
                        </a:rPr>
                        <a:t>Tests and CI workflow supplied</a:t>
                      </a:r>
                    </a:p>
                  </a:txBody>
                  <a:tcPr marL="91440" marR="91440" marT="45720" marB="45720">
                    <a:solidFill>
                      <a:srgbClr val="EDF2F4"/>
                    </a:solidFill>
                  </a:tcPr>
                </a:tc>
              </a:tr>
            </a:tbl>
          </a:graphicData>
        </a:graphic>
      </p:graphicFrame>
      <p:sp>
        <p:nvSpPr>
          <p:cNvPr id="3" name="">
            <a:extLst xmlns:a="http://schemas.openxmlformats.org/drawingml/2006/main">
              <a:ext uri="{FF2B5EF4-FFF2-40B4-BE49-F238E27FC236}">
                <a16:creationId xmlns:a16="http://schemas.microsoft.com/office/drawing/2014/main" id="{3C90CE03-E2EE-4152-B58E-F379524B3D9E}"/>
              </a:ext>
            </a:extLst>
          </p:cNvPr>
          <p:cNvSpPr>
            <a:spLocks xmlns:a="http://schemas.openxmlformats.org/drawingml/2006/main" noGrp="1"/>
          </p:cNvSpPr>
          <p:nvPr/>
        </p:nvSpPr>
        <p:spPr>
          <a:xfrm xmlns:a="http://schemas.openxmlformats.org/drawingml/2006/main">
            <a:off x="704850" y="5286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76C75"/>
                </a:solidFill>
                <a:latin typeface="Arial"/>
                <a:ea typeface="Arial"/>
                <a:cs typeface="Arial"/>
              </a:defRPr>
            </a:defPPr>
          </a:lstStyle>
          <a:p xmlns:a="http://schemas.openxmlformats.org/drawingml/2006/main">
            <a:pPr>
              <a:defRPr sz="2325" b="1">
                <a:solidFill>
                  <a:srgbClr val="176C75"/>
                </a:solidFill>
                <a:latin typeface="Arial"/>
                <a:ea typeface="Arial"/>
                <a:cs typeface="Arial"/>
              </a:defRPr>
            </a:pPr>
            <a:r>
              <a:rPr sz="2325" b="1">
                <a:solidFill>
                  <a:srgbClr val="176C75"/>
                </a:solidFill>
                <a:latin typeface="Arial"/>
                <a:ea typeface="Arial"/>
                <a:cs typeface="Arial"/>
              </a:rPr>
              <a:t>The full report records assumptions, source references</a:t>
            </a:r>
          </a:p>
          <a:p xmlns:a="http://schemas.openxmlformats.org/drawingml/2006/main">
            <a:pPr>
              <a:defRPr sz="2325" b="1">
                <a:solidFill>
                  <a:srgbClr val="176C75"/>
                </a:solidFill>
                <a:latin typeface="Arial"/>
                <a:ea typeface="Arial"/>
                <a:cs typeface="Arial"/>
              </a:defRPr>
            </a:pPr>
            <a:r>
              <a:rPr sz="2325" b="1">
                <a:solidFill>
                  <a:srgbClr val="176C75"/>
                </a:solidFill>
                <a:latin typeface="Arial"/>
                <a:ea typeface="Arial"/>
                <a:cs typeface="Arial"/>
              </a:rPr>
              <a:t>and the exact limits of the recovery guarantee.</a:t>
            </a:r>
          </a:p>
        </p:txBody>
      </p:sp>
    </p:spTree>
    <p:extLst>
      <p:ext uri="{BB962C8B-B14F-4D97-AF65-F5344CB8AC3E}">
        <p14:creationId xmlns:p14="http://schemas.microsoft.com/office/powerpoint/2010/main" val="1350071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2026-10-10T13:09:00.4590000Z</dcterms:created>
  <dcterms:modified xsi:type="dcterms:W3CDTF">2026-10-10T13:09:00.4590000Z</dcterms:modified>
</coreProperties>
</file>